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917b9cbf114a22" /><Relationship Type="http://schemas.openxmlformats.org/officeDocument/2006/relationships/extended-properties" Target="/docProps/app.xml" Id="Rcb08ba17b9c4450e" /><Relationship Type="http://schemas.openxmlformats.org/officeDocument/2006/relationships/officeDocument" Target="/ppt/presentation.xml" Id="R6814cb845382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d183668ce46bb"/>
  </p:sldMasterIdLst>
  <p:notesMasterIdLst>
    <p:notesMasterId xmlns:r="http://schemas.openxmlformats.org/officeDocument/2006/relationships" r:id="R5448e04bb540405d"/>
  </p:notesMasterIdLst>
  <p:sldIdLst>
    <p:sldId xmlns:r="http://schemas.openxmlformats.org/officeDocument/2006/relationships" id="256" r:id="R4468425b7287448a"/>
    <p:sldId xmlns:r="http://schemas.openxmlformats.org/officeDocument/2006/relationships" id="257" r:id="Rde69df17eb864830"/>
    <p:sldId xmlns:r="http://schemas.openxmlformats.org/officeDocument/2006/relationships" id="258" r:id="R5a1426be1ea54e34"/>
    <p:sldId xmlns:r="http://schemas.openxmlformats.org/officeDocument/2006/relationships" id="259" r:id="R0583145430d74cf0"/>
    <p:sldId xmlns:r="http://schemas.openxmlformats.org/officeDocument/2006/relationships" id="260" r:id="R517508da31974320"/>
    <p:sldId xmlns:r="http://schemas.openxmlformats.org/officeDocument/2006/relationships" id="261" r:id="R7a83e266c1c140b1"/>
    <p:sldId xmlns:r="http://schemas.openxmlformats.org/officeDocument/2006/relationships" id="262" r:id="R999ebb6878e34be0"/>
    <p:sldId xmlns:r="http://schemas.openxmlformats.org/officeDocument/2006/relationships" id="263" r:id="R4a70ec53afaf4337"/>
    <p:sldId xmlns:r="http://schemas.openxmlformats.org/officeDocument/2006/relationships" id="264" r:id="R2b68a837d1484ec7"/>
    <p:sldId xmlns:r="http://schemas.openxmlformats.org/officeDocument/2006/relationships" id="265" r:id="R291881899d7745b7"/>
    <p:sldId xmlns:r="http://schemas.openxmlformats.org/officeDocument/2006/relationships" id="266" r:id="R4e177052a2ea44b7"/>
    <p:sldId xmlns:r="http://schemas.openxmlformats.org/officeDocument/2006/relationships" id="267" r:id="Rda7db4b2d2ef4316"/>
    <p:sldId xmlns:r="http://schemas.openxmlformats.org/officeDocument/2006/relationships" id="268" r:id="R179a2239323043bd"/>
    <p:sldId xmlns:r="http://schemas.openxmlformats.org/officeDocument/2006/relationships" id="269" r:id="Re2d0be4c4a29455b"/>
    <p:sldId xmlns:r="http://schemas.openxmlformats.org/officeDocument/2006/relationships" id="270" r:id="R305daad57eab40cd"/>
    <p:sldId xmlns:r="http://schemas.openxmlformats.org/officeDocument/2006/relationships" id="271" r:id="R6c265904f4a44e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3c0457cde4217" /><Relationship Type="http://schemas.openxmlformats.org/officeDocument/2006/relationships/slideMaster" Target="/ppt/slideMasters/slideMaster1.xml" Id="R0c5d183668ce46bb" /><Relationship Type="http://schemas.openxmlformats.org/officeDocument/2006/relationships/notesMaster" Target="/ppt/notesMasters/notesMaster1.xml" Id="R5448e04bb540405d" /><Relationship Type="http://schemas.openxmlformats.org/officeDocument/2006/relationships/presProps" Target="/ppt/presProps.xml" Id="Rfae5fac0cc174c39" /><Relationship Type="http://schemas.openxmlformats.org/officeDocument/2006/relationships/viewProps" Target="/ppt/viewProps.xml" Id="R7a59113ce6404729" /><Relationship Type="http://schemas.openxmlformats.org/officeDocument/2006/relationships/tableStyles" Target="/ppt/tableStyles.xml" Id="R28c20180b6944c09" /><Relationship Type="http://schemas.openxmlformats.org/officeDocument/2006/relationships/slide" Target="/ppt/slides/slide1.xml" Id="R4468425b7287448a" /><Relationship Type="http://schemas.openxmlformats.org/officeDocument/2006/relationships/slide" Target="/ppt/slides/slide2.xml" Id="Rde69df17eb864830" /><Relationship Type="http://schemas.openxmlformats.org/officeDocument/2006/relationships/slide" Target="/ppt/slides/slide3.xml" Id="R5a1426be1ea54e34" /><Relationship Type="http://schemas.openxmlformats.org/officeDocument/2006/relationships/slide" Target="/ppt/slides/slide4.xml" Id="R0583145430d74cf0" /><Relationship Type="http://schemas.openxmlformats.org/officeDocument/2006/relationships/slide" Target="/ppt/slides/slide5.xml" Id="R517508da31974320" /><Relationship Type="http://schemas.openxmlformats.org/officeDocument/2006/relationships/slide" Target="/ppt/slides/slide6.xml" Id="R7a83e266c1c140b1" /><Relationship Type="http://schemas.openxmlformats.org/officeDocument/2006/relationships/slide" Target="/ppt/slides/slide7.xml" Id="R999ebb6878e34be0" /><Relationship Type="http://schemas.openxmlformats.org/officeDocument/2006/relationships/slide" Target="/ppt/slides/slide8.xml" Id="R4a70ec53afaf4337" /><Relationship Type="http://schemas.openxmlformats.org/officeDocument/2006/relationships/slide" Target="/ppt/slides/slide9.xml" Id="R2b68a837d1484ec7" /><Relationship Type="http://schemas.openxmlformats.org/officeDocument/2006/relationships/slide" Target="/ppt/slides/slide10.xml" Id="R291881899d7745b7" /><Relationship Type="http://schemas.openxmlformats.org/officeDocument/2006/relationships/slide" Target="/ppt/slides/slide11.xml" Id="R4e177052a2ea44b7" /><Relationship Type="http://schemas.openxmlformats.org/officeDocument/2006/relationships/slide" Target="/ppt/slides/slide12.xml" Id="Rda7db4b2d2ef4316" /><Relationship Type="http://schemas.openxmlformats.org/officeDocument/2006/relationships/slide" Target="/ppt/slides/slide13.xml" Id="R179a2239323043bd" /><Relationship Type="http://schemas.openxmlformats.org/officeDocument/2006/relationships/slide" Target="/ppt/slides/slide14.xml" Id="Re2d0be4c4a29455b" /><Relationship Type="http://schemas.openxmlformats.org/officeDocument/2006/relationships/slide" Target="/ppt/slides/slide15.xml" Id="R305daad57eab40cd" /><Relationship Type="http://schemas.openxmlformats.org/officeDocument/2006/relationships/slide" Target="/ppt/slides/slide16.xml" Id="R6c265904f4a44e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7fffa46f9f42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9e7a9eef74ba1" /><Relationship Type="http://schemas.openxmlformats.org/officeDocument/2006/relationships/notesMaster" Target="/ppt/notesMasters/notesMaster1.xml" Id="R7b849f4ee7b3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57d152ed2e47fc" /><Relationship Type="http://schemas.openxmlformats.org/officeDocument/2006/relationships/notesMaster" Target="/ppt/notesMasters/notesMaster1.xml" Id="R98364f69ba944c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ada58ac124898" /><Relationship Type="http://schemas.openxmlformats.org/officeDocument/2006/relationships/notesMaster" Target="/ppt/notesMasters/notesMaster1.xml" Id="Re209ce985a59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e378c971e410b" /><Relationship Type="http://schemas.openxmlformats.org/officeDocument/2006/relationships/notesMaster" Target="/ppt/notesMasters/notesMaster1.xml" Id="Rb23ce5f5af74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820e483294c89" /><Relationship Type="http://schemas.openxmlformats.org/officeDocument/2006/relationships/notesMaster" Target="/ppt/notesMasters/notesMaster1.xml" Id="R5a320a22233e42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9dfeb8ad53475f" /><Relationship Type="http://schemas.openxmlformats.org/officeDocument/2006/relationships/notesMaster" Target="/ppt/notesMasters/notesMaster1.xml" Id="R0bb23cf7739146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2f4fb22624e57" /><Relationship Type="http://schemas.openxmlformats.org/officeDocument/2006/relationships/notesMaster" Target="/ppt/notesMasters/notesMaster1.xml" Id="R19ee9e5092034c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947687cac04ef0" /><Relationship Type="http://schemas.openxmlformats.org/officeDocument/2006/relationships/notesMaster" Target="/ppt/notesMasters/notesMaster1.xml" Id="R66ed7bb4986947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4209aec337443e" /><Relationship Type="http://schemas.openxmlformats.org/officeDocument/2006/relationships/notesMaster" Target="/ppt/notesMasters/notesMaster1.xml" Id="R4293e748aa374a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64f1761c224310" /><Relationship Type="http://schemas.openxmlformats.org/officeDocument/2006/relationships/notesMaster" Target="/ppt/notesMasters/notesMaster1.xml" Id="R175591985e6b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faf495c25c4a15" /><Relationship Type="http://schemas.openxmlformats.org/officeDocument/2006/relationships/notesMaster" Target="/ppt/notesMasters/notesMaster1.xml" Id="Rb2cc886c55b741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5cb27bcc584462" /><Relationship Type="http://schemas.openxmlformats.org/officeDocument/2006/relationships/notesMaster" Target="/ppt/notesMasters/notesMaster1.xml" Id="R34687b20973f44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7c554d99e048bb" /><Relationship Type="http://schemas.openxmlformats.org/officeDocument/2006/relationships/notesMaster" Target="/ppt/notesMasters/notesMaster1.xml" Id="R76d6c3bc22e248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27ca97c41c46b4" /><Relationship Type="http://schemas.openxmlformats.org/officeDocument/2006/relationships/notesMaster" Target="/ppt/notesMasters/notesMaster1.xml" Id="R84a8558003d94b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8802e2ba9646e6" /><Relationship Type="http://schemas.openxmlformats.org/officeDocument/2006/relationships/notesMaster" Target="/ppt/notesMasters/notesMaster1.xml" Id="R136ac972279f4a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2d65545c634d99" /><Relationship Type="http://schemas.openxmlformats.org/officeDocument/2006/relationships/notesMaster" Target="/ppt/notesMasters/notesMaster1.xml" Id="R197f9258cc5c44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9f3ee5ab34e8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5e74566d240f1" /><Relationship Type="http://schemas.openxmlformats.org/officeDocument/2006/relationships/slideLayout" Target="/ppt/slideLayouts/slideLayout1.xml" Id="Rdf300cf5783a47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00cf5783a47c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a7af834b84196" /><Relationship Type="http://schemas.openxmlformats.org/officeDocument/2006/relationships/image" Target="/ppt/media/image.png" Id="Re1c67c6ef7a04f8e" /><Relationship Type="http://schemas.openxmlformats.org/officeDocument/2006/relationships/notesSlide" Target="/ppt/notesSlides/notesSlide1.xml" Id="Rbb6995b4552d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2ed4aac924c95" /><Relationship Type="http://schemas.openxmlformats.org/officeDocument/2006/relationships/notesSlide" Target="/ppt/notesSlides/notesSlide2.xml" Id="R47af3006df5a48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2547249524857" /><Relationship Type="http://schemas.openxmlformats.org/officeDocument/2006/relationships/notesSlide" Target="/ppt/notesSlides/notesSlide3.xml" Id="R9684380a45d24c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9812777374215" /><Relationship Type="http://schemas.openxmlformats.org/officeDocument/2006/relationships/notesSlide" Target="/ppt/notesSlides/notesSlide4.xml" Id="Rf9e2a0b23e63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08fa25acf4507" /><Relationship Type="http://schemas.openxmlformats.org/officeDocument/2006/relationships/notesSlide" Target="/ppt/notesSlides/notesSlide5.xml" Id="R698beb7e6480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7c3e18294630" /><Relationship Type="http://schemas.openxmlformats.org/officeDocument/2006/relationships/notesSlide" Target="/ppt/notesSlides/notesSlide6.xml" Id="Rd012edb5a6ac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be1f48de441c" /><Relationship Type="http://schemas.openxmlformats.org/officeDocument/2006/relationships/notesSlide" Target="/ppt/notesSlides/notesSlide7.xml" Id="Rd60d429f0680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3586f29f14a48" /><Relationship Type="http://schemas.openxmlformats.org/officeDocument/2006/relationships/notesSlide" Target="/ppt/notesSlides/notesSlide8.xml" Id="Rf57da6ac137348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3adafabc543f5" /><Relationship Type="http://schemas.openxmlformats.org/officeDocument/2006/relationships/notesSlide" Target="/ppt/notesSlides/notesSlide9.xml" Id="R46bfcd24b58748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2dc09ed14e84" /><Relationship Type="http://schemas.openxmlformats.org/officeDocument/2006/relationships/notesSlide" Target="/ppt/notesSlides/notesSlide10.xml" Id="R09e6b1fadf8049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3199e3b364ac3" /><Relationship Type="http://schemas.openxmlformats.org/officeDocument/2006/relationships/image" Target="/ppt/media/image.png" Id="R929ecfa64c0a4fed" /><Relationship Type="http://schemas.openxmlformats.org/officeDocument/2006/relationships/image" Target="/ppt/media/image2.png" Id="Rfeb19b6ccd264fe6" /><Relationship Type="http://schemas.openxmlformats.org/officeDocument/2006/relationships/image" Target="/ppt/media/image3.png" Id="Re778793d06f54e1c" /><Relationship Type="http://schemas.openxmlformats.org/officeDocument/2006/relationships/notesSlide" Target="/ppt/notesSlides/notesSlide11.xml" Id="R41008dc2e7184b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17d3a2f9a467d" /><Relationship Type="http://schemas.openxmlformats.org/officeDocument/2006/relationships/image" Target="/ppt/media/image4.png" Id="Rde621141aff04805" /><Relationship Type="http://schemas.openxmlformats.org/officeDocument/2006/relationships/image" Target="/ppt/media/image5.png" Id="R94ddde4c74644c40" /><Relationship Type="http://schemas.openxmlformats.org/officeDocument/2006/relationships/notesSlide" Target="/ppt/notesSlides/notesSlide12.xml" Id="R4d913c2341e74e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e4094e514299" /><Relationship Type="http://schemas.openxmlformats.org/officeDocument/2006/relationships/image" Target="/ppt/media/image6.png" Id="Raf542c2690444ff0" /><Relationship Type="http://schemas.openxmlformats.org/officeDocument/2006/relationships/image" Target="/ppt/media/image7.png" Id="Rd3d43ecce1c04078" /><Relationship Type="http://schemas.openxmlformats.org/officeDocument/2006/relationships/image" Target="/ppt/media/image8.png" Id="R998e2fd779ba4a2e" /><Relationship Type="http://schemas.openxmlformats.org/officeDocument/2006/relationships/image" Target="/ppt/media/image9.png" Id="R1f7406aac7044364" /><Relationship Type="http://schemas.openxmlformats.org/officeDocument/2006/relationships/image" Target="/ppt/media/image10.png" Id="Rb2edaf3331d14624" /><Relationship Type="http://schemas.openxmlformats.org/officeDocument/2006/relationships/notesSlide" Target="/ppt/notesSlides/notesSlide13.xml" Id="Rddecc1298c024a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2492deef4e9c" /><Relationship Type="http://schemas.openxmlformats.org/officeDocument/2006/relationships/notesSlide" Target="/ppt/notesSlides/notesSlide14.xml" Id="R1a2c5cd5d2d945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5bc4dcd5d4089" /><Relationship Type="http://schemas.openxmlformats.org/officeDocument/2006/relationships/notesSlide" Target="/ppt/notesSlides/notesSlide15.xml" Id="Rbf3ca4f50ff146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5ee882a2f4af9" /><Relationship Type="http://schemas.openxmlformats.org/officeDocument/2006/relationships/notesSlide" Target="/ppt/notesSlides/notesSlide16.xml" Id="Rba24f95955aa43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031F28-1896-4A84-AF27-1358F87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24C3BF-6898-4722-B4FF-A517816D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42569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0DB716-7C61-40E3-BF1E-FE74607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832104"/>
            <a:ext cx="5038344" cy="3639312"/>
          </a:xfrm>
          <a:prstGeom xmlns:a="http://schemas.openxmlformats.org/drawingml/2006/main" prst="roundRect">
            <a:avLst>
              <a:gd name="adj" fmla="val 27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2C728FC-7924-49A5-B1B9-18054E8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850392"/>
            <a:ext cx="502005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C92270F-2BC1-40C7-B9DC-2FF2B24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941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8C2C29-CDEB-4138-8550-77C47A9D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941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2365D79-45B7-46A7-B24F-B3EB3EA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941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67c6ef7a04f8e"/>
          <a:srcRect xmlns:a="http://schemas.openxmlformats.org/drawingml/2006/main" l="12258" t="0" r="12258" b="0"/>
          <a:stretch xmlns:a="http://schemas.openxmlformats.org/drawingml/2006/main"/>
        </p:blipFill>
        <p:spPr>
          <a:xfrm xmlns:a="http://schemas.openxmlformats.org/drawingml/2006/main">
            <a:off x="6537960" y="1143000"/>
            <a:ext cx="4983480" cy="3273552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3B5C6A1-4323-4682-B760-6B33CF9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96012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GAMEPLATFORM</a:t>
            </a:r>
            <a:endParaRPr sz="10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4D976CF-EC10-4D21-BDCC-B6BE787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353312"/>
            <a:ext cx="53035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遊戲對戰平台</a:t>
            </a:r>
            <a:endParaRPr sz="3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B13C1FF-3C67-4C36-B4FC-A79DFCA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76272"/>
            <a:ext cx="4800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從會員登入、遊戲大廳、組隊與房間，</a:t>
            </a:r>
            <a:endParaRPr sz="18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到進入遊戲的一體化平台</a:t>
            </a:r>
            <a:endParaRPr sz="1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F9A646D-D779-4AC6-898C-A428C30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82112"/>
            <a:ext cx="658368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BED12E8-112B-47AC-83B6-04480451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0156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Java 全端工程師職訓 · 小組專題成果報告</a:t>
            </a:r>
            <a:endParaRPr sz="133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8BBAF-8694-4BBD-ADE3-1CD38D9A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96128"/>
            <a:ext cx="9601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212FD3A-F9FF-44C4-8DE4-F90783A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664708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Spring Boot</a:t>
            </a:r>
            <a:endParaRPr sz="9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41909E-69E2-41D7-93CC-FC873EF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5596128"/>
            <a:ext cx="9601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BCAACE3-A8C2-4897-AD21-9D77BF66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5664708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SQLite</a:t>
            </a:r>
            <a:endParaRPr sz="9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8B2BDE4-87CA-4636-8CC2-76F87263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5596128"/>
            <a:ext cx="9601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5AC764-6250-4B5E-B4FA-50ADB5D6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5664708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REST API</a:t>
            </a:r>
            <a:endParaRPr sz="9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DA68480-5293-40C0-9B74-21A11D5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5596128"/>
            <a:ext cx="9601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A657E5E-7CEB-4695-A434-01FC00C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5664708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WebSocket</a:t>
            </a:r>
            <a:endParaRPr sz="9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C653C58-E071-42AC-B209-C05E5ED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072" y="6144768"/>
            <a:ext cx="7132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39386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52AA6A-6C6B-4091-AD6A-1B22F7B1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26779C6-8CEF-4536-94BC-5AFE007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16B3E1-D477-4986-9626-43C08CB7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PROJECT GOAL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4C66A0-0746-4463-9756-B9C1308E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我們做的不是單一遊戲，而是一條完整的遊玩流程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B6BE33-DD9E-4615-8323-1BBDEA65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玩家真正需要的，是從登入、找到遊戲，到和其他玩家一起開始遊戲都能順暢銜接。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F484BAD-18F7-4DDB-BB44-A78A5B52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849DE1-945F-44D9-8A98-2337502A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8C2DD6-FF39-4813-8ED2-16442C0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3AEB2C-6159-4707-AAE2-274EC872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2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94EE31E-4694-445A-9363-E812650A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40280"/>
            <a:ext cx="1874520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FFBD2C4-028F-45E0-B7F2-59F16583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414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4589CA7-131C-4F1E-A863-112870D2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414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36971DD-A35F-4C00-B999-AFE0DF89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36829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選擇遊戲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0368BB-8E21-4FD5-9243-E9462D7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8833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集中顯示遊戲與模式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EE79654-3794-454D-9E19-9936AE71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56032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A9DA2E5-4F2A-40A7-8ECD-6F6F589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240280"/>
            <a:ext cx="1874520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53408F3-640A-4CEB-9CE0-9F0AA65C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24414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C24327-A3F9-44D1-BEE3-FA0F116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24414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9411F03-FA4C-48C6-A22F-F10F4257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6829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尋找玩家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2D9EF34-940A-4D07-AE19-4A543B7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68833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大廳與組隊公告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5162FAB-1001-4D64-816A-72BAD88B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56032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DA442E1-ADD8-4619-A76A-86CE257F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240280"/>
            <a:ext cx="1874520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76F681B-3A87-4683-977C-0EA2BD32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414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7813AEF-5B04-4659-8068-B776DD0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414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A0A9C2C-6115-4EA7-8810-EF414AF1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236829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建立房間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D1A5262-F813-4753-8094-A81FD44D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268833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依模式驗證人數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2585094-A47F-4932-B424-1A077E45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56032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4EEBA7B-F02B-4763-8F45-135EA64E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240280"/>
            <a:ext cx="1874520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F7A4762-FF1C-46CB-BB1D-25239022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414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FE4CD37-A58A-4F85-B26B-D0EC6E0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414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A16A609-42EF-4BC0-A688-E3717E51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36829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等待同步</a:t>
            </a:r>
            <a:endParaRPr sz="13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7FA789F-1DB6-435B-9423-DD3C769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68833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房主與玩家名單</a:t>
            </a:r>
            <a:endParaRPr sz="9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035A477-A5B1-47D2-9E15-69074B7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6032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19B666F-A53E-455E-B0B0-ED0DF662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240280"/>
            <a:ext cx="1874520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91DE9B7-07F0-4C7E-8BD9-5C140659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4414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88011-A2B2-426F-B196-07DE4B2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4414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1CE5402-131B-4D48-BBE7-9F00169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236829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開始遊戲</a:t>
            </a:r>
            <a:endParaRPr sz="13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F00B664-EB0D-412D-8D5E-FFE5AC0F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268833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帶入房號與身分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DC2FF6E-CE79-49BB-AB59-F4E8BF9E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51960"/>
            <a:ext cx="955548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9FCDA88F-2060-4185-BBEA-60B189D8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51960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F23B363-4576-4899-B85E-277E916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79976"/>
            <a:ext cx="91897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共用會員、遊戲目錄與房間流程，個別遊戲只專注自己的規則與對局。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29212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6E28AD-B1D8-4BEB-AAB3-43496352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476AE8-525D-4EB9-99CA-A938EDC6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22446D7-ABD5-4CB3-8B25-C1095030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SYSTEM MODULES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F946A5-CFA3-4CA7-A68F-739A530E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六個模組共同組成遊戲平台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811341-5F2A-43C8-8887-9A8001F8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這一頁只看「系統責任」，不是組員分工。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578190-9BE3-4A72-B7C4-64640FE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14FA29-E4C3-4577-8A1C-53F3B94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F40DE2-6064-42D1-9823-79FEBD8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F3C18C-9B3E-4566-A7E9-6EC7A272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2A0107E-324D-411A-85CE-121512F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48840"/>
            <a:ext cx="2944368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6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842168A-F861-4303-A34F-7DD257BD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377440"/>
            <a:ext cx="2441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GamePlatform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474F8E-5164-41F3-8A0A-3E1B3052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724912"/>
            <a:ext cx="2441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共用身分、目錄與流程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2ECCFA6-66E9-4D11-BE85-98BFF890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55F12E-446E-4064-ABC2-6F4E104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02536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User</a:t>
            </a:r>
            <a:endParaRPr sz="13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C3440A-CF62-4B40-AF14-D5FF6A1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13432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登入 · JWT · 會員管理</a:t>
            </a:r>
            <a:endParaRPr sz="9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7B93A24-B6A2-4415-AA35-72C622F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005072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AB8606-DB35-4211-AB40-378E895C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23944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Game Management</a:t>
            </a:r>
            <a:endParaRPr sz="133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E0AC151-1026-448F-9822-8ECF97CB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遊戲 · 模式 · 入口</a:t>
            </a:r>
            <a:endParaRPr sz="9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B51D7B-7F2D-4BFE-9A46-E276175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617720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B5FBCA7-0462-4545-9ECC-0206116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736592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Lobby</a:t>
            </a:r>
            <a:endParaRPr sz="13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7B8120-C058-4E00-B2AE-0738643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5047488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建房 · 入房 · 等待</a:t>
            </a:r>
            <a:endParaRPr sz="9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B051C5C-35D9-4028-A80C-1BAE1A02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17720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6D8CE63-E13A-4CE6-9203-2338644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736592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Board</a:t>
            </a:r>
            <a:endParaRPr sz="133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B06CE6A-CC90-4931-9D02-991686EC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047488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組隊 · 申請 · 通知</a:t>
            </a:r>
            <a:endParaRPr sz="93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F7C9F8B-CF39-43F7-A666-66A5D15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1883664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5B05099-3C1A-44BD-97E5-3D8A43C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002536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Chat</a:t>
            </a:r>
            <a:endParaRPr sz="133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4547365-6117-41A5-B081-62CA8151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313432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聊天室即時訊息</a:t>
            </a:r>
            <a:endParaRPr sz="93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B64C268-46D0-49AB-8BB7-FB6B84D3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005072"/>
            <a:ext cx="22677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C3F41DB-0AB2-4C28-9A54-1A040C4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123944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rPr>
              <a:t>Games</a:t>
            </a:r>
            <a:endParaRPr sz="133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67B6145-58DC-446E-A6D7-8393F697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434840"/>
            <a:ext cx="19751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3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Poker · Quiz</a:t>
            </a:r>
            <a:endParaRPr sz="93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C1A8259-019F-4FD1-81C5-7A9DD64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587752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5CC2DD0-6825-45DA-B128-81A97F6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587752"/>
            <a:ext cx="1353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4A5B8DD-41FE-4CBF-BE23-2EBBD78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182112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758FD58-4B60-456D-927E-30AEAF3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182112"/>
            <a:ext cx="0" cy="1234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555ABB0-6111-4242-B74F-5630EEA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4416552"/>
            <a:ext cx="3776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74528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9732DE-B66C-4D8C-A558-B3FA3998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6EDBD6-3D4D-450E-86B3-685AA79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A13171-1DC4-43C6-964D-F67A5E3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SYSTEM ARCHITECTURE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788D74-A135-43E5-9E02-91E7849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前端、Spring Boot 與 SQLite 串起所有模組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524A6B-7B2D-4ABF-9FE5-7AB9E1F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正式專題主要採用 HTML、CSS、JavaScript 與 jQuery，後端由 Spring Boot 提供 API。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01A23C7-1FB7-4034-AA67-722B1B5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BBED75-C5C2-4324-B04F-869429F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EE7C56-03B4-45FE-A324-7DEDCAAD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5F895A-CC89-47EE-A29A-5AACD14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6ABAFBF-E3DF-4A31-A3DE-6D2A85E3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74520"/>
            <a:ext cx="1014984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A34AC4-0F2D-4916-ACC3-FFBA594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029968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BROWSER</a:t>
            </a:r>
            <a:endParaRPr sz="9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938E6F6-D068-4E36-880E-28CF9A08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093976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HTML · CSS · JavaScript · jQuery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2DABDE5-AFBB-48F0-83CA-85E892E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2112264"/>
            <a:ext cx="3429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畫面、表單與操作狀態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98D48A6-C940-436C-87B4-76CF9944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788920"/>
            <a:ext cx="347472" cy="219456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EF4278-17E3-410E-8FEC-045B5B96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00400"/>
            <a:ext cx="1014984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043308F-0A21-4D1E-8F48-08C1A3D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55848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SPRING BOOT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E68EAAF-599B-4DEE-82B8-D3ABE1B1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419856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REST API · WebSocket · JWT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487FB6-2AD5-4D3E-B29C-2D0E38D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3438144"/>
            <a:ext cx="3429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Controller → Service → Repository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984288-856D-480B-B546-6C6A709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114800"/>
            <a:ext cx="347472" cy="219456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E201BB2-2ACA-4B96-963D-5D61EB9D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26280"/>
            <a:ext cx="1014984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7BBE83-EF52-4466-9256-210176B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681728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DATA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4421956-EBD1-407E-B069-42A3C74F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745736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SQLite</a:t>
            </a:r>
            <a:endParaRPr sz="1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6383815-A6A0-4021-9FF6-A297BD2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4764024"/>
            <a:ext cx="3429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JPA／Hibernate + JDBC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62A3CAD-F964-4783-BE54-25974C7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669280"/>
            <a:ext cx="8412480" cy="384048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0160">
            <a:solidFill>
              <a:srgbClr val="D9EA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7ECD7AE-6098-486A-B91C-E90AAB9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256" y="5760720"/>
            <a:ext cx="806500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50" b="1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User · Game Management · Lobby · Board · Chat · Poker · Quiz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12789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510DA5-7D29-454E-BBDD-C3326AF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549EF8B-1C62-46EF-8571-994EA2EE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833380-D2F3-41B8-97FC-6F3CB175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WEB USER FLOW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8C1685-FB8E-4971-A351-3FB4346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網頁使用流程：從登入到進入遊戲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5AFE1B-6EC2-4227-B433-E54AC8F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同一個平台身分貫穿所有步驟，遊戲頁不需要再次建立獨立帳號。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89DE682-2984-4F3E-B85C-B0EF0D9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7B73C3-3598-40FC-AAFF-13993B8E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2330DA-5C5C-45D2-82CF-AB5E944D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CD3AC2-0770-45F1-BB28-493EF221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5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FBA375C-B2D2-4D17-B9D0-C8FCEF5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C7EAD20-9F05-49ED-949B-2A7E0BB9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BB865F9-981B-4A45-9B08-50AC66F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  <a:endParaRPr sz="126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7653E2-50CB-4B25-B8D6-3E7CEEB0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取得 JWT</a:t>
            </a:r>
            <a:endParaRPr sz="9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48DF92-32F5-4905-B3F8-E1866BB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2267712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E3F3A0-F7A3-4F41-8181-61D9002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7D8241-2545-4A45-823C-74D3DCB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4A2AE1-B1D6-4C65-8170-AD5CB41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選遊戲</a:t>
            </a:r>
            <a:endParaRPr sz="126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4A6CD6-5ADD-4584-A2F9-0AAC02B9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讀取 Game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BB4F3E5-4EE3-40EA-8FBC-D738FD42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267712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80D948D-2FD2-4C11-9F7D-4D0586DD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1A103BA-59B9-4156-B905-A30E2D3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D9ECE6A-19F3-48EC-ADE4-A3265BF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選模式</a:t>
            </a:r>
            <a:endParaRPr sz="126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0B7B08-91A6-418C-88E0-13BB7CA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讀取 GameMode</a:t>
            </a:r>
            <a:endParaRPr sz="9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9394B02-FD2A-4676-B1E6-A88BA0E4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2267712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A8BD9E4-117D-45C0-9A81-3FF82F23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5CC2BBD-65E0-4104-B8CF-866DFD8B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6A39713-9F2C-4EDA-9BA6-67F1C3BD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組隊／建房</a:t>
            </a:r>
            <a:endParaRPr sz="126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0E774A8-0DD3-4935-A770-6D7B9A5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驗證人數</a:t>
            </a:r>
            <a:endParaRPr sz="9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2EC0147-C50E-4D09-A93E-58F2E67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2267712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E5247D3-1E65-4981-96CC-9DEE3DF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89EC43F-4E1E-4192-BA56-FFE7AD44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918A872-0019-4093-998C-1C8527F6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等待開始</a:t>
            </a:r>
            <a:endParaRPr sz="126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AF3DC93-7F47-4460-9ECF-3E8E355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同步玩家名單</a:t>
            </a:r>
            <a:endParaRPr sz="92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B690C88-8EAA-431B-A4C8-230E1E5F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267712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5F0E510-646D-463C-8C0C-FCBCA477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744" y="2130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11B8758-3226-472B-9409-C5685D7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744" y="2130552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DF2F39A-82B1-41D5-B5F9-539767B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2788920"/>
            <a:ext cx="1572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6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進入遊戲</a:t>
            </a:r>
            <a:endParaRPr sz="126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13A549C-3B1C-4C9F-9308-9022D11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816" y="3108960"/>
            <a:ext cx="1572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2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帶入 room ID</a:t>
            </a:r>
            <a:endParaRPr sz="92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75516D8-E5D8-4D68-84CE-EC19C418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15968"/>
            <a:ext cx="9802368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97A52A3-EE10-46A3-8774-A6AEBB7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15968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C110EF2-4C2D-43E5-BE69-D2104E79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443984"/>
            <a:ext cx="9436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frontendPath 決定要開啟哪個遊戲頁面；room ID 讓遊戲取得本次房間、模式與玩家資訊。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69720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D636A9-7CC7-463C-AC9B-CDDA5A5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B84ED43-920B-4574-B832-8184BAAC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B00C01C-E67A-47B3-B761-65125A63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GAME / MODE / ROOM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F30F3C-2B57-4464-99A7-02108B16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Game、GameMode 與 Room 把遊戲設定從房間邏輯中抽離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C8841E-AFC5-45B6-B0FB-5D04C5C1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 保存遊戲入口，GameMode 保存模式限制，Room 保存一次等待中的對局。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69F222-024E-4D67-A8AB-744857CE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45F64E4-4ED8-4466-A110-6E0E939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C6FDE4A-62CB-4EA9-832F-9C6921E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18422E-EE92-4D91-8841-C78E1B1E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6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56E892D-C5B2-48EC-B30A-AD77061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83664"/>
            <a:ext cx="2212848" cy="25146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EAC5F97-A725-4321-8673-34B356C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2140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A0CF21B-7640-4786-9442-291FA58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60320"/>
            <a:ext cx="1755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8EC7F0-6F7C-4836-A117-4D9AD462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16352"/>
            <a:ext cx="178308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POKER / QUIZ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遊戲名稱 · 入口路徑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圖示 · 啟用狀態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7DB0523-CD35-45B6-A33E-B7E6A39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944368"/>
            <a:ext cx="338328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680EE9-0B84-4E3A-B74C-44E4D42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83664"/>
            <a:ext cx="2212848" cy="25146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A80685-945C-41F5-AB6B-87AD2196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212140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GameMode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3047B09-4F0E-4AB2-B7C1-406B288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60320"/>
            <a:ext cx="1755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03BF2CE-737B-4320-8E96-93BE070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816352"/>
            <a:ext cx="178308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PLAYER / COMPUTER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minPlayers · maxPlayers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computerPlayers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7DF84C1-4A2B-4C46-8E31-8E209B1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2944368"/>
            <a:ext cx="338328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2517CFD-3EDA-4BE3-87B8-C1C120F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883664"/>
            <a:ext cx="2212848" cy="25146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B221995-A494-4466-A497-2D02145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12140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Room</a:t>
            </a:r>
            <a:endParaRPr sz="16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6B632D1-61C8-486E-88FC-2D7EFA1C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560320"/>
            <a:ext cx="1755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0ECA699-53BA-4AA6-8FA2-393976E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816352"/>
            <a:ext cx="178308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gameId + modeId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hostAccount · players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status</a:t>
            </a:r>
            <a:endParaRPr sz="10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F33CE91-3A8C-4E90-8B9D-214355E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944368"/>
            <a:ext cx="338328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871C51B-9ED4-4B4C-96A6-D147AAFD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1883664"/>
            <a:ext cx="2212848" cy="25146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11843B-02A9-4E14-B909-454CC34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12140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Game Page</a:t>
            </a:r>
            <a:endParaRPr sz="16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EC8639B-3AAF-49AA-AD7E-E1C3D50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60320"/>
            <a:ext cx="1755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737D1F0-B442-4C97-AB35-C667E6B6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816352"/>
            <a:ext cx="178308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poker_client.html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?room=XXXXXXXX</a:t>
            </a:r>
            <a:endParaRPr sz="102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2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依房間資料啟動</a:t>
            </a:r>
            <a:endParaRPr sz="10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411E602-AEF6-48E4-B3C6-963D9607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74920"/>
            <a:ext cx="854964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99C1E27-0412-4644-9EA6-B8BBCD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74920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335AEC2-DFEF-46EE-BA8F-858B686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02936"/>
            <a:ext cx="818388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房間只依 gameId / modeId 查規則，不需要把 Poker 或 Quiz 的特殊玩法寫死在通用房間模組。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81479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767D3B-9039-45BE-B09E-9C56CDE3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E4F8BF-12DB-4A6C-B972-3F43543E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8F458F-6068-4D88-8907-734791F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ER MODEL · CORE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9DDABC-99E9-4811-AFD8-86A9A2F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核心 ER Model：會員、遊戲目錄與房間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5A4428-794D-4F21-87D4-69234245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先看會直接影響「登入 → 選遊戲 → 建房 → 進遊戲」的資料表。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C679713-DF86-4A08-BF05-B8789551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1FFC25-8422-42B9-860F-DAE5D64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DEAD9A-C1E1-473E-B9CE-30570645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D62157-ED9B-48E9-B6F7-83433EEB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7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2DE09B6-3709-4C57-83E6-E498CFEA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38528"/>
            <a:ext cx="128016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82FFE70-0DEF-4A8F-88F9-7833A07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38528"/>
            <a:ext cx="12801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48167BE-33BF-4103-B701-12B820C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20824"/>
            <a:ext cx="1042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roles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EE112E4-B676-49B4-8761-B4B4099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77440"/>
            <a:ext cx="1133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role_name</a:t>
            </a:r>
            <a:endParaRPr sz="8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404E4E7-24BA-44FC-ABAC-D012B2F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28016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3A4CE2-DFFE-499F-A9FD-69CAB64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2801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FD288A-ACF6-4436-A1EF-95EDDB27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922776"/>
            <a:ext cx="1042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statuses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C04373-75C9-4615-BADF-FDDC3CF9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79392"/>
            <a:ext cx="1133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status_name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40687D2-F36E-4863-988B-9485848D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423160"/>
            <a:ext cx="1828800" cy="1536192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4A7E6B2-5F16-4E6A-8920-715486E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423160"/>
            <a:ext cx="18288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7A19D70-E72A-4511-9904-10CA149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505456"/>
            <a:ext cx="15910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959731-3F0A-43CE-99DF-955C30C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2862072"/>
            <a:ext cx="17007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account (UQ)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username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role_id · status_id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BEDE8F7-F717-45F1-A297-7533DFB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38528"/>
            <a:ext cx="1572768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71AD734-68BA-4859-92F9-F291C989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38528"/>
            <a:ext cx="157276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42ED75-F85F-4F48-9C48-0BDACB27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20824"/>
            <a:ext cx="13350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games</a:t>
            </a:r>
            <a:endParaRPr sz="10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50CBC6-F97B-4B92-9EF6-78B40E2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2347913"/>
            <a:ext cx="1463040" cy="94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game_id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game_code (UQ)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frontend_path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backend_path</a:t>
            </a:r>
            <a:endParaRPr sz="8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D989F60-D1DB-4292-BE9C-C4EBD57F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1755648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47708B2-2C73-465A-8F01-4BEC084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17556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4E11632-1B00-499A-B563-AEF6116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922776"/>
            <a:ext cx="1517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game_modes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810BAA8-9714-4D30-AA42-4D04BD02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4248150"/>
            <a:ext cx="1645920" cy="94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mode_id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FK game_id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mode_code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min/max players</a:t>
            </a:r>
            <a:endParaRPr sz="8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44BBE45-7639-4E88-9A1B-98E9E6EE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331720"/>
            <a:ext cx="1965960" cy="1627632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237049B-A5D6-45E0-86AB-00C2889C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331720"/>
            <a:ext cx="19659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6ED1165-8C48-476C-A127-540DD869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14016"/>
            <a:ext cx="17282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rooms</a:t>
            </a:r>
            <a:endParaRPr sz="10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9D03BAD-9C6D-4FF0-8649-1AC123C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770632"/>
            <a:ext cx="1837944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 (8碼)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game_id · mode_id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host_account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status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AC45EDC-DACF-4EAA-A3D9-56AA5A6A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596896"/>
            <a:ext cx="1481328" cy="118872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C71C4DE-7D45-4299-B0D2-096E2EC5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596896"/>
            <a:ext cx="148132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DB9B22F-0B83-4C2E-B13F-5708697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679192"/>
            <a:ext cx="12435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room_players</a:t>
            </a:r>
            <a:endParaRPr sz="10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79F2F9A-8E3B-40EF-A0A7-CFD6D9EE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3035808"/>
            <a:ext cx="13533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room_id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player_account</a:t>
            </a:r>
            <a:endParaRPr sz="8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3668CB8-D416-4621-8DB3-789550BD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560320"/>
            <a:ext cx="384048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7364341-1CC3-4DAA-9723-CEA5A895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142232"/>
            <a:ext cx="384048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97DC6A84-1EFF-40A8-A2DB-B75A04F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578608"/>
            <a:ext cx="594360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FB01532-1611-47D5-986B-173E2BC6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315968"/>
            <a:ext cx="512064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03DFA18-4716-4D58-8AD4-3AC31B4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118104"/>
            <a:ext cx="320040" cy="10972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6361852-C320-4698-94C9-43B3156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48" y="2139696"/>
            <a:ext cx="5029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6F80FBC-7B56-4D98-95C2-1090D75C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08276"/>
            <a:ext cx="356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1 : N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23BC58C-F023-4D1F-9D31-8E012E7C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48" y="3712464"/>
            <a:ext cx="5029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930508DC-45E7-4E03-B238-4B205D2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81044"/>
            <a:ext cx="356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1 : N</a:t>
            </a:r>
            <a:endParaRPr sz="9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6A10A45-9F67-4425-AFF0-6BCA7583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148840"/>
            <a:ext cx="5029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A3594AD-3A33-4242-944D-87C20E2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17420"/>
            <a:ext cx="356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1 : N</a:t>
            </a:r>
            <a:endParaRPr sz="9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3488E88-2B3A-4D05-9DCC-05EDF27E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86200"/>
            <a:ext cx="5029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25C3A774-BEC9-41CB-821B-43E49F2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54780"/>
            <a:ext cx="356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1 : N</a:t>
            </a:r>
            <a:endParaRPr sz="9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8F85DE45-8239-44AA-B6E6-D795947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706624"/>
            <a:ext cx="50292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B7679C8C-F2C2-4E41-A58D-4F96BC8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2775204"/>
            <a:ext cx="3566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1 : N</a:t>
            </a:r>
            <a:endParaRPr sz="9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81E1BDD2-30F2-4A13-8444-79EF17BC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23560"/>
            <a:ext cx="6263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2866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rooms 同時保存 game_id 與 mode_id；room_players 是 Room.players 的 ElementCollection 關聯表。</a:t>
            </a:r>
            <a:endParaRPr sz="1020"/>
          </a:p>
        </p:txBody>
      </p:sp>
    </p:spTree>
    <p:extLst>
      <p:ext uri="{BB962C8B-B14F-4D97-AF65-F5344CB8AC3E}">
        <p14:creationId xmlns:p14="http://schemas.microsoft.com/office/powerpoint/2010/main" val="1810171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956221-BB76-4BA7-8476-7888ECB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3E55389-DB9D-4F52-B375-02882A2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7114F1-5928-4F80-A6BC-E5236AE4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ER MODEL · BOARD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310E444-5204-4310-B1D6-75BD944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延伸 ER Model：組隊公告如何連到會員、遊戲與房間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439898-1C5F-495A-A19B-FAEB3A6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Board 有自己的 Entity，但透過 platform_user_id、game_id、mode_id、room_id 與其他模組銜接。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0699BD-D731-41E9-9A71-56B0ED1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A243E7-183F-42F0-9EA1-C1CC82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8198161-AEB6-49E7-BDED-9AD2929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A8370D-DF11-486F-918A-0B592920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8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AC81E49-CA79-4D77-8778-2CA12A83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1508760" cy="1170432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2C114D-0A0E-4ED9-995F-CAE7B76F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1508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AAA799-BD95-4D8F-A8AD-A5929322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CED28-53FD-4864-8281-435ABB7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587752"/>
            <a:ext cx="1252728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account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username</a:t>
            </a:r>
            <a:endParaRPr sz="8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11BC2BE-8129-4F9D-8EA9-80EF0AD7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148840"/>
            <a:ext cx="1755648" cy="1170432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BD6B247-4FB4-42C3-8EC1-08919760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148840"/>
            <a:ext cx="17556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04AB15-D2DF-4A22-BC6F-2D9A584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2231136"/>
            <a:ext cx="1517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members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FCF3F86-94B0-46EE-A972-90DBE6B7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2587752"/>
            <a:ext cx="14996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896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platform_user_id (UQ)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account · nickname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98ED1F8-25D7-493B-8B8A-1C2E12D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65960"/>
            <a:ext cx="1947672" cy="150876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ACED0E7-569A-43B0-BEC3-9908F94E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65960"/>
            <a:ext cx="1947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0F4C8D6-1F2C-412F-8D65-D97C708E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048256"/>
            <a:ext cx="17099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team_posts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8044A7-AA1C-493C-A712-36E87D5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366963"/>
            <a:ext cx="169164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FK member_id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game_id · mode_id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room_id · status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B9B7A3F-77FD-487D-9401-E103A93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72768"/>
            <a:ext cx="1883664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860E83C-5796-472B-8399-739C2102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572768"/>
            <a:ext cx="188366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4AC7004-BA37-4D11-AB2E-0E79AE8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55064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join_requests</a:t>
            </a:r>
            <a:endParaRPr sz="10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57A6C06-8DA8-4533-AD70-51100E3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1976438"/>
            <a:ext cx="1627632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051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FK post_id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FK member_id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status</a:t>
            </a:r>
            <a:endParaRPr sz="8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8925581-C108-473F-94C1-728DE88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858768"/>
            <a:ext cx="1883664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C2F3192-8BF4-4529-BD26-99ED54F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858768"/>
            <a:ext cx="188366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525FDFC-0AE7-4C2F-92B0-F2BF886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941064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notifications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53A73B5-A800-44D5-87B4-F3D4951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262438"/>
            <a:ext cx="1627632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PK 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FK member_id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post_id · message</a:t>
            </a:r>
            <a:endParaRPr sz="8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AE81B84-E057-4990-A65D-95726B8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450592"/>
            <a:ext cx="1417320" cy="1115568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D65562C-57B9-4A96-808B-B8C93EC7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450592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AE0D275-52F6-40C3-99A4-1DE2AAD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532888"/>
            <a:ext cx="11795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7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games / modes</a:t>
            </a:r>
            <a:endParaRPr sz="10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7F5FA94-56EA-423E-BC31-AEA4225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89504"/>
            <a:ext cx="11612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game_id</a:t>
            </a:r>
            <a:endParaRPr sz="85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rPr>
              <a:t>mode_id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B39234B-3F41-487A-9C8B-6EAFC9F6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2651760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1C5F455-5E0A-4C83-A52B-B23966E7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51760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043AF52-0F25-4FB8-8933-1D22FF12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32304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5046CD2-4CDE-498E-A5C4-FB5842F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352544"/>
            <a:ext cx="31089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1BE3B7F-2D89-4420-A0A0-469F0BEF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2907792"/>
            <a:ext cx="402336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835DFB-8F9B-4E05-AAF3-83173D6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9372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1647422-82F5-4563-BCA2-5CA194A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7315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630E855-9705-401F-B598-39838B29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568696"/>
            <a:ext cx="90068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重點：組隊模組不直接取代會員／房間資料表，而是保存必要的識別資訊與自己的流程狀態。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402261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6EF3F3-D361-41AD-8C10-A9D6BBB1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4B75FB-9E17-4240-B7A3-2FDAEC7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F47F86-9C5F-4307-8D97-AF7C45D1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AUTHENTICATION FLOW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13DD66-ABFE-4AAA-88D2-B12B71F5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JWT 讓不同頁面共享同一個登入身分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DBB560-4A47-4AEF-828D-F804BD2C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前端保存登入結果；每次受保護請求仍由後端重新驗證 token 與帳號狀態。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78AEA57-E00A-4A39-98B1-33AC8AE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F158B3-EF64-49C3-A121-CC3BA99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963222-5D5E-47DE-BB53-F22A0BF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941EA0-3FB3-45C9-B7F3-6BA98F5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9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ABAC06E-FB1C-4AA5-894B-FC9665D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11680"/>
            <a:ext cx="1783080" cy="131673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A3C6E5-56C2-4ACC-8E13-A08C464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76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A97379A-4F39-4D18-9BF6-8010BE20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762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2B71DA-454E-419B-94D7-1B88E99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60904"/>
            <a:ext cx="15636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4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Login</a:t>
            </a:r>
            <a:endParaRPr sz="124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542B56-47F3-4621-A8ED-A0DB636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44368"/>
            <a:ext cx="156362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375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account + password</a:t>
            </a:r>
            <a:endParaRPr sz="8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78CDF67-F1A1-4B45-B4C4-DC28DFC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60604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9A55B8F-42CA-4B63-90C9-A9FE4180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011680"/>
            <a:ext cx="1783080" cy="131673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33A4F06-03A1-429F-ABE5-BAB9682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2176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BB413A-6B8F-445B-8541-921728F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016" y="21762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2F32E3A-6A68-48E4-BBA6-C1409ED7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660904"/>
            <a:ext cx="15636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4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JWT</a:t>
            </a:r>
            <a:endParaRPr sz="12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979D659-59BF-43B1-A337-9DD95F8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944368"/>
            <a:ext cx="156362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719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userId · account · role</a:t>
            </a:r>
            <a:endParaRPr sz="8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372C20C-9B8D-4C68-B4BB-B820E0F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60604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AA4B45C-3951-4222-8168-7D08108F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011680"/>
            <a:ext cx="1783080" cy="131673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37E27B1-FA87-48CC-8A5E-6D2670F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176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75BF451-4C22-4B6B-9565-BDE2448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1762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EB16601-BA2B-49B1-B507-CA92CD3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660904"/>
            <a:ext cx="15636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4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Authorization</a:t>
            </a:r>
            <a:endParaRPr sz="124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0B2B85B-2CEC-46FB-8EF9-C0EDA4F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944368"/>
            <a:ext cx="156362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Bearer token</a:t>
            </a:r>
            <a:endParaRPr sz="8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9F70267-4397-47B9-A2F0-535C804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60604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4561972-E03E-4283-B257-499E8C10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011680"/>
            <a:ext cx="1783080" cy="131673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C7E6A35-B64A-44C8-94B4-FD55E07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176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A9831B0-7973-4CA3-A02F-28839F86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1762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0A70A2D-68D3-4016-97A1-6A7BA92E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660904"/>
            <a:ext cx="15636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4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Security Filter</a:t>
            </a:r>
            <a:endParaRPr sz="124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380A521-9709-4DA5-AEB6-E3D8651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944368"/>
            <a:ext cx="156362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驗簽 · 到期 · 狀態</a:t>
            </a:r>
            <a:endParaRPr sz="8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518AED-7F7C-4D91-AE34-E367C80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606040"/>
            <a:ext cx="237744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01D07B6-8D1B-46BF-B35C-3BF82E1E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011680"/>
            <a:ext cx="1783080" cy="1316736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998F4E-CC70-4678-91DC-2D0B7B48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1762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E1C3EE8-37EF-4ADC-8B3E-07517A3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1762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7F08E04-A078-4DB7-A37B-2BABECA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660904"/>
            <a:ext cx="15636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4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Platform Modules</a:t>
            </a:r>
            <a:endParaRPr sz="124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8FEE43C-EF88-4F10-9754-09060BB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2876550"/>
            <a:ext cx="170992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858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User · Board
Lobby · Games</a:t>
            </a:r>
            <a:endParaRPr sz="8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F0FA077-0A29-401D-BB8F-98494D4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526280"/>
            <a:ext cx="90068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CA9925F-42B4-4331-84DC-5B6828A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52628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F062ADF-F16E-4F7A-886C-26C4C69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4654296"/>
            <a:ext cx="8641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localStorage 只保存資料；真正能不能操作，仍以後端驗證結果為準。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73018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50BDBC-4CD7-4EFB-9FE6-A612997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89AA762-491C-45E8-B64C-1B1722CB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ED2C68-5B99-4392-908A-E0D86D4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CROSS-MODULE SEQUENCE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46EB90-8E1B-4B81-BA02-6841C9C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核心功能資料流：組隊完成後建立房間並導向遊戲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3F70C8-2D97-4F4A-BC6D-1EB1884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用一次核心流程說明前端、Controller、Service、Game Management、Lobby 與 DB 如何串接。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5481A57-D0CA-4DAB-919E-BBD7B9F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B61149A-6145-4EB9-B4E3-299AB35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D8EE66-4DAA-4C0B-86AC-7FD8CD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C60AEF-03B7-4DF8-A22F-02CFD57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10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A1160F1-975A-45C6-BE36-0601F96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C9ACDB-01FB-4E26-B97D-4243B2C7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Board UI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AE84AE-0A4C-4806-9DE8-68FF4A2A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選遊戲／模式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送出組隊資料</a:t>
            </a:r>
            <a:endParaRPr sz="86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E71CDD-165B-4688-AE2E-D69BAC6E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587752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9B60707-ED65-4C47-B6A4-9025B67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64917C3-3D98-4012-8B50-3DF4E795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Controller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8180D23-A6EA-41A2-A925-BCD6D04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8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接收請求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取得登入身分</a:t>
            </a:r>
            <a:endParaRPr sz="86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8EA7B42-CFEB-4FE1-A335-4425B7BA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587752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30E5669-1560-44CA-9711-EE508BE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0EC8A26-AC03-44AD-AC21-76D08B63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Board Service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705504-CAB9-4792-A4E7-0C848AF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申請／核准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判斷人數到齊</a:t>
            </a:r>
            <a:endParaRPr sz="86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63ACFFD-94B7-4D03-9535-967CEBA0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587752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6944ED-5D8B-41A2-B04E-0C9D187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787721-5A1B-4548-AA30-9CA81FF8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Game Management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AB0E8EC-B352-45C6-B7C2-3BE8ECB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驗證 gameId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與 modeId</a:t>
            </a:r>
            <a:endParaRPr sz="8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B501AE-0163-40A7-BB43-AD709ADF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87752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9BF48CE-7DBB-4F08-9E1C-0C8B9BF6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7B43AF6-16C5-4214-89E6-B65743D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Lobby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D059B28-CC5F-4F11-847A-8E8B6E6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建立房間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加入玩家</a:t>
            </a:r>
            <a:endParaRPr sz="86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EB9B12-E658-4F5C-9DD8-1B92C4E6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87752"/>
            <a:ext cx="228600" cy="914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F8EC981-B893-4F67-8385-0C729077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84248"/>
            <a:ext cx="1481328" cy="1389888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369AAB3-12EA-49AA-B501-E5F7F0B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185416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rPr>
              <a:t>Game Page</a:t>
            </a:r>
            <a:endParaRPr sz="11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C59837C-1C0E-4C2C-8CAF-BA8781D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2633472"/>
            <a:ext cx="1527048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frontendPath</a:t>
            </a:r>
            <a:endParaRPr sz="86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+ room ID</a:t>
            </a:r>
            <a:endParaRPr sz="86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B208F88-4FC6-4EDF-9CDC-70BC9B7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675888"/>
            <a:ext cx="27432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7E0EB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BEEDB2F-F2D5-4B18-97F5-BF591BB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434840"/>
            <a:ext cx="4535424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F83C363-DB7F-4EA9-949B-F61475B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434840"/>
            <a:ext cx="73152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131A6BC-AC46-4061-9D11-A0C2900F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562856"/>
            <a:ext cx="4169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SQLite + WebSocket：資料交易成功後才保存／推送玩家名單、通知與房間狀態。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12708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9917E3-98AF-4AE7-B520-4DE1B165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9B90B78-1ADA-45BD-9E1B-99A4B1B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ED4B12-DB36-42BB-8FA0-8D9BE8BE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WORKING PRODUCT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4B65D9-0431-4E47-AF14-9773DEE9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實際畫面把平台流程連成一致體驗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9AC208-FB99-44FD-AC7C-E3C36D9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遊戲大廳 → 組隊設定 → 房間等待，畫面都使用同一個登入身分。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36AFAD-68CD-4675-897D-8870336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B6700C3-87E0-424E-90FB-A1AAFFA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E34005-E27B-40F0-A139-B7FE2AA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2224C6-5F9A-48FC-9FC7-5CB2A5D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11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0D9CA2F-8106-4B5C-9D1A-6A73EE89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536192"/>
            <a:ext cx="3328416" cy="2304288"/>
          </a:xfrm>
          <a:prstGeom xmlns:a="http://schemas.openxmlformats.org/drawingml/2006/main" prst="roundRect">
            <a:avLst>
              <a:gd name="adj" fmla="val 4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EDEF597-A91F-4BC9-B1B0-7B1ABFF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3310128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5E2632C-1B9F-4D3E-82CE-45833DE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1A323A8-6FAC-4DDA-BCAF-B8935862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91495DC-1BC0-44F1-BE3A-DE79D1DC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ecfa64c0a4fed"/>
          <a:srcRect xmlns:a="http://schemas.openxmlformats.org/drawingml/2006/main" l="8135" t="0" r="8135" b="0"/>
          <a:stretch xmlns:a="http://schemas.openxmlformats.org/drawingml/2006/main"/>
        </p:blipFill>
        <p:spPr>
          <a:xfrm xmlns:a="http://schemas.openxmlformats.org/drawingml/2006/main">
            <a:off x="658368" y="1847088"/>
            <a:ext cx="3273552" cy="1938528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74B8E4E-288F-4A57-BA50-3524D40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536192"/>
            <a:ext cx="3328416" cy="2304288"/>
          </a:xfrm>
          <a:prstGeom xmlns:a="http://schemas.openxmlformats.org/drawingml/2006/main" prst="roundRect">
            <a:avLst>
              <a:gd name="adj" fmla="val 4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0D30AB-2E29-4909-8809-FBB83F6F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554480"/>
            <a:ext cx="3310128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38A8889-AFA0-4C9C-ABD3-2C87530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910F6A2-EA56-464E-A134-59EFBA27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0D421D8-35BB-423C-980E-21569CCC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19b6ccd264fe6"/>
          <a:srcRect xmlns:a="http://schemas.openxmlformats.org/drawingml/2006/main" l="2854" t="0" r="2854" b="0"/>
          <a:stretch xmlns:a="http://schemas.openxmlformats.org/drawingml/2006/main"/>
        </p:blipFill>
        <p:spPr>
          <a:xfrm xmlns:a="http://schemas.openxmlformats.org/drawingml/2006/main">
            <a:off x="4434840" y="1847088"/>
            <a:ext cx="3273552" cy="1938528"/>
          </a:xfrm>
          <a:prstGeom xmlns:a="http://schemas.openxmlformats.org/drawingml/2006/main" prst="rect">
            <a:avLst/>
          </a:prstGeom>
        </p:spPr>
      </p:pic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3DF25A8-46DF-4744-B3BB-F081F6E0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36192"/>
            <a:ext cx="3328416" cy="2304288"/>
          </a:xfrm>
          <a:prstGeom xmlns:a="http://schemas.openxmlformats.org/drawingml/2006/main" prst="roundRect">
            <a:avLst>
              <a:gd name="adj" fmla="val 4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C4E38279-C383-4EBD-A993-5D36372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554480"/>
            <a:ext cx="3310128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4A2C5732-C29A-4876-ABBD-0F9CC5D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4F43B21-F0E5-4B52-856A-1E8C8E16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D997D37-7097-4A9A-B7A0-7687F09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8793d06f54e1c"/>
          <a:srcRect xmlns:a="http://schemas.openxmlformats.org/drawingml/2006/main" l="2854" t="0" r="2854" b="0"/>
          <a:stretch xmlns:a="http://schemas.openxmlformats.org/drawingml/2006/main"/>
        </p:blipFill>
        <p:spPr>
          <a:xfrm xmlns:a="http://schemas.openxmlformats.org/drawingml/2006/main">
            <a:off x="8211312" y="1847088"/>
            <a:ext cx="3273552" cy="1938528"/>
          </a:xfrm>
          <a:prstGeom xmlns:a="http://schemas.openxmlformats.org/drawingml/2006/main" prst="rect">
            <a:avLst/>
          </a:prstGeom>
        </p:spPr>
      </p:pic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0F3D6353-F7C4-4B9E-833B-FA5B397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3273552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FC79C51B-69F8-4554-9472-A06FF7E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C71D9DA6-C7AB-43FD-8087-89F50DF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1300"/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734407E6-8DEE-4F26-87D6-6DDC557B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37997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選擇遊戲</a:t>
            </a:r>
            <a:endParaRPr sz="1350"/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E8C30E7D-18C6-44F1-89AC-7E26FD9D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70001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97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遊戲清單由 Game Management 提供。</a:t>
            </a:r>
            <a:endParaRPr sz="950"/>
          </a:p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9397BE18-31A7-4B22-A175-382FEAF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51960"/>
            <a:ext cx="3273552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2A16101E-EC15-47D1-AE3E-CAE4151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4531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2D5C6D59-9D89-414D-9F2C-88A80BD6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4531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1300"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1077AB25-1D18-41CA-978F-C1F0FD6C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37997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設定隊伍</a:t>
            </a:r>
            <a:endParaRPr sz="1350"/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2061A911-EDA5-4A67-8E4A-F98076B9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70001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模式與人數依資料動態產生。</a:t>
            </a:r>
            <a:endParaRPr sz="950"/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2F1E2A2C-A6E6-4AAC-8308-5CA6C112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251960"/>
            <a:ext cx="3273552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BE32BE03-F5A2-4D49-ABEE-264B05FB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4531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F6626754-760E-40BF-A11B-31A62FAD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4531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1300"/>
          </a:p>
        </p:txBody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3BE39464-B97E-487B-B47F-DFFB6A1C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37997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等待開始</a:t>
            </a:r>
            <a:endParaRPr sz="1350"/>
          </a:p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97DE883E-0F99-462D-82C5-1510AE1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700016"/>
            <a:ext cx="26334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房號、房主與玩家名單同步顯示。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05211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AD8796-767B-4BC9-A77A-32CC278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E0BBE1-2726-4943-B3F5-BD0E02C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DF32DD-490E-4059-B3A1-08F5587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POKER GAME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53B889-2FF0-4133-83D5-662736D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4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田忌撲克完成選牌、比牌與三輪結果呈現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8DC3E5-F8E1-4AFD-9A6B-77EFA056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同一頁完成玩家資訊、目前輪次、選牌區、結果區與三輪戰績呈現。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52630E-1995-4F26-A2F1-709D2911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691F0BD-0559-4CA7-8CD8-1677A69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F8C324-BF29-4032-A906-38FE52F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2F09B5-765C-44C5-83CE-84AD008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12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104825B-139A-4F77-BD62-89C6D8A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36192"/>
            <a:ext cx="4937760" cy="3200400"/>
          </a:xfrm>
          <a:prstGeom xmlns:a="http://schemas.openxmlformats.org/drawingml/2006/main" prst="roundRect">
            <a:avLst>
              <a:gd name="adj" fmla="val 3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F5833D4-BF61-4C50-B09A-38088773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54480"/>
            <a:ext cx="491947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46350AE-4FA1-488B-A3AF-2A5A3BA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2780CB0-ABD6-421E-A543-E42F0A8E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916D4CC-B9DC-47D5-B991-DA4460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21141aff04805"/>
          <a:srcRect xmlns:a="http://schemas.openxmlformats.org/drawingml/2006/main" l="1908" t="0" r="1908" b="0"/>
          <a:stretch xmlns:a="http://schemas.openxmlformats.org/drawingml/2006/main"/>
        </p:blipFill>
        <p:spPr>
          <a:xfrm xmlns:a="http://schemas.openxmlformats.org/drawingml/2006/main">
            <a:off x="786384" y="1847088"/>
            <a:ext cx="4882896" cy="28346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E76053B-8AB6-4DB1-B83D-C92F665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36192"/>
            <a:ext cx="4937760" cy="3200400"/>
          </a:xfrm>
          <a:prstGeom xmlns:a="http://schemas.openxmlformats.org/drawingml/2006/main" prst="roundRect">
            <a:avLst>
              <a:gd name="adj" fmla="val 3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C1D8F38-243E-4BA3-9F07-F77A435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1947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6350">
            <a:solidFill>
              <a:srgbClr val="D7E0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32F3ED3-3F93-40E6-B88D-C727887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03F69F9-2926-4716-9C9E-D096918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7FB3D34-9B19-465B-A1D8-7BD67F8A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6459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dde4c74644c40"/>
          <a:srcRect xmlns:a="http://schemas.openxmlformats.org/drawingml/2006/main" l="1908" t="0" r="1908" b="0"/>
          <a:stretch xmlns:a="http://schemas.openxmlformats.org/drawingml/2006/main"/>
        </p:blipFill>
        <p:spPr>
          <a:xfrm xmlns:a="http://schemas.openxmlformats.org/drawingml/2006/main">
            <a:off x="6419088" y="1847088"/>
            <a:ext cx="4882896" cy="2834640"/>
          </a:xfrm>
          <a:prstGeom xmlns:a="http://schemas.openxmlformats.org/drawingml/2006/main" prst="rect">
            <a:avLst/>
          </a:prstGeom>
        </p:spPr>
      </p:pic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007BBCAC-C839-4497-A0E5-96D05A9D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81328"/>
            <a:ext cx="1078992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5D477C7-875B-4BCA-BAC8-024F36C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549908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自動選牌</a:t>
            </a:r>
            <a:endParaRPr sz="95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FB49229A-C305-44E6-935D-0365D53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1481328"/>
            <a:ext cx="1078992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F0DD420A-0727-4FDB-BFC7-B5FFFEC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1549908"/>
            <a:ext cx="9326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三輪結果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E1D2EDF3-7862-45B4-85BA-13D3451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12080"/>
            <a:ext cx="4206240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DD313B7-E7BE-4B96-AF4F-504736B9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12080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DF88E55-0B32-4D10-85C4-BDAB69E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96" y="5340096"/>
            <a:ext cx="3840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房間資訊 + 玩家身分 + 手牌 + 本輪結果</a:t>
            </a:r>
            <a:endParaRPr sz="12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ED3CB4C-0DD6-40B7-A1AC-95DEBAC7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212080"/>
            <a:ext cx="4251960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EAA26746-08F7-411B-863F-60830E4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212080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E82F178-FAFD-437A-9B7E-D75882A1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5340096"/>
            <a:ext cx="3886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同一頁顯示三輪戰績與對局結果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09595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DF6412-D12A-4051-9EAA-F228CEE6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DFE92F8-6D2C-41AF-8BAD-81004538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7B40EF4-65F7-4082-B3B6-03AF9C7D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POKER ALGORITHM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5399D6-2CDA-44C6-9C8D-73229C0F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0B1D31"/>
                </a:solidFill>
                <a:latin typeface="Microsoft JhengHei"/>
                <a:ea typeface="Microsoft JhengHei"/>
                <a:cs typeface="Microsoft JhengHei"/>
              </a:rPr>
              <a:t>Poker 演算法：把牌型轉成可直接比較的 strength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2019FC-BB42-4626-A67D-C3708F1F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E6D85"/>
                </a:solidFill>
                <a:latin typeface="Aptos"/>
                <a:ea typeface="Aptos"/>
                <a:cs typeface="Aptos"/>
              </a:rPr>
              <a:t>以 ♦2、♦6、♦8、♦9、♦K 同花為例，將牌型、點數與花色編碼成單一 long 值。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B9DD1F-1FBB-4289-BC1B-4CC66EF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19A963-EC3D-4F7E-AAD3-6886689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063BE6-0655-49A9-A0B3-6848C441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3E7BFE-C812-4242-8D71-403BD2D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13</a:t>
            </a:r>
            <a:endParaRPr sz="900"/>
          </a:p>
        </p:txBody>
      </p:sp>
      <p:pic>
        <p:nvPicPr>
          <p:cNvPr id="4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42c2690444f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384" y="1755648"/>
            <a:ext cx="448056" cy="650577"/>
          </a:xfrm>
          <a:prstGeom xmlns:a="http://schemas.openxmlformats.org/drawingml/2006/main" prst="rect">
            <a:avLst/>
          </a:prstGeom>
        </p:spPr>
      </p:pic>
      <p:pic>
        <p:nvPicPr>
          <p:cNvPr id="4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3ecce1c0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6736" y="1755648"/>
            <a:ext cx="448056" cy="650577"/>
          </a:xfrm>
          <a:prstGeom xmlns:a="http://schemas.openxmlformats.org/drawingml/2006/main" prst="rect">
            <a:avLst/>
          </a:prstGeom>
        </p:spPr>
      </p:pic>
      <p:pic>
        <p:nvPicPr>
          <p:cNvPr id="4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e2fd779ba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7088" y="1755648"/>
            <a:ext cx="448056" cy="650577"/>
          </a:xfrm>
          <a:prstGeom xmlns:a="http://schemas.openxmlformats.org/drawingml/2006/main" prst="rect">
            <a:avLst/>
          </a:prstGeom>
        </p:spPr>
      </p:pic>
      <p:pic>
        <p:nvPicPr>
          <p:cNvPr id="5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406aac704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7439" y="1755648"/>
            <a:ext cx="448056" cy="650577"/>
          </a:xfrm>
          <a:prstGeom xmlns:a="http://schemas.openxmlformats.org/drawingml/2006/main" prst="rect">
            <a:avLst/>
          </a:prstGeom>
        </p:spPr>
      </p:pic>
      <p:pic>
        <p:nvPicPr>
          <p:cNvPr id="5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daf3331d1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7791" y="1755648"/>
            <a:ext cx="448056" cy="650577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24EA64-5B0B-4354-A62C-E5CE812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27432" rIns="45720" bIns="27432">
            <a:spAutoFit/>
          </a:bodyPr>
          <a:lstStyle xmlns:a="http://schemas.openxmlformats.org/drawingml/2006/main"/>
          <a:p xmlns:a="http://schemas.openxmlformats.org/drawingml/2006/main">
            <a:r>
              <a:rPr sz="1100" b="0">
                <a:solidFill>
                  <a:srgbClr val="0B1D31"/>
                </a:solidFill>
                <a:latin typeface="Microsoft JhengHei"/>
                <a:ea typeface="Microsoft JhengHei"/>
                <a:cs typeface="Microsoft JhengHei"/>
              </a:rPr>
              <a:t>範例：♦2、♦6、♦8、♦9、♦K ＝ 同花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D97D927-E20F-47FD-B87D-CCC461C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27632"/>
            <a:ext cx="580644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1324"/>
          </a:solidFill>
          <a:ln xmlns:a="http://schemas.openxmlformats.org/drawingml/2006/main" w="15875">
            <a:solidFill>
              <a:srgbClr val="E71C5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4752DC-B4F3-4059-89FD-D6034F3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975104"/>
            <a:ext cx="2240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27432" rIns="45720" bIns="27432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513090806021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9338BB3-8F84-41EB-A8F1-C339E9F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029968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27432" rIns="45720" bIns="27432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CE2"/>
                </a:solidFill>
                <a:latin typeface="Microsoft JhengHei"/>
                <a:ea typeface="Microsoft JhengHei"/>
                <a:cs typeface="Microsoft JhengHei"/>
              </a:rPr>
              <a:t>=  5  |  13  |  09  |  08  |  06  |  02  |  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9BDED63-3A29-4CD9-B389-75825EDA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532888"/>
            <a:ext cx="4800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27432" rIns="45720" bIns="27432">
            <a:spAutoFit/>
          </a:bodyPr>
          <a:lstStyle xmlns:a="http://schemas.openxmlformats.org/drawingml/2006/main"/>
          <a:p xmlns:a="http://schemas.openxmlformats.org/drawingml/2006/main">
            <a:r>
              <a:rPr sz="950" b="0">
                <a:solidFill>
                  <a:srgbClr val="DEE5F1"/>
                </a:solidFill>
                <a:latin typeface="Microsoft JhengHei"/>
                <a:ea typeface="Microsoft JhengHei"/>
                <a:cs typeface="Microsoft JhengHei"/>
              </a:rPr>
              <a:t>牌型  同花        最大K        9        8        6        2       花色♦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B036613-D638-4804-966A-781F5E85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05072"/>
            <a:ext cx="278892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71C5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672EADF-510E-47DD-BB22-0CA0078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05072"/>
            <a:ext cx="27889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C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F51669-88E4-4659-99EE-2C1CA64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50791"/>
            <a:ext cx="2569463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強度編碼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7AAA125-975A-4CCD-A769-BD2B8092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443983"/>
            <a:ext cx="2514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8016" tIns="73152" rIns="109728" bIns="27432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牌型放在最高位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點數由大到小排列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kicker／花色放在低位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比較時只看 long 大小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81689C6-AE25-470B-BEB2-A67A816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005072"/>
            <a:ext cx="278892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703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91B87A5-3809-4E81-B8E3-0D7D19B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005072"/>
            <a:ext cx="27889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8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0D5B1A3-FD27-4983-8D43-DAB88AD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50791"/>
            <a:ext cx="2569463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規則集中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E51487A-B5E4-4E98-B6E0-BA079876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443983"/>
            <a:ext cx="2514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8016" tIns="73152" rIns="109728" bIns="27432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牌型規則集中維護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牌組統一轉成 strength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避免大量 if / else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9BEBB03A-F43F-458A-89AD-C59B9987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005072"/>
            <a:ext cx="278892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49B7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3C408-A0B7-4BF0-8975-E874350A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005072"/>
            <a:ext cx="27889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9B7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715CEA6-0C37-414D-BFEC-1CCCF38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4050791"/>
            <a:ext cx="2569463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36576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自動選牌基礎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EBCDCCB-D679-46AA-A9E8-89E19BD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443983"/>
            <a:ext cx="2514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8016" tIns="73152" rIns="109728" bIns="27432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find_best_cards() 列舉組合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每組計算 strength</a:t>
            </a:r>
          </a:p>
          <a:p xmlns:a="http://schemas.openxmlformats.org/drawingml/2006/main">
            <a:pPr>
              <a:lnSpc>
                <a:spcPct val="95000"/>
              </a:lnSpc>
              <a:spcAft>
                <a:spcPts val="100"/>
              </a:spcAft>
              <a:buNone/>
            </a:pPr>
            <a:r>
              <a:rPr sz="1220">
                <a:solidFill>
                  <a:srgbClr val="0D1B30"/>
                </a:solidFill>
                <a:latin typeface="Aptos"/>
                <a:ea typeface="Aptos"/>
                <a:cs typeface="Aptos"/>
              </a:rPr>
              <a:t>保留最高分牌組</a:t>
            </a:r>
          </a:p>
        </p:txBody>
      </p:sp>
    </p:spTree>
    <p:extLst>
      <p:ext uri="{BB962C8B-B14F-4D97-AF65-F5344CB8AC3E}">
        <p14:creationId xmlns:p14="http://schemas.microsoft.com/office/powerpoint/2010/main" val="61342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A850DB-D14A-4794-9719-8EE9563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E0722B-8CA5-440F-9010-B410830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F4B0C8-D0A7-49B8-99B0-343DF63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049B71"/>
                </a:solidFill>
                <a:latin typeface="Aptos"/>
                <a:ea typeface="Aptos"/>
                <a:cs typeface="Aptos"/>
              </a:rPr>
              <a:t>POKER ALGORITHM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54662A-5CD1-499C-9664-00E40D8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700" b="0">
                <a:solidFill>
                  <a:srgbClr val="0D1B30"/>
                </a:solidFill>
                <a:latin typeface="Aptos"/>
                <a:ea typeface="Aptos"/>
                <a:cs typeface="Aptos"/>
              </a:rPr>
              <a:t>自動選牌：find_best_cards() 找出本輪最強手牌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640F00-B784-4DEC-A18F-FD4E9BE0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E6D85"/>
                </a:solidFill>
                <a:latin typeface="Aptos"/>
                <a:ea typeface="Aptos"/>
                <a:cs typeface="Aptos"/>
              </a:rPr>
              <a:t>列舉本輪可用牌的候選組合，將每一組轉成 strength，比較後保留分數最高的牌組。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1AB65A-72D6-415D-9629-F42E957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363406A-F6B8-48D7-A1BF-E6CA7DB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5924F7-2DCE-4FE4-9ABB-4362AE7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1FF3AF-AE7B-455B-A64D-F11EB77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14</a:t>
            </a:r>
            <a:endParaRPr sz="900"/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D0E4688-5FB9-4978-A836-66665E81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2103120"/>
            <a:ext cx="291465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CBD5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2BDE3270-F118-41A1-8280-6E3083A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2103120"/>
            <a:ext cx="291465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CBD5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9620B73-5A1E-4084-9EEF-AFC28D68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268" y="2103120"/>
            <a:ext cx="291465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CBD5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7A80126B-1E18-4143-9767-14A561A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08" y="2103120"/>
            <a:ext cx="291465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CBD5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799AC0F-AF16-4342-ADE4-3C884770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55648"/>
            <a:ext cx="1857375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71C5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F7F2DB-10EA-4834-8512-31E18FEB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41" y="184708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E71C5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B9B0EE3-6651-493F-8E5B-286481F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1828800"/>
            <a:ext cx="1285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扣除已用牌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968B1-7B0A-4654-ABEF-A0F916D2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3" y="2062163"/>
            <a:ext cx="1285875" cy="468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8" b="0">
                <a:solidFill>
                  <a:srgbClr val="5E6D85"/>
                </a:solidFill>
                <a:latin typeface="Aptos"/>
                <a:ea typeface="Aptos"/>
                <a:cs typeface="Aptos"/>
              </a:rPr>
              <a:t>前面輪次已選牌
不再使用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8ECA5A5-0F37-4EE3-9092-DA6853C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053" y="1755648"/>
            <a:ext cx="1857375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703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3F37127-7F4E-40D7-A860-14A75ED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781" y="184708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038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1C7C449-1D8A-44F3-A28F-0ABA883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253" y="1828800"/>
            <a:ext cx="1285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決定張數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A6B528-0207-4C93-864C-2B60789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253" y="2062163"/>
            <a:ext cx="1285875" cy="468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8" b="0">
                <a:solidFill>
                  <a:srgbClr val="5E6D85"/>
                </a:solidFill>
                <a:latin typeface="Aptos"/>
                <a:ea typeface="Aptos"/>
                <a:cs typeface="Aptos"/>
              </a:rPr>
              <a:t>第 1 輪 3 張
第 2/3 輪 5 張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37323EA-D3CF-4E13-9C0F-5D58E2D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893" y="1755648"/>
            <a:ext cx="1857375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2563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9FA9C2-17F9-4875-B347-F9C391AE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21" y="184708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588CCD8-A509-4EA3-B8C1-03B9739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093" y="1828800"/>
            <a:ext cx="1285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列舉組合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F58FBC-0499-4769-84E8-110135E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093" y="2062163"/>
            <a:ext cx="1285875" cy="468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8" b="0">
                <a:solidFill>
                  <a:srgbClr val="5E6D85"/>
                </a:solidFill>
                <a:latin typeface="Aptos"/>
                <a:ea typeface="Aptos"/>
                <a:cs typeface="Aptos"/>
              </a:rPr>
              <a:t>從剩餘手牌
取 C(n,k)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BA2EB6E-3132-4001-B3F9-90D3201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733" y="1755648"/>
            <a:ext cx="1857375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49B7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4D4235B-1359-4AD4-B4E3-7DBDE1FF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460" y="184708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49B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F9B3185-1E45-4203-B54E-DF9CFAF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933" y="1828800"/>
            <a:ext cx="1285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計算分數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2C019EA-965A-41AB-AFD2-86918BAC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933" y="2062163"/>
            <a:ext cx="1285875" cy="468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8" b="0">
                <a:solidFill>
                  <a:srgbClr val="5E6D85"/>
                </a:solidFill>
                <a:latin typeface="Aptos"/>
                <a:ea typeface="Aptos"/>
                <a:cs typeface="Aptos"/>
              </a:rPr>
              <a:t>score() →
hand_strength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15DC785-C0AC-4D78-B271-B2EE86DF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573" y="1755648"/>
            <a:ext cx="1857375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59E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E942E4-9EA5-4084-9644-C059A52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01" y="184708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293FD9-4018-42C9-A542-E785009A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1828800"/>
            <a:ext cx="1285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保留最高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FC2070C-846F-4A97-95B5-457FD99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2062163"/>
            <a:ext cx="1285875" cy="468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8" b="0">
                <a:solidFill>
                  <a:srgbClr val="5E6D85"/>
                </a:solidFill>
                <a:latin typeface="Aptos"/>
                <a:ea typeface="Aptos"/>
                <a:cs typeface="Aptos"/>
              </a:rPr>
              <a:t>更新 best_score
與 best[]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380C95EA-FB1F-4D8A-A938-32B292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07792"/>
            <a:ext cx="5166360" cy="21762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1324"/>
          </a:solidFill>
          <a:ln xmlns:a="http://schemas.openxmlformats.org/drawingml/2006/main" w="15875">
            <a:solidFill>
              <a:srgbClr val="703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437F568-97E0-438B-ADFD-1D000C73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90672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find_best_cards() 核心概念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3AB5028-BFE7-468E-883C-9BD72315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74720"/>
            <a:ext cx="4553712" cy="166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best_score = -1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 each combination C(n, k):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score = score(current, count)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if score &gt; best_score: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best_score = score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best = current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A8D8233B-6D13-4922-A5B8-D24CB53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907792"/>
            <a:ext cx="493776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71C5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DA87AC4-E141-42A1-B42F-04B8CE36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98094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E71C52"/>
                </a:solidFill>
                <a:latin typeface="Aptos"/>
                <a:ea typeface="Aptos"/>
                <a:cs typeface="Aptos"/>
              </a:rPr>
              <a:t>回合策略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3C4341E-A60A-4720-A4D3-29FDEE66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80944"/>
            <a:ext cx="3337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0D1B30"/>
                </a:solidFill>
                <a:latin typeface="Aptos"/>
                <a:ea typeface="Aptos"/>
                <a:cs typeface="Aptos"/>
              </a:rPr>
              <a:t>依目前流程先選第 3 輪 5 張，再選第 2 輪，最後處理第 1 輪 3 張。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F8618385-A6BD-4BCF-96A1-A4A5172B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02736"/>
            <a:ext cx="493776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7038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8925C8-B8E9-48DD-882D-D08C011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675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7038FF"/>
                </a:solidFill>
                <a:latin typeface="Aptos"/>
                <a:ea typeface="Aptos"/>
                <a:cs typeface="Aptos"/>
              </a:rPr>
              <a:t>目前輪次自動選牌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7039097-D623-448B-BDC2-E6B2A79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5888"/>
            <a:ext cx="3337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0D1B30"/>
                </a:solidFill>
                <a:latin typeface="Aptos"/>
                <a:ea typeface="Aptos"/>
                <a:cs typeface="Aptos"/>
              </a:rPr>
              <a:t>auto_choose_current_round() 只重算目前輪次；已完成輪次保持鎖定。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78E10D6A-3F45-46E7-9A7A-BD0B1A47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97680"/>
            <a:ext cx="493776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49B7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8631A8D-0CDC-4291-848B-C4D7D8C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3708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49B71"/>
                </a:solidFill>
                <a:latin typeface="Aptos"/>
                <a:ea typeface="Aptos"/>
                <a:cs typeface="Aptos"/>
              </a:rPr>
              <a:t>與 strength 的關係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F58FB46-0735-46BD-81FF-8ACD616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70832"/>
            <a:ext cx="3337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0D1B30"/>
                </a:solidFill>
                <a:latin typeface="Aptos"/>
                <a:ea typeface="Aptos"/>
                <a:cs typeface="Aptos"/>
              </a:rPr>
              <a:t>每一組候選牌都交給 score()，再由 Round.determine_hand_strength() 取得分數。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946240D2-83E2-4F30-8E5B-5EBADED2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074920"/>
            <a:ext cx="493776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49B7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B7C7A9AB-D2BE-4483-83E3-1509C7E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175504"/>
            <a:ext cx="4526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D1B30"/>
                </a:solidFill>
                <a:latin typeface="Aptos"/>
                <a:ea typeface="Aptos"/>
                <a:cs typeface="Aptos"/>
              </a:rPr>
              <a:t>重點：比牌規則只維護一份，自動選牌只需要反覆比較 strength。</a:t>
            </a:r>
          </a:p>
        </p:txBody>
      </p:sp>
    </p:spTree>
    <p:extLst>
      <p:ext uri="{BB962C8B-B14F-4D97-AF65-F5344CB8AC3E}">
        <p14:creationId xmlns:p14="http://schemas.microsoft.com/office/powerpoint/2010/main" val="461807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DDC3EC-0EDE-4ABB-9104-F8ECE065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0"/>
            <a:ext cx="2176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0CBCA9-6EE4-41C7-95C0-C0D543EB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0"/>
            <a:ext cx="16550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F">
              <a:alpha val="90000"/>
            </a:srgbClr>
          </a:solidFill>
          <a:ln xmlns:a="http://schemas.openxmlformats.org/drawingml/2006/main" w="12700">
            <a:solidFill>
              <a:srgbClr val="E8F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D38A03-2691-4D58-BD43-BFCF272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747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VERIFICATION</a:t>
            </a:r>
            <a:endParaRPr sz="9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E466FB-7AA6-4C0D-A4EE-8550FBA2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008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0B1D31"/>
                </a:solidFill>
                <a:latin typeface="Microsoft JhengHei"/>
                <a:ea typeface="Microsoft JhengHei"/>
                <a:cs typeface="Microsoft JhengHei"/>
              </a:rPr>
              <a:t>自動化測試與主要流程驗證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1ACFFA-DBD1-42AE-B0D3-611EEE4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143000"/>
            <a:ext cx="10149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E6F86"/>
                </a:solidFill>
                <a:latin typeface="Microsoft JhengHei"/>
                <a:ea typeface="Microsoft JhengHei"/>
                <a:cs typeface="Microsoft JhengHei"/>
              </a:rPr>
              <a:t>測試結果用於支撐目前成果，並搭配實機操作確認主要展示流程。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DEC8DC5-15AB-4BE0-B001-EEA0FCCA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08760"/>
            <a:ext cx="5303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982D3E-DAB4-4445-9C35-D061DAE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381A01-F6BE-47C2-B2BB-ABAB504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5EB699-DCD5-4963-952B-0558DFE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15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5C680E7-AD6A-4221-8265-84601AB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27248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F3E88E-817C-4606-8337-022186D2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65960"/>
            <a:ext cx="8412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  <a:endParaRPr sz="3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DA528F-949D-4742-BD60-DC7C5E0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011680"/>
            <a:ext cx="15727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後端測試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08B275-1FBA-4E8D-9451-DF365E2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359152"/>
            <a:ext cx="1609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8084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Spring、Board、Poker</a:t>
            </a:r>
            <a:endParaRPr sz="88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JWT、Game Management</a:t>
            </a:r>
            <a:endParaRPr sz="88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C83EC63-D849-403C-83FD-4BE149C7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83080"/>
            <a:ext cx="3127248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15339E-C1F1-4CD6-88DB-B69CCB1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8412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1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3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7C339-C15E-4E20-9D77-D7A412E3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1680"/>
            <a:ext cx="15727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前端測試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9F3822D-9F97-465E-B9E9-25C564C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59152"/>
            <a:ext cx="1609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9869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登入、分頁、即時連線</a:t>
            </a:r>
            <a:endParaRPr sz="88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與重新連線</a:t>
            </a:r>
            <a:endParaRPr sz="88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EE06713-C3CC-4CAB-AD2D-058F66B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83080"/>
            <a:ext cx="3127248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B5B93FC-0F6D-40C5-871B-F2ABA5D0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965960"/>
            <a:ext cx="8412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1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  <a:endParaRPr sz="3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30100E-9BDF-489A-9FB7-FCA20EA5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11680"/>
            <a:ext cx="15727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合計通過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4891FC-07CC-4D63-B8FF-73EB025D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359152"/>
            <a:ext cx="1609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9869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0 failure · 0 error</a:t>
            </a:r>
            <a:endParaRPr sz="88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7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0 skipped</a:t>
            </a:r>
            <a:endParaRPr sz="88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A08CB5-369A-4341-AC1E-41E1C1A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2900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手動流程驗證</a:t>
            </a:r>
            <a:endParaRPr sz="15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E949355-0C16-4DD2-BD66-B4C17CD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862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594C290-0794-43F0-A6A8-EFA9CFC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8620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7A5826-8C12-4C2F-AAE2-AFCB6D6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04488"/>
            <a:ext cx="2971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登入 → 大廳 → 建房 → 等待 → Poker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EA0C5F8-FA86-424C-B9FB-DE82CB6E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904488"/>
            <a:ext cx="6537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7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2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已完成實機流程。</a:t>
            </a:r>
            <a:endParaRPr sz="10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00DEFB1-D217-4D14-B3B3-8BB8CA8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1655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56EC488-19E2-4C93-A387-5FCF7DB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16552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F56AF76-1E31-4B2A-9EC7-91918DA6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434840"/>
            <a:ext cx="2971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Poker 自動選牌與三輪結果</a:t>
            </a:r>
            <a:endParaRPr sz="11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CAC6D86-2F0C-4A44-88B0-2C67BEB9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434840"/>
            <a:ext cx="6537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7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25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已完成操作驗證。</a:t>
            </a:r>
            <a:endParaRPr sz="103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36ADEAC-5B56-4BDD-A574-341131D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4690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12700">
            <a:solidFill>
              <a:srgbClr val="E11D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9712179-2C84-4350-9D93-420D9B8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469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ACBE7E3-8161-4ABB-A483-30AA12C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965192"/>
            <a:ext cx="2971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0B1D31"/>
                </a:solidFill>
                <a:latin typeface="Microsoft JhengHei"/>
                <a:ea typeface="Microsoft JhengHei"/>
                <a:cs typeface="Microsoft JhengHei"/>
              </a:rPr>
              <a:t>組隊公告 → 申請 → 通知 → 建立房間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3E009E-C774-441A-A207-A526456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965192"/>
            <a:ext cx="6537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77"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5E6F86"/>
                </a:solidFill>
                <a:latin typeface="Microsoft JhengHei"/>
                <a:ea typeface="Microsoft JhengHei"/>
                <a:cs typeface="Microsoft JhengHei"/>
              </a:rPr>
              <a:t>完成主要展示流程驗證。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CDCAFB9-5523-4B53-8AAC-D1D80D5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69280"/>
            <a:ext cx="4023360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397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44FF4FB-262B-4B65-94AF-867FF16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69280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1DC9C74-4CCA-4936-B6E8-842D42B8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7296"/>
            <a:ext cx="3657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B1D31"/>
                </a:solidFill>
                <a:latin typeface="Microsoft JhengHei"/>
                <a:ea typeface="Microsoft JhengHei"/>
                <a:cs typeface="Microsoft JhengHei"/>
              </a:rPr>
              <a:t>以已完成流程作為 Demo 主軸</a:t>
            </a:r>
          </a:p>
        </p:txBody>
      </p:sp>
    </p:spTree>
    <p:extLst>
      <p:ext uri="{BB962C8B-B14F-4D97-AF65-F5344CB8AC3E}">
        <p14:creationId xmlns:p14="http://schemas.microsoft.com/office/powerpoint/2010/main" val="18518842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5218C8-D7AE-431A-A3A3-CB6927D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FD2BFA-3510-4AE9-84A2-54A0B0B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63C7EE-5720-40AC-A390-34A7BF4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280160"/>
            <a:ext cx="102412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從會員到遊戲，平台已形成可展示的完整流程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CA7B1-F9A7-4E61-8D51-6A0A5BF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066544"/>
            <a:ext cx="199339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</a:rPr>
              <a:t>GamePlatform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7B6D1B-476A-4598-8BFF-98C48A5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2468880"/>
            <a:ext cx="8229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5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共用登入、遊戲目錄、組隊與房間流程，再由個別遊戲處理自己的規則。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1F4B2A-50EF-439D-8B1C-2B8BE49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83280"/>
            <a:ext cx="27889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BA1FAC4-E27D-4A69-8EE6-CACAD1D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621024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端到端</a:t>
            </a:r>
            <a:endParaRPr sz="15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1468DE7-AF94-489F-8A7E-1F90138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06908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8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登入 → 房間 → 遊戲</a:t>
            </a:r>
            <a:endParaRPr sz="9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9109E1-03BB-421D-ACCE-56BE95F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83280"/>
            <a:ext cx="27889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E21E04-4C39-433A-BCE1-A59E7C1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21024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模組化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F33911-BFF7-4143-B4D2-CE329C55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6908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8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共同平台 + 獨立遊戲</a:t>
            </a:r>
            <a:endParaRPr sz="98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06E0E60-5819-453D-95A2-892C172F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27889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AE7711-8C50-48F6-BC01-709DE634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621024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可驗證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68376A-A84B-4DE7-A9FD-5D89DB9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06908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80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58 項測試 + 實機流程</a:t>
            </a:r>
            <a:endParaRPr sz="98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D89079-A200-401F-9765-1814F0A2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3949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00" b="1">
                <a:solidFill>
                  <a:srgbClr val="4F46E5"/>
                </a:solidFill>
                <a:latin typeface="Microsoft JhengHei"/>
                <a:ea typeface="Microsoft JhengHei"/>
                <a:cs typeface="Microsoft JhengHei"/>
              </a:rPr>
              <a:t>DEMO · Q&amp;A</a:t>
            </a:r>
            <a:endParaRPr sz="2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C2C85C-2BD0-48BC-961C-55B4299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419088"/>
            <a:ext cx="10991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E7E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84D8A2-EF05-41B9-A739-8A1C72D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519672"/>
            <a:ext cx="4114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50" b="1">
                <a:solidFill>
                  <a:srgbClr val="5C6B82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0566465-2C57-4713-8A9E-F881BB0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224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  <a:ea typeface="Aptos"/>
                <a:cs typeface="Aptos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972038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2026-09-04T08:01:01.8760000Z</dcterms:created>
  <dcterms:modified xsi:type="dcterms:W3CDTF">2026-09-04T08:01:01.8760000Z</dcterms:modified>
</coreProperties>
</file>