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0b1dddc4b4884" /><Relationship Type="http://schemas.openxmlformats.org/officeDocument/2006/relationships/extended-properties" Target="/docProps/app.xml" Id="R7ea62c0935ca4ece" /><Relationship Type="http://schemas.openxmlformats.org/officeDocument/2006/relationships/officeDocument" Target="/ppt/presentation.xml" Id="R178d6eb65082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738aa4e5b74cd6"/>
  </p:sldMasterIdLst>
  <p:notesMasterIdLst>
    <p:notesMasterId xmlns:r="http://schemas.openxmlformats.org/officeDocument/2006/relationships" r:id="R2c55f6f979ae457e"/>
  </p:notesMasterIdLst>
  <p:sldIdLst>
    <p:sldId xmlns:r="http://schemas.openxmlformats.org/officeDocument/2006/relationships" id="256" r:id="R879270aaabf3435d"/>
    <p:sldId xmlns:r="http://schemas.openxmlformats.org/officeDocument/2006/relationships" id="257" r:id="Rd684009964064ccd"/>
    <p:sldId xmlns:r="http://schemas.openxmlformats.org/officeDocument/2006/relationships" id="258" r:id="Rdc36befea3cc4e89"/>
    <p:sldId xmlns:r="http://schemas.openxmlformats.org/officeDocument/2006/relationships" id="259" r:id="Re0f6ae8145854e7a"/>
    <p:sldId xmlns:r="http://schemas.openxmlformats.org/officeDocument/2006/relationships" id="260" r:id="Re98ffd5c89134ae2"/>
    <p:sldId xmlns:r="http://schemas.openxmlformats.org/officeDocument/2006/relationships" id="261" r:id="Rdc7efde84527491e"/>
    <p:sldId xmlns:r="http://schemas.openxmlformats.org/officeDocument/2006/relationships" id="262" r:id="R339b0cd72c924ed3"/>
    <p:sldId xmlns:r="http://schemas.openxmlformats.org/officeDocument/2006/relationships" id="263" r:id="R270f3b3dfe484c0f"/>
    <p:sldId xmlns:r="http://schemas.openxmlformats.org/officeDocument/2006/relationships" id="264" r:id="R6ca57019f8b1450e"/>
    <p:sldId xmlns:r="http://schemas.openxmlformats.org/officeDocument/2006/relationships" id="265" r:id="Rcf079ea171c046b7"/>
    <p:sldId xmlns:r="http://schemas.openxmlformats.org/officeDocument/2006/relationships" id="266" r:id="Ra609e0d8e7574fc0"/>
    <p:sldId xmlns:r="http://schemas.openxmlformats.org/officeDocument/2006/relationships" id="267" r:id="Rd74cc8ad8d1b4d4a"/>
    <p:sldId xmlns:r="http://schemas.openxmlformats.org/officeDocument/2006/relationships" id="268" r:id="R1e3dc71c2fb14bd3"/>
    <p:sldId xmlns:r="http://schemas.openxmlformats.org/officeDocument/2006/relationships" id="269" r:id="Rdd051d6cbf784f94"/>
    <p:sldId xmlns:r="http://schemas.openxmlformats.org/officeDocument/2006/relationships" id="270" r:id="Rb7a8cf003cf346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5d72175da64e15" /><Relationship Type="http://schemas.openxmlformats.org/officeDocument/2006/relationships/slideMaster" Target="/ppt/slideMasters/slideMaster1.xml" Id="Rd1738aa4e5b74cd6" /><Relationship Type="http://schemas.openxmlformats.org/officeDocument/2006/relationships/notesMaster" Target="/ppt/notesMasters/notesMaster1.xml" Id="R2c55f6f979ae457e" /><Relationship Type="http://schemas.openxmlformats.org/officeDocument/2006/relationships/presProps" Target="/ppt/presProps.xml" Id="R0ce9ba94593045c7" /><Relationship Type="http://schemas.openxmlformats.org/officeDocument/2006/relationships/tableStyles" Target="/ppt/tableStyles.xml" Id="R26bfa9cb04cc428a" /><Relationship Type="http://schemas.openxmlformats.org/officeDocument/2006/relationships/slide" Target="/ppt/slides/slide1.xml" Id="R879270aaabf3435d" /><Relationship Type="http://schemas.openxmlformats.org/officeDocument/2006/relationships/slide" Target="/ppt/slides/slide2.xml" Id="Rd684009964064ccd" /><Relationship Type="http://schemas.openxmlformats.org/officeDocument/2006/relationships/slide" Target="/ppt/slides/slide3.xml" Id="Rdc36befea3cc4e89" /><Relationship Type="http://schemas.openxmlformats.org/officeDocument/2006/relationships/slide" Target="/ppt/slides/slide4.xml" Id="Re0f6ae8145854e7a" /><Relationship Type="http://schemas.openxmlformats.org/officeDocument/2006/relationships/slide" Target="/ppt/slides/slide5.xml" Id="Re98ffd5c89134ae2" /><Relationship Type="http://schemas.openxmlformats.org/officeDocument/2006/relationships/slide" Target="/ppt/slides/slide6.xml" Id="Rdc7efde84527491e" /><Relationship Type="http://schemas.openxmlformats.org/officeDocument/2006/relationships/slide" Target="/ppt/slides/slide7.xml" Id="R339b0cd72c924ed3" /><Relationship Type="http://schemas.openxmlformats.org/officeDocument/2006/relationships/slide" Target="/ppt/slides/slide8.xml" Id="R270f3b3dfe484c0f" /><Relationship Type="http://schemas.openxmlformats.org/officeDocument/2006/relationships/slide" Target="/ppt/slides/slide9.xml" Id="R6ca57019f8b1450e" /><Relationship Type="http://schemas.openxmlformats.org/officeDocument/2006/relationships/slide" Target="/ppt/slides/slide10.xml" Id="Rcf079ea171c046b7" /><Relationship Type="http://schemas.openxmlformats.org/officeDocument/2006/relationships/slide" Target="/ppt/slides/slide11.xml" Id="Ra609e0d8e7574fc0" /><Relationship Type="http://schemas.openxmlformats.org/officeDocument/2006/relationships/slide" Target="/ppt/slides/slide12.xml" Id="Rd74cc8ad8d1b4d4a" /><Relationship Type="http://schemas.openxmlformats.org/officeDocument/2006/relationships/slide" Target="/ppt/slides/slide13.xml" Id="R1e3dc71c2fb14bd3" /><Relationship Type="http://schemas.openxmlformats.org/officeDocument/2006/relationships/slide" Target="/ppt/slides/slide14.xml" Id="Rdd051d6cbf784f94" /><Relationship Type="http://schemas.openxmlformats.org/officeDocument/2006/relationships/slide" Target="/ppt/slides/slide15.xml" Id="Rb7a8cf003cf3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57ff4042847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ecaa8142a414b" /><Relationship Type="http://schemas.openxmlformats.org/officeDocument/2006/relationships/notesMaster" Target="/ppt/notesMasters/notesMaster1.xml" Id="R01c73ce7800549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67e940cfdd47a0" /><Relationship Type="http://schemas.openxmlformats.org/officeDocument/2006/relationships/notesMaster" Target="/ppt/notesMasters/notesMaster1.xml" Id="R10b05c65669b4e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dd908a35314c92" /><Relationship Type="http://schemas.openxmlformats.org/officeDocument/2006/relationships/notesMaster" Target="/ppt/notesMasters/notesMaster1.xml" Id="R3b80c53d1591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a93a68a90b46ef" /><Relationship Type="http://schemas.openxmlformats.org/officeDocument/2006/relationships/notesMaster" Target="/ppt/notesMasters/notesMaster1.xml" Id="Rbc8b38f7266c41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4f6d0b7e1e4a6a" /><Relationship Type="http://schemas.openxmlformats.org/officeDocument/2006/relationships/notesMaster" Target="/ppt/notesMasters/notesMaster1.xml" Id="Rfd02e9505f5a44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56137cca64f59" /><Relationship Type="http://schemas.openxmlformats.org/officeDocument/2006/relationships/notesMaster" Target="/ppt/notesMasters/notesMaster1.xml" Id="Recc615f6c33d44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8ed1fc47d40f3" /><Relationship Type="http://schemas.openxmlformats.org/officeDocument/2006/relationships/notesMaster" Target="/ppt/notesMasters/notesMaster1.xml" Id="Rb3a8b6e2af9c40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50a78409cc4cc3" /><Relationship Type="http://schemas.openxmlformats.org/officeDocument/2006/relationships/notesMaster" Target="/ppt/notesMasters/notesMaster1.xml" Id="Rab3e3738b0334f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afdd1b3bea4f91" /><Relationship Type="http://schemas.openxmlformats.org/officeDocument/2006/relationships/notesMaster" Target="/ppt/notesMasters/notesMaster1.xml" Id="Rea7a7ccac48141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7dc0eebaa74b98" /><Relationship Type="http://schemas.openxmlformats.org/officeDocument/2006/relationships/notesMaster" Target="/ppt/notesMasters/notesMaster1.xml" Id="Rdd529e6325d04d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9293ff05214422" /><Relationship Type="http://schemas.openxmlformats.org/officeDocument/2006/relationships/notesMaster" Target="/ppt/notesMasters/notesMaster1.xml" Id="Rdf7728ac65a64e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83678907a0441d" /><Relationship Type="http://schemas.openxmlformats.org/officeDocument/2006/relationships/notesMaster" Target="/ppt/notesMasters/notesMaster1.xml" Id="Rb8542b775f0342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b1305605134486" /><Relationship Type="http://schemas.openxmlformats.org/officeDocument/2006/relationships/notesMaster" Target="/ppt/notesMasters/notesMaster1.xml" Id="Rf3d4775159fe4b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2e19849ad34e05" /><Relationship Type="http://schemas.openxmlformats.org/officeDocument/2006/relationships/notesMaster" Target="/ppt/notesMasters/notesMaster1.xml" Id="Ra525f1446dd243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c5f74328904c89" /><Relationship Type="http://schemas.openxmlformats.org/officeDocument/2006/relationships/notesMaster" Target="/ppt/notesMasters/notesMaster1.xml" Id="Rc77d5fb3dd7c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以完整使用流程開場，先說明這是一個整合型遊戲平台，而不是只有單一遊戲。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C:/git/gammPlatform/PPT/screenshots/01-login.png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用玩家旅程說明專題動機：真正的問題不是缺少一款遊戲，而是缺少連接玩家與遊戲的共同平台。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C:/git/gammPlatform/frontend/src/pages/User/README.md</a:t>
            </a:r>
          </a:p>
          <a:p xmlns:a="http://schemas.openxmlformats.org/drawingml/2006/main">
            <a:r>
              <a:t>- C:/git/gammPlatform/frontend/src/pages/Board/README.md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此頁只建立模組全貌。強調遊戲本身與共用平台功能分離，後續頁面再說明資料與流程如何串接。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C:/git/gammPlatform/backend/src/main/java/com/example/demo/modules</a:t>
            </a:r>
          </a:p>
          <a:p xmlns:a="http://schemas.openxmlformats.org/drawingml/2006/main">
            <a:r>
              <a:t>- C:/git/gammPlatform/frontend/src/pages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以三層架構呈現實際技術位置。REST API 處理一般請求，WebSocket 處理即時更新，SQLite 保存共用資料。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C:/git/gammPlatform/backend/pom.xml</a:t>
            </a:r>
          </a:p>
          <a:p xmlns:a="http://schemas.openxmlformats.org/drawingml/2006/main">
            <a:r>
              <a:t>- C:/git/gammPlatform/backend/src/main/resources/application.properties</a:t>
            </a:r>
          </a:p>
          <a:p xmlns:a="http://schemas.openxmlformats.org/drawingml/2006/main">
            <a:r>
              <a:t>- C:/git/gammPlatform/frontend/package.json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從使用者角度呈現端到端流程，並點出遊戲入口使用 frontendPath 與 room 參數，避免每款遊戲在房間系統中寫死。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C:/git/gammPlatform/backend/src/main/java/com/example/demo/modules/game/management/房間系統串接說明.md</a:t>
            </a:r>
          </a:p>
          <a:p xmlns:a="http://schemas.openxmlformats.org/drawingml/2006/main">
            <a:r>
              <a:t>- C:/git/gammPlatform/frontend/src/pages/Lobby/jquery_lobby.html</a:t>
            </a:r>
          </a:p>
          <a:p xmlns:a="http://schemas.openxmlformats.org/drawingml/2006/main">
            <a:r>
              <a:t>- C:/git/gammPlatform/frontend/src/pages/Lobby/waiting_room.html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 保存遊戲層級資訊，GameMode 保存真人與電腦玩家數。房間只保存 ID 與本次設定，開始時再依 frontendPath 導向對應頁面。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C:/git/gammPlatform/backend/src/main/java/com/example/demo/modules/game/management/config/GameDataInitializer.java</a:t>
            </a:r>
          </a:p>
          <a:p xmlns:a="http://schemas.openxmlformats.org/drawingml/2006/main">
            <a:r>
              <a:t>- C:/git/gammPlatform/backend/src/main/java/com/example/demo/modules/game/management/房間系統串接說明.md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此圖只保留理解主流程需要的資料，並以兩條可循線閱讀的資料鏈呈現。team_posts 保存 game_id、mode_id 與 room_id，將組隊流程連到遊戲目錄與房間；room_players 是 Room.players 的關聯表。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C:/git/gammPlatform/PPT/_work/demo.db</a:t>
            </a:r>
          </a:p>
          <a:p xmlns:a="http://schemas.openxmlformats.org/drawingml/2006/main">
            <a:r>
              <a:t>- C:/git/gammPlatform/backend/src/main/java/com/example/demo/modules/user/entity</a:t>
            </a:r>
          </a:p>
          <a:p xmlns:a="http://schemas.openxmlformats.org/drawingml/2006/main">
            <a:r>
              <a:t>- C:/git/gammPlatform/backend/src/main/java/com/example/demo/modules/lobby/entity/Room.java</a:t>
            </a:r>
          </a:p>
          <a:p xmlns:a="http://schemas.openxmlformats.org/drawingml/2006/main">
            <a:r>
              <a:t>- C:/git/gammPlatform/backend/src/main/java/com/example/demo/modules/board/entity</a:t>
            </a:r>
          </a:p>
          <a:p xmlns:a="http://schemas.openxmlformats.org/drawingml/2006/main">
            <a:r>
              <a:t>- C:/git/gammPlatform/backend/src/main/java/com/example/demo/modules/game/management/model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不要深入 JWT 密碼學；聚焦它如何讓不同頁面與模組使用同一個平台身分，並強調權限判斷仍由後端完成。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C:/git/gammPlatform/backend/src/main/java/com/example/demo/modules/user/security/JwtService.java</a:t>
            </a:r>
          </a:p>
          <a:p xmlns:a="http://schemas.openxmlformats.org/drawingml/2006/main">
            <a:r>
              <a:t>- C:/git/gammPlatform/backend/src/main/java/com/example/demo/modules/user/security/JwtAuthenticationFilter.java</a:t>
            </a:r>
          </a:p>
          <a:p xmlns:a="http://schemas.openxmlformats.org/drawingml/2006/main">
            <a:r>
              <a:t>- C:/git/gammPlatform/backend/src/main/java/com/example/demo/modules/user/security/SecurityConfig.java</a:t>
            </a:r>
          </a:p>
          <a:p xmlns:a="http://schemas.openxmlformats.org/drawingml/2006/main">
            <a:r>
              <a:t>- C:/git/gammPlatform/frontend/src/pages/User/api/userApi.js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以組隊公告到遊戲的跨模組流程證明前後端整合。Board 透過公開入口呼叫 Game Management 與 Lobby，不直接寫入其他模組資料表。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C:/git/gammPlatform/frontend/src/pages/Board/README.md</a:t>
            </a:r>
          </a:p>
          <a:p xmlns:a="http://schemas.openxmlformats.org/drawingml/2006/main">
            <a:r>
              <a:t>- C:/git/gammPlatform/backend/src/main/java/com/example/demo/modules/board/service/BoardRoomService.java</a:t>
            </a:r>
          </a:p>
          <a:p xmlns:a="http://schemas.openxmlformats.org/drawingml/2006/main">
            <a:r>
              <a:t>- C:/git/gammPlatform/backend/src/main/java/com/example/demo/modules/game/management/房間系統串接說明.md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以三張實機畫面證明主流程。這些截圖來自臨時測試資料庫，不包含正式個資。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C:/git/gammPlatform/PPT/screenshots/02-game-lobby.png</a:t>
            </a:r>
          </a:p>
          <a:p xmlns:a="http://schemas.openxmlformats.org/drawingml/2006/main">
            <a:r>
              <a:t>- C:/git/gammPlatform/PPT/screenshots/04-board-create-team.png</a:t>
            </a:r>
          </a:p>
          <a:p xmlns:a="http://schemas.openxmlformats.org/drawingml/2006/main">
            <a:r>
              <a:t>- C:/git/gammPlatform/PPT/screenshots/06-waiting-room.png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此頁以實際 Poker 畫面為主。指出房間資訊、雙方名稱、目前輪次、自動選牌與三輪結果區域均已整合在同一頁。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C:/git/gammPlatform/PPT/screenshots/08-poker-auto-select.png</a:t>
            </a:r>
          </a:p>
          <a:p xmlns:a="http://schemas.openxmlformats.org/drawingml/2006/main">
            <a:r>
              <a:t>- C:/git/gammPlatform/PPT/screenshots/09-poker-result.png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這一頁是主要程式設計深度案例。先用一組牌解釋 strength，再說明 find_best_cards 遞迴列舉可用牌組並保留最大值。不要把它說成三輪全局最佳化。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C:/git/gammPlatform/backend/src/main/java/com/example/demo/modules/game/poker/model/Round.java</a:t>
            </a:r>
          </a:p>
          <a:p xmlns:a="http://schemas.openxmlformats.org/drawingml/2006/main">
            <a:r>
              <a:t>- C:/git/gammPlatform/backend/src/main/java/com/example/demo/modules/game/poker/util/GameTool.java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Quiz 證明遊戲目錄不只支援 Poker，同時誠實標示目前答題 API 的資料問題。不要將此頁描述為完整功能驗收。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C:/git/gammPlatform/PPT/screenshots/02-game-lobby.png</a:t>
            </a:r>
          </a:p>
          <a:p xmlns:a="http://schemas.openxmlformats.org/drawingml/2006/main">
            <a:r>
              <a:t>- C:/git/gammPlatform/PPT/screenshots/10-quiz-home.png</a:t>
            </a:r>
          </a:p>
          <a:p xmlns:a="http://schemas.openxmlformats.org/drawingml/2006/main">
            <a:r>
              <a:t>- C:/git/gammPlatform/backend/src/main/java/com/example/demo/modules/game/management/config/GameDataInitializer.java</a:t>
            </a:r>
          </a:p>
          <a:p xmlns:a="http://schemas.openxmlformats.org/drawingml/2006/main">
            <a:r>
              <a:t>- C:/git/gammPlatform/backend/src/main/java/com/example/demo/modules/game/quiz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測試數字來自本次實際執行。接著將技術問題轉成可泛化的整合經驗，而不是逐條列錯誤紀錄。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C:/git/gammPlatform/backend/src/test</a:t>
            </a:r>
          </a:p>
          <a:p xmlns:a="http://schemas.openxmlformats.org/drawingml/2006/main">
            <a:r>
              <a:t>- C:/git/gammPlatform/frontend/tests</a:t>
            </a:r>
          </a:p>
          <a:p xmlns:a="http://schemas.openxmlformats.org/drawingml/2006/main">
            <a:r>
              <a:t>- C:/git/gammPlatform/PPT/_work/source-notes.txt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以三個可被記住的成果收束：端到端、模組化、可驗證。接著進入實際操作 Demo 與問答。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C:/git/gammPlatform/PPT/screenshots/02-game-lobby.png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04e27e08b4b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2951f9a245474d" /><Relationship Type="http://schemas.openxmlformats.org/officeDocument/2006/relationships/slideLayout" Target="/ppt/slideLayouts/slideLayout1.xml" Id="R74d312b75e3d4b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312b75e3d4b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94eec32304a9d" /><Relationship Type="http://schemas.openxmlformats.org/officeDocument/2006/relationships/image" Target="/ppt/media/image.jpeg" Id="R08438594e099483a" /><Relationship Type="http://schemas.openxmlformats.org/officeDocument/2006/relationships/notesSlide" Target="/ppt/notesSlides/notesSlide1.xml" Id="Rbe98003cd8714e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fcffd8dfb4634" /><Relationship Type="http://schemas.openxmlformats.org/officeDocument/2006/relationships/notesSlide" Target="/ppt/notesSlides/notesSlide2.xml" Id="R6983fb465bc943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d29f5cb2b4ee3" /><Relationship Type="http://schemas.openxmlformats.org/officeDocument/2006/relationships/notesSlide" Target="/ppt/notesSlides/notesSlide3.xml" Id="Ra265a0b49c9843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93e48809a4f96" /><Relationship Type="http://schemas.openxmlformats.org/officeDocument/2006/relationships/notesSlide" Target="/ppt/notesSlides/notesSlide4.xml" Id="R2c55d1222dc2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92d9c5a204754" /><Relationship Type="http://schemas.openxmlformats.org/officeDocument/2006/relationships/notesSlide" Target="/ppt/notesSlides/notesSlide5.xml" Id="Rd6e53d50889645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90f171a9d4b44" /><Relationship Type="http://schemas.openxmlformats.org/officeDocument/2006/relationships/image" Target="/ppt/media/image.png" Id="R807b9097177a405a" /><Relationship Type="http://schemas.openxmlformats.org/officeDocument/2006/relationships/image" Target="/ppt/media/image2.png" Id="R15ca5d5a1dda484b" /><Relationship Type="http://schemas.openxmlformats.org/officeDocument/2006/relationships/notesSlide" Target="/ppt/notesSlides/notesSlide6.xml" Id="Re18e5cc0b6ff4b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02b6c5764e0e" /><Relationship Type="http://schemas.openxmlformats.org/officeDocument/2006/relationships/notesSlide" Target="/ppt/notesSlides/notesSlide7.xml" Id="R9b8019dd50d54b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0aa7353184cbe" /><Relationship Type="http://schemas.openxmlformats.org/officeDocument/2006/relationships/notesSlide" Target="/ppt/notesSlides/notesSlide8.xml" Id="R473183eeb70d42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1db4546c8410d" /><Relationship Type="http://schemas.openxmlformats.org/officeDocument/2006/relationships/notesSlide" Target="/ppt/notesSlides/notesSlide9.xml" Id="R6d1775153bdc44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7abde154c490f" /><Relationship Type="http://schemas.openxmlformats.org/officeDocument/2006/relationships/image" Target="/ppt/media/image2.jpeg" Id="R65e3d3f060e64cba" /><Relationship Type="http://schemas.openxmlformats.org/officeDocument/2006/relationships/image" Target="/ppt/media/image3.jpeg" Id="R0a45316c349b4a41" /><Relationship Type="http://schemas.openxmlformats.org/officeDocument/2006/relationships/image" Target="/ppt/media/image4.jpeg" Id="R52048aa456674cef" /><Relationship Type="http://schemas.openxmlformats.org/officeDocument/2006/relationships/notesSlide" Target="/ppt/notesSlides/notesSlide10.xml" Id="R1cf42ff9083742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f4215dd034b36" /><Relationship Type="http://schemas.openxmlformats.org/officeDocument/2006/relationships/image" Target="/ppt/media/image5.jpeg" Id="R492902111d644c7a" /><Relationship Type="http://schemas.openxmlformats.org/officeDocument/2006/relationships/notesSlide" Target="/ppt/notesSlides/notesSlide11.xml" Id="R88f4a2ab4ab644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56e82ec044fa7" /><Relationship Type="http://schemas.openxmlformats.org/officeDocument/2006/relationships/image" Target="/ppt/media/image3.png" Id="R21ffeac0e9a14cdb" /><Relationship Type="http://schemas.openxmlformats.org/officeDocument/2006/relationships/image" Target="/ppt/media/image4.png" Id="Rf75239e4eb6a40bc" /><Relationship Type="http://schemas.openxmlformats.org/officeDocument/2006/relationships/image" Target="/ppt/media/image5.png" Id="Rf1df7d727bc04f20" /><Relationship Type="http://schemas.openxmlformats.org/officeDocument/2006/relationships/notesSlide" Target="/ppt/notesSlides/notesSlide12.xml" Id="R83b14f75abc145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d795566054e58" /><Relationship Type="http://schemas.openxmlformats.org/officeDocument/2006/relationships/image" Target="/ppt/media/image6.jpeg" Id="Rd8e4250747254ab6" /><Relationship Type="http://schemas.openxmlformats.org/officeDocument/2006/relationships/image" Target="/ppt/media/image6.png" Id="Re20e613d77b44777" /><Relationship Type="http://schemas.openxmlformats.org/officeDocument/2006/relationships/notesSlide" Target="/ppt/notesSlides/notesSlide13.xml" Id="R5d3528e085a94a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a7a4785ce448c" /><Relationship Type="http://schemas.openxmlformats.org/officeDocument/2006/relationships/notesSlide" Target="/ppt/notesSlides/notesSlide14.xml" Id="R69cd3dbe23dd46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19cc2b9cc4c98" /><Relationship Type="http://schemas.openxmlformats.org/officeDocument/2006/relationships/image" Target="/ppt/media/image7.jpeg" Id="R3871f97f9db440e0" /><Relationship Type="http://schemas.openxmlformats.org/officeDocument/2006/relationships/notesSlide" Target="/ppt/notesSlides/notesSlide15.xml" Id="Rfb953e77c3cf45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38594e09948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94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83BA8-3095-4330-80E5-D1216A2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508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AB151-721C-401B-862E-97BBB23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GAMEPLATFORM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705D0-B882-492C-9E70-F9701C6B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遊戲對戰平台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34874-A1B5-4B33-B3E4-0F6340C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從會員登入、尋找玩家、建立房間，到進入遊戲的一體化平台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8F4DA-3B4F-4107-A5A7-07D4A8A0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A4E7C-AF2C-4506-9A90-DD199EDF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職業訓練小組專題成果報告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2E9F4-E617-4A81-89F8-BF346AB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Spring Boot · SQLite · REST API · WebSocket</a:t>
            </a:r>
          </a:p>
        </p:txBody>
      </p:sp>
    </p:spTree>
    <p:extLst>
      <p:ext uri="{BB962C8B-B14F-4D97-AF65-F5344CB8AC3E}">
        <p14:creationId xmlns:p14="http://schemas.microsoft.com/office/powerpoint/2010/main" val="2059865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D61791-AF1F-40CB-8B32-F2CAD361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PROJECT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F7749-9694-4DF5-B762-0D5A88D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我們想做的不是單一遊戲，而是一條完整的遊玩流程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89148-998B-48D9-9B53-9726C7E0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7F4"/>
          </a:solidFill>
          <a:ln xmlns:a="http://schemas.openxmlformats.org/drawingml/2006/main" w="0">
            <a:solidFill>
              <a:srgbClr val="3CC7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8B564-26FC-49C4-93B4-D4433EC3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AE9A3-09BD-4D64-AAC3-9EA1188E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2F7B5-A9D2-46FE-A993-BF69F409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9DE01-4665-4DE1-92A9-00C7BCC7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玩家真正需要的，是從找到遊戲到開始對戰之間都能順暢銜接。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D9375-D283-424C-9069-7D014D2A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771D3-4467-4F48-9FF0-037F4D8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59281-BB3E-4A2A-AB81-D684A3CE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A9FED-DEDE-4080-8B5C-9FE31D1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17AB7-03E5-4BE9-B9CE-7398C198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0BE6A-6B81-4774-A160-FE2DC2A6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選擇遊戲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ACE33-EC85-457E-93D8-85849CFE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遊戲與模式集中管理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A7655-A090-45C6-BED6-7333CA31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C8631-103F-46E9-8A40-1F383D85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52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尋找玩家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2FF1B-7DAD-4535-BD0A-049B2ED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528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大廳與組隊公告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18736-4B82-47FC-AAD5-A3C37231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F025A-C908-4256-8999-D668AFF5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2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建立房間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9071F-7C60-4C9F-95F4-4229439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528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人數與模式驗證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C13E05-1D8C-4A05-B34E-8FF5340E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C4CD29-32F4-4982-A050-0287A56C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52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即時同步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F99F9-F37D-44DF-9DC0-8EEDCB23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528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房間與遊戲狀態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E977E5-96D7-4008-879D-06DB4072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5C0AE-8F58-4957-98C6-F2221282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開始遊戲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947A6-D7D1-46C1-8D7F-FA613048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導向對應遊戲入口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CDE9C-F34B-4E27-B655-5B4CD09A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9525">
            <a:solidFill>
              <a:srgbClr val="202D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5BD037-3302-4F15-A8C0-A1B29E3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72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平台的價值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EFB983-4E3E-47F4-A357-BADEE246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768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共用會員、遊戲目錄與房間流程，讓不同遊戲可以專注在自己的規則。</a:t>
            </a:r>
          </a:p>
        </p:txBody>
      </p:sp>
    </p:spTree>
    <p:extLst>
      <p:ext uri="{BB962C8B-B14F-4D97-AF65-F5344CB8AC3E}">
        <p14:creationId xmlns:p14="http://schemas.microsoft.com/office/powerpoint/2010/main" val="16435140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137EE0-3258-466A-BC36-3C98753E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SYSTEM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C5AB9-FC2D-4BA5-8FC6-3F8C203A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六個模組共同組成遊戲平台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6D94B-8005-40EC-9342-6E3934B4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0EC-2713-4E69-AB3F-B4AF7373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12114-0CDC-494A-9911-8103B3B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6F245-2AC9-4F61-93F9-46ECFA0A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662A4-D2AD-4DAE-88CA-F44AEBC5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552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46E14-A9FD-4F27-8087-472B4215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A358F-D013-48CA-A037-3AD1592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F8C55-300F-4C91-9EEB-C3DE8F2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667000" cy="1314450"/>
          </a:xfrm>
          <a:prstGeom xmlns:a="http://schemas.openxmlformats.org/drawingml/2006/main" prst="roundRect">
            <a:avLst>
              <a:gd name="adj" fmla="val 20290"/>
            </a:avLst>
          </a:prstGeom>
          <a:solidFill xmlns:a="http://schemas.openxmlformats.org/drawingml/2006/main">
            <a:srgbClr val="18204A"/>
          </a:solidFill>
          <a:ln xmlns:a="http://schemas.openxmlformats.org/drawingml/2006/main" w="28575">
            <a:solidFill>
              <a:srgbClr val="63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5D1AB-D015-417C-A449-D3E8AFCA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908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GamePlatform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C130F-F652-4181-85AE-0A71104F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67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共用身分、目錄與流程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83956-5C06-4825-A4AD-BD2A8645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CC7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2A8C2-D6BB-419E-AD4B-690DE78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050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EE357-1BE2-41A9-966D-FB4D473A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登入、JWT、後台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71685-A886-4DB3-AAE6-FFE130EC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54CF5-0C35-4BF5-8354-C82A6B02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4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Game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45EDB-C310-4F6F-BB22-7FA78090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遊戲與模式目錄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AB13A-4897-4E49-896E-A0B41F49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99899-FF71-42F0-A5A5-0D7D275E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530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Lobby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877A9-2F70-4741-B1E6-83669BCE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768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建房、入房、等待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F8B6B-A32F-48E2-A0F2-E2C9BFF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38851-8F5E-4F36-997C-1960C8F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530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849EB-84A6-4250-B171-3FBF184B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768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組隊、申請、通知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C6DF51-61E9-4B9D-864E-A2934C7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D4EAB-88AB-4FD5-860F-A28DD912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05025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Chat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C82373-BAB6-4C47-8D11-2DE491C9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288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聊天室即時訊息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E65BE-8D4F-4DF3-B3F7-FF96B96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19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13FC9-44FC-49CE-9244-55E6A46D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rPr>
              <a:t>Games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95D508-B379-4B9E-A346-D5DCA002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148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Poker、Quiz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0E4E56-D992-4FF1-B906-637F8291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共用平台功能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24C97-A833-4B5E-B094-4E6CCDCA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可擴充遊戲模組</a:t>
            </a:r>
          </a:p>
        </p:txBody>
      </p:sp>
    </p:spTree>
    <p:extLst>
      <p:ext uri="{BB962C8B-B14F-4D97-AF65-F5344CB8AC3E}">
        <p14:creationId xmlns:p14="http://schemas.microsoft.com/office/powerpoint/2010/main" val="14986044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3C9D6B-4622-4C79-BD25-4DB359AB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F0F54-B7EA-4C55-80D5-6276F5D6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前端、Spring Boot 與 SQLite 串起所有模組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3EFFA-C2C3-4EE0-AFF0-013D06C2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7F4"/>
          </a:solidFill>
          <a:ln xmlns:a="http://schemas.openxmlformats.org/drawingml/2006/main" w="0">
            <a:solidFill>
              <a:srgbClr val="3CC7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66BED-9499-4BA7-B926-74DCB4C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71B57-D0BF-4632-B126-A27FC723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7B242-85C8-4D19-9F29-47EB09DA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6A662-775E-49D6-A4C4-732ED68F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8001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FD51B-0DA2-40EF-A13A-EF0F0C72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10075"/>
            <a:ext cx="8001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0C60B-85B7-43CA-88B1-3E295536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1009650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101933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749B3-AB73-4684-BF5B-78F46E66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57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0F82F-10E6-412D-8B5C-6A4126D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4312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HTML · CSS · JavaScript · jQuery · React（部分頁面）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9473E-2053-4659-A606-AA74B4D4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畫面、表單與操作狀態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B78E-BECA-4DF9-B211-6AC77E2B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0287000" cy="1352550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96592-C1B4-4D6D-8BE9-953EBA46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SPRING 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E58FF-1984-4920-A32D-90538927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REST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37D52-CB44-4752-864D-C9947F8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480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WebSocket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DCD48-8D50-45AA-912F-B5133010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48075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JWT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DF5C3-88F9-43A5-9D33-FE17E234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480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Controller → Service → Repository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A27CB-5FB1-484E-9675-5D88ACE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6225"/>
            <a:ext cx="942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User · Game Management · Lobby · Board · Chat · Poker · Quiz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1433E-8C03-4A19-B48F-D289F166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0287000" cy="9906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41F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B3E01-C52F-4555-A82B-2F062F98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F0278-C3C1-42CF-8B4A-75AE72A4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91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45C93-C15C-4CE0-BB79-09ADF804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91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JPA／Hibernate + JDBC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01D02-4D2D-4A95-A3A2-D165E21B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91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會員、遊戲、模式、房間、公告與題庫</a:t>
            </a:r>
          </a:p>
        </p:txBody>
      </p:sp>
    </p:spTree>
    <p:extLst>
      <p:ext uri="{BB962C8B-B14F-4D97-AF65-F5344CB8AC3E}">
        <p14:creationId xmlns:p14="http://schemas.microsoft.com/office/powerpoint/2010/main" val="692910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DD927-6B4A-4317-90FB-1494A489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230D5-0E9A-4AED-8455-95FBEAA3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玩家可以從登入一路完成組隊、進房與遊戲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06797-1427-4652-9AB2-F37727E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C048F-2C45-498E-8941-6837B850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25120-3E54-40D8-9CB7-18986519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31557-DF2F-4776-87BB-D7B4B079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09760-EB47-4845-AEAF-6D3A3082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同一個會員身分貫穿所有步驟，遊戲頁不需要再次建立獨立帳號。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3EB44-E53F-46A2-9650-841AC6B2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03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61A7A-63A4-4063-BBEF-7AE010E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003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61A3-B86C-4165-B582-42BD8DD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03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B3542-1906-4BA7-85E8-F86185BA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03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1158C-3F16-4D9C-8A1B-332A0EC4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0375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42F1C-7F47-4593-9012-BD42D61D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7C2D0-6445-41D3-B2D8-AFD82E27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E4899-897D-489C-BCEE-A89EE1B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取得 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E5115-6239-48D5-B2A5-EEFD34A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E2046-4F7F-493B-A6EA-420D9051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057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選遊戲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66DF8-C93A-429E-AB03-BC31F1EF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004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讀取 Game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9A8AF-5AF2-404C-B8F7-5CF81316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2823C-4068-4BAC-9F0D-38FA64F8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選模式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63764-8B22-41A1-8F26-0776907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04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讀取 GameMode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6BD48-D53B-4191-A0E5-EB1AF945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D897F-7661-4BD5-B040-CC536206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57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組隊／建房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F06BE-5E83-4E04-954B-F8EACC0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04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驗證人數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54A8F-DE99-4D85-A8D9-2A16428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82B3D-0CDD-4B51-BEBF-47FADF3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57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等待開始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55296-2860-4657-A382-3561F98B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同步名單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CAFF6-5B2C-47A1-BC72-0B93C6D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33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AEDFA6-71E8-4ED8-84B2-F5566F2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進入遊戲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BEF92-2B04-40FB-87D5-310D921E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004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帶入 room 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CB150-4719-4C8D-A005-1F0BFAC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85725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9525">
            <a:solidFill>
              <a:srgbClr val="202D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1C97D6-0A2C-4D4C-B98E-313A1AF5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76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入口資料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AC0668-84A4-4D0F-A705-EACE936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9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6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frontendPath</a:t>
            </a:r>
            <a:r>
              <a:rPr sz="180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 決定開啟哪個遊戲頁面； </a:t>
            </a: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room</a:t>
            </a:r>
            <a:r>
              <a:rPr sz="180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 讓遊戲查詢房間、模式與玩家身分。</a:t>
            </a:r>
          </a:p>
        </p:txBody>
      </p:sp>
    </p:spTree>
    <p:extLst>
      <p:ext uri="{BB962C8B-B14F-4D97-AF65-F5344CB8AC3E}">
        <p14:creationId xmlns:p14="http://schemas.microsoft.com/office/powerpoint/2010/main" val="708555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46E8D-6F73-49B2-8917-3ED5926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MODULAR GAME CATALOG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59516-6B75-4E08-8FAB-4D06382F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Game 與 GameMode 讓房間不必寫死遊戲規則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F56C3-76FD-4F26-99C6-2ED61ACA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DEF59-8E94-4C26-9482-DB33AA35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9C10B-E749-4D29-A25D-7F862A31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5F1C6-7603-45EC-A5D9-9BCE7D4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931F0-AA75-4D61-9252-4BF24C81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225C9-2ABF-41C4-9B69-06808884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DE042-7E1E-48F1-B373-7D86818D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DE3F8-ED73-4D98-A200-7CE1268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038350" cy="23812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E2ED7-DF13-4E85-BA25-9207C544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Game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F9297-33D8-4E49-8F6D-A60D6B01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C0968-54D9-4B23-BD33-3939034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65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POKER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田忌撲克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入口路徑／圖示／啟用狀態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85ED9-03B7-4861-8C40-7B80C79E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43125"/>
            <a:ext cx="2038350" cy="23812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9F29F-63FD-4A47-B901-2E84EACE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GameMode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0A759-E224-40DB-9FE3-8AD851DF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194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C254A-8600-4463-BAC4-BE0E3E00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65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PLAYER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2 位真人／0 位電腦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minPlayers = maxPlayers =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9AE47-9AFD-484C-B173-373F30EC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2038350" cy="23812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4BC2E-BCB3-432A-B4B9-DF305160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431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Room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8D703-3A52-4177-B908-EB1D6D32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D10DF-87CB-4EF1-9D0B-30C25DDC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165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gameId + modeId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requiredPlayers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hostAccount + players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F18D2-191F-489B-95C8-62F537BB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43125"/>
            <a:ext cx="2038350" cy="2381250"/>
          </a:xfrm>
          <a:prstGeom xmlns:a="http://schemas.openxmlformats.org/drawingml/2006/main" prst="roundRect">
            <a:avLst>
              <a:gd name="adj" fmla="val 10280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58386-AE58-4FCB-8546-65BB0FA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431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Game Page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5F25E-3EC3-4B98-AB89-A9474406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3F0866-F2F1-4C03-82C9-AAD76435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28950"/>
            <a:ext cx="16573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poker_client.html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?room=62ACD1C3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依房間資料啟動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b9097177a405a"/>
          <a:stretch xmlns:a="http://schemas.openxmlformats.org/drawingml/2006/main"/>
        </p:blipFill>
        <p:spPr>
          <a:xfrm xmlns:a="http://schemas.openxmlformats.org/drawingml/2006/main">
            <a:off x="1809750" y="4829175"/>
            <a:ext cx="762000" cy="76200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a5d5a1dda484b"/>
          <a:stretch xmlns:a="http://schemas.openxmlformats.org/drawingml/2006/main"/>
        </p:blipFill>
        <p:spPr>
          <a:xfrm xmlns:a="http://schemas.openxmlformats.org/drawingml/2006/main">
            <a:off x="9620250" y="4829175"/>
            <a:ext cx="762000" cy="76200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2DD36-3B2A-4BE9-B770-C376D091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同一套目錄可登錄不同遊戲與模式</a:t>
            </a:r>
          </a:p>
        </p:txBody>
      </p:sp>
    </p:spTree>
    <p:extLst>
      <p:ext uri="{BB962C8B-B14F-4D97-AF65-F5344CB8AC3E}">
        <p14:creationId xmlns:p14="http://schemas.microsoft.com/office/powerpoint/2010/main" val="1811040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285565-8AC0-476D-80A0-4BBF15EA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CORE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4580E-7B4D-4F0A-8AD2-0F2CD57B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核心資料關係支援會員、組隊、房間與多款遊戲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13E17-74FA-4010-8B3D-8A0553FF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1A794-1F48-4C69-AF30-15F0995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DF759-8FA4-4550-BE37-50F6C2B4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3ACE3-65D7-46CB-B096-05AB1514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064BD-D007-4F13-81DE-4A726384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336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DB2E2-8B42-4232-B420-DEC20FFB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336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A9A23-4E65-484A-9AAF-98D09256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40A50-6645-4B22-8F29-D7F733FB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33625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F45B4-36D6-44F9-B352-A7C7CD58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625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EB06C-410E-4156-B596-58D4D84A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625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20D24-6A3B-4261-889F-100E5210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04433-3735-47E4-89EE-1DF37E9C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86100"/>
            <a:ext cx="2667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B7CE7-E32C-453A-A1F9-5CADB4DE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身分與組隊流程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9E911-2969-453A-BAF2-50F2859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5811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CC7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A32DA-7C00-46AC-9BDB-5B312A6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roles / statuses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E3DB6-8B61-4611-BFE3-479C586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id · 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1EED4-FDA6-4C33-AC09-7C22C154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669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CC7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01493-E440-410F-BEC8-CC3F7C5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1438A-3FAB-4BE5-BF1E-EEE98AC1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id · role_id · status_id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account · username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1017C-454A-45A3-970A-F9589B12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1733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979B8-DECD-4D04-A78E-F761A433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81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members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0A4CA-6D05-4092-99D2-DE8AD5B8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241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platform_user_id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account · nickname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7CBBB-6C28-4E69-AE27-0E0D809E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900"/>
            <a:ext cx="23050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93178-0D5B-4E4D-9B7B-D6E9D280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team_posts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39D77-B0EE-4B25-BF66-6D2DCB3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member_id · game_id · mode_id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room_id ·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3EB31-E038-4914-8F4A-7B535E91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66900"/>
            <a:ext cx="21526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375B2-EC3A-45EF-83A9-005CEBD6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812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rPr>
              <a:t>join_requests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4C0CC1-A438-4518-B67C-680C780B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post_id · member_id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status · message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1BFD7-4E13-49BD-877C-1C3A9C8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38500"/>
            <a:ext cx="3238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201A10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36FC11-C293-43A2-9223-4D6B082D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game_id · mode_id · room_id 串接兩條資料鏈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9DBC5F-5D1B-4498-A5B6-0A3DED5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遊戲目錄與房間流程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7870C5-AC36-4DF8-B54F-8A3E4F84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133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20731D-A031-484B-9F8A-A15DEC6A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games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7D567-581E-4229-80C9-376767C1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game_id · game_code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frontend_path · enabled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6682C-7FFC-4900-A0D8-4877858F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2495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57729F-986B-4691-84C5-B734193D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005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game_modes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F3DBEC-7A12-4F53-B7F0-14046A79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43450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mode_id · game_id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min/max · computer_players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1DFAA7-E4B7-47F0-A605-9279407D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24574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E5751-3499-4428-A30F-2B6424A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rooms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969D0A-D10A-4E2B-9712-4BC824C9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43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id · game_id · mode_id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host_account · status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FB529F-B69C-4A96-93AF-598357E9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57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700953-2510-4157-9781-4FBDA5D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005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room_players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8E817C-AC46-47E7-A0A5-F479B213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434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room_id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player_account</a:t>
            </a:r>
          </a:p>
        </p:txBody>
      </p:sp>
    </p:spTree>
    <p:extLst>
      <p:ext uri="{BB962C8B-B14F-4D97-AF65-F5344CB8AC3E}">
        <p14:creationId xmlns:p14="http://schemas.microsoft.com/office/powerpoint/2010/main" val="464283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A43F01-198F-4774-A022-1949C273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AUTHENTICATION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674EB-03D3-4027-93BB-E148F7A3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JWT 讓不同頁面共享同一個登入身分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0AE5-3BE2-4C4E-B76C-E86FD992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C7F4"/>
          </a:solidFill>
          <a:ln xmlns:a="http://schemas.openxmlformats.org/drawingml/2006/main" w="0">
            <a:solidFill>
              <a:srgbClr val="3CC7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7948C-1FD2-4B11-A16A-D612E258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F7F58-16C2-4227-B107-F47841C1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10950-84B0-4650-93A8-A05300E5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EE5C8-11D6-43DB-AE7A-0C058874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前端保存登入結果；每次受保護請求都由後端重新驗證簽章、期限與帳號狀態。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98FEB-89FE-4E52-A649-B520FBE8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432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97504-35B7-4098-B6AA-AF097C4D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9F749-DCE1-4731-AB3B-EE251815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B74CB-DE5C-4092-97C8-883EA26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476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70D72-3196-44A8-A339-ACDFD25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657350" cy="167640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7D158-8D7B-492A-A3C4-6B1B71E2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62AB7-CA3D-4478-A171-E573216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Login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7D56F-BA39-407B-AAFC-9C8D436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account + password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4D75D-4AA0-41ED-AD8B-6998531B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43150"/>
            <a:ext cx="1657350" cy="167640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AB4F4-B239-4F58-8B9C-9990689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05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CFF"/>
          </a:solidFill>
          <a:ln xmlns:a="http://schemas.openxmlformats.org/drawingml/2006/main" w="0">
            <a:solidFill>
              <a:srgbClr val="9B7C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1081B-05F9-4392-93D4-EF5D92D2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2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JWT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AAB69F-ADF0-48DC-8A47-81134AF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userId · account ·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00FA3-2338-4A72-8766-01F1FB90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1657350" cy="167640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CC7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98999-216F-4671-84CB-8DFBD81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05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C7F4"/>
          </a:solidFill>
          <a:ln xmlns:a="http://schemas.openxmlformats.org/drawingml/2006/main" w="0">
            <a:solidFill>
              <a:srgbClr val="3CC7F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D72EA-F80D-4256-9053-AD54E3FA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52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Authorization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26C66-AE6A-4BD1-A5E1-140622E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Bearer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A323E-8CB3-493B-9365-16B320B5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1657350" cy="167640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A5416-70AE-4608-A141-3354E767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05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7E3D3-6B61-4F61-A4CF-036EF507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52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Security Filter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096418-CE64-48A5-A617-614BF620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驗簽 · 到期 · 狀態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D920D-4CB9-4E2E-9D8D-74C686DA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43150"/>
            <a:ext cx="1657350" cy="1676400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82363-4CCA-4EB4-93C7-377DECA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050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415A08-9924-4896-A74C-BBF7C38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52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Platform modules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60FEF5-79C7-49C8-B5B7-9800F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User · Board · Lobby · Poker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6160D8-83E7-4A82-A293-045088AB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1009650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0E1D2E"/>
          </a:solidFill>
          <a:ln xmlns:a="http://schemas.openxmlformats.org/drawingml/2006/main" w="9525">
            <a:solidFill>
              <a:srgbClr val="3CC7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2BC86-0702-4947-92F6-C1388B6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9585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JWT 在本專案中的角色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1E26C-C20C-43D4-BF58-FD9E008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5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讓房間與遊戲取得可信任的 userId、account、username 與 role；前端 localStorage 只負責保存，不等於完成授權。</a:t>
            </a:r>
          </a:p>
        </p:txBody>
      </p:sp>
    </p:spTree>
    <p:extLst>
      <p:ext uri="{BB962C8B-B14F-4D97-AF65-F5344CB8AC3E}">
        <p14:creationId xmlns:p14="http://schemas.microsoft.com/office/powerpoint/2010/main" val="1429926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9A93F3-24A8-4E3D-A7C5-FE656B64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CROSS-MODULE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415C1-9CFF-46FC-AF3A-4C71349B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組隊成員到齊後，系統建立房間並導向遊戲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6AFA4-5D7D-46AF-8CD3-FCE8B4B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245B5-79F7-4D3E-A662-BB5513CD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9E931-2784-486B-8D8A-C321667F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757CF-2F0D-42B1-99E6-793C1AE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8271D-63A6-42B1-AAFB-51071B2D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2890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602CB-BEEB-4F45-B971-D61C0286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88A3B-1548-43AA-AB90-894C572A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2890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20434-4E7F-4A6E-B17F-E35E8B2A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2890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AB787-BEB1-459C-8C24-F641855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28900"/>
            <a:ext cx="3619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E3BD6-7B18-42D6-9482-387DF55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333500" cy="15049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34799-8514-4313-8669-486E0E03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Board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48CF8-BBC3-42B6-9BFC-7F6A57C3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選遊戲／模式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送出組隊資料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DC8BB-6082-4794-AC12-40C58F16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38350"/>
            <a:ext cx="1333500" cy="15049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33C5A-5C05-4403-A9E2-8734BCE9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66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Controller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CDCAA-1B32-481F-BE18-D615D469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336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接收請求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檢查登入身分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206D9-7123-4EEB-B385-A608784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333500" cy="15049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A5E23-8CA1-4C79-91C9-5C65A4D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Board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22006-493C-4F6A-B872-272B89C5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336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申請、核准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判斷人數到齊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9EAD4-4207-4C6D-9D78-FEE000E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1333500" cy="15049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298DD-904A-4D27-9EA3-E401E453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05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Game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7C01A2-1E8C-4E83-9751-2AB95BC0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336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驗證 gameId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與 modeId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1DC74-93F1-411C-B450-4A1CD212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38350"/>
            <a:ext cx="1333500" cy="15049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C2895-85F5-424F-BBB2-AC2B207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Lobby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B9439-71B6-4021-9D81-4701240C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336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建立房間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加入玩家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EACC1-DAF4-4169-91AA-8ADAD1C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1333500" cy="15049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7C5C0-2B90-48BE-8118-54C317BD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10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rPr>
              <a:t>Game Page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93EE0-5A5B-4202-8B19-A5892713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3367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frontendPath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+ room 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08C6F7-264C-418B-BD01-1C4B99D2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14750"/>
            <a:ext cx="2286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76DE0-013D-465D-A5BE-977783AD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14850"/>
            <a:ext cx="47244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10241F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02BC70-9824-4FF3-8A98-82E3191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SQLite + WebSocket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890A29-AB90-4474-BC45-D1C3A9EC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24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交易成功後保存資料並推送名單、通知與房間狀態</a:t>
            </a:r>
          </a:p>
        </p:txBody>
      </p:sp>
    </p:spTree>
    <p:extLst>
      <p:ext uri="{BB962C8B-B14F-4D97-AF65-F5344CB8AC3E}">
        <p14:creationId xmlns:p14="http://schemas.microsoft.com/office/powerpoint/2010/main" val="12805068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DE598-54BC-4EBD-AD99-8CD2FCBC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WORKING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43C88-840E-427B-945B-CE6E1E42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實際介面把平台流程連成一致體驗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31E94-E3A6-43BD-A828-BD6578E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A7169-4694-4D15-B20A-A9D037A8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71810-9143-4872-B7A3-3E093E62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ACB41-FD29-44C2-9D9C-9C67915A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1E545-C3F9-4A4E-B311-B811720C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同一個測試帳號完成遊戲選擇、組隊設定與房間等待。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3d3f060e64cba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95500"/>
            <a:ext cx="3390900" cy="19050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5316c349b4a41"/>
          <a:srcRect xmlns:a="http://schemas.openxmlformats.org/drawingml/2006/main" l="0" t="87" r="0" b="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2095500"/>
            <a:ext cx="3390900" cy="19050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48aa456674cef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095500"/>
            <a:ext cx="3390900" cy="19050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E2E3B-9E28-4489-9700-E472BD3D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4322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19CEF-9708-439E-86F6-63848051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4322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377FF"/>
          </a:solidFill>
          <a:ln xmlns:a="http://schemas.openxmlformats.org/drawingml/2006/main" w="0">
            <a:solidFill>
              <a:srgbClr val="63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C8E7B-70B4-46C8-8229-5BD143F8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375E3-C066-493D-BF08-B82192A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選擇遊戲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BA283-2E71-45E5-92CD-8051679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遊戲清單由 Game Management 提供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2AD5A-076C-4750-8516-3B61755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9150D-E80C-4222-A424-8AC4874F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91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設定隊伍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1094F-4495-419A-843E-1100C688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10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模式與人數依資料庫動態產生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0DEE9-0779-417C-912B-D532C74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F9CF3-BEC6-4950-8E91-3FD8061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等待開始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4CFB2-5A97-4AC4-A864-1C04A2F5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39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房號、房主與玩家名單同步顯示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BC8EC-2096-4DFE-935B-35595C1A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02D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6F0BE-A9CD-436C-97F0-EA18B6D2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34025"/>
            <a:ext cx="828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所有畫面均由目前專案實際執行後擷取</a:t>
            </a:r>
          </a:p>
        </p:txBody>
      </p:sp>
    </p:spTree>
    <p:extLst>
      <p:ext uri="{BB962C8B-B14F-4D97-AF65-F5344CB8AC3E}">
        <p14:creationId xmlns:p14="http://schemas.microsoft.com/office/powerpoint/2010/main" val="1985194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EB24F-F8D6-4950-9D16-16F29E9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POKER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8E12C-210D-4F28-A52E-A2E01CAE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田忌撲克完成選牌、比牌與三輪結果呈現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955EA-CEB5-4153-8861-10099160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ACBF1-10AE-4AF3-B6DE-22E54447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DAEF6-A20D-4BD7-B938-63C3B3CD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35BDB-D2DD-41B7-BAC8-8BA625D8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902111d644c7a"/>
          <a:srcRect xmlns:a="http://schemas.openxmlformats.org/drawingml/2006/main" l="0" t="12484" r="0" b="12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638300"/>
            <a:ext cx="10782300" cy="4552950"/>
          </a:xfrm>
          <a:prstGeom xmlns:a="http://schemas.openxmlformats.org/drawingml/2006/main" prst="roundRect">
            <a:avLst>
              <a:gd name="adj" fmla="val 376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BC431-3E05-4A55-9CE8-D1AB341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333625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325"/>
          </a:solidFill>
          <a:ln xmlns:a="http://schemas.openxmlformats.org/drawingml/2006/main" w="19050">
            <a:solidFill>
              <a:srgbClr val="3CC7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E8F6C-2561-4892-A096-F42B896E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240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房間 ID 與玩家身分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7D3E8-CE99-4B7B-BC27-3A3BF172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571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325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F0048-C9DE-4790-AA51-405F911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336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目前輪次與三輪戰績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82F43-F537-499C-A503-6BDE5CCF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5780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325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73664-353F-4001-B609-2C0BB0B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911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自動選牌結果與完整玩家手牌</a:t>
            </a:r>
          </a:p>
        </p:txBody>
      </p:sp>
    </p:spTree>
    <p:extLst>
      <p:ext uri="{BB962C8B-B14F-4D97-AF65-F5344CB8AC3E}">
        <p14:creationId xmlns:p14="http://schemas.microsoft.com/office/powerpoint/2010/main" val="1686554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B0E39-EE8C-4E4B-9223-886AC6DE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POKER ALGORITHM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7B740-B8B0-499F-A262-189D50B7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統一強度值與組合搜尋完成 Poker 自動選牌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98204-F54E-42A7-80D2-872F2D57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E8FA6-6087-42B8-A9F1-32039FC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EDBB1-1EBD-4A35-B147-9D400DCF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48CCC-ED62-4011-8D41-D31FABE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C1716-2190-4711-BF5F-90643D88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2197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43E89-1C4E-4F2F-9153-6610B923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01  determine_hand_strength()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3B5D8-23D5-4731-B3AC-2E5AA74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把完整比牌規則轉換成可直接比較的 long 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9A2C5-7706-46DC-8DDE-08D7595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4762500" cy="1600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90E1B"/>
          </a:solidFill>
          <a:ln xmlns:a="http://schemas.openxmlformats.org/drawingml/2006/main" w="9525">
            <a:solidFill>
              <a:srgbClr val="202D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E0146-304F-412C-9DB1-523FF14A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38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1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E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E4FF"/>
                </a:solidFill>
                <a:latin typeface="Consolas"/>
                <a:ea typeface="Consolas"/>
                <a:cs typeface="Consolas"/>
              </a:rPr>
              <a:t>determine_hand();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E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E4FF"/>
                </a:solidFill>
                <a:latin typeface="Consolas"/>
                <a:ea typeface="Consolas"/>
                <a:cs typeface="Consolas"/>
              </a:rPr>
              <a:t>hand_strength = hand_type_number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E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E4FF"/>
                </a:solidFill>
                <a:latin typeface="Consolas"/>
                <a:ea typeface="Consolas"/>
                <a:cs typeface="Consolas"/>
              </a:rPr>
              <a:t>    * (long)Math.pow(10, 11);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E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E4FF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E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E4FF"/>
                </a:solidFill>
                <a:latin typeface="Consolas"/>
                <a:ea typeface="Consolas"/>
                <a:cs typeface="Consolas"/>
              </a:rPr>
              <a:t>hand_strength += round_hand[0].getPoint_A14()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E4F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E4FF"/>
                </a:solidFill>
                <a:latin typeface="Consolas"/>
                <a:ea typeface="Consolas"/>
                <a:cs typeface="Consolas"/>
              </a:rPr>
              <a:t>    * (long)Math.pow(10, 9);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9255C-9B4C-40F3-A412-0F5DC7DA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053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牌型權重  →  主要點數  →  踢腳牌  →  花色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feac0e9a14cdb"/>
          <a:stretch xmlns:a="http://schemas.openxmlformats.org/drawingml/2006/main"/>
        </p:blipFill>
        <p:spPr>
          <a:xfrm xmlns:a="http://schemas.openxmlformats.org/drawingml/2006/main">
            <a:off x="1797339" y="4991100"/>
            <a:ext cx="577273" cy="838200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239e4eb6a40bc"/>
          <a:stretch xmlns:a="http://schemas.openxmlformats.org/drawingml/2006/main"/>
        </p:blipFill>
        <p:spPr>
          <a:xfrm xmlns:a="http://schemas.openxmlformats.org/drawingml/2006/main">
            <a:off x="2454564" y="4991100"/>
            <a:ext cx="577273" cy="838200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f7d727bc04f20"/>
          <a:stretch xmlns:a="http://schemas.openxmlformats.org/drawingml/2006/main"/>
        </p:blipFill>
        <p:spPr>
          <a:xfrm xmlns:a="http://schemas.openxmlformats.org/drawingml/2006/main">
            <a:off x="3111789" y="4991100"/>
            <a:ext cx="577273" cy="838200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9F523-22FB-421F-92DA-DDB5C896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19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一對 A + 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42C81-72DC-41F1-99A3-F37506DD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5219700" cy="4476750"/>
          </a:xfrm>
          <a:prstGeom xmlns:a="http://schemas.openxmlformats.org/drawingml/2006/main" prst="roundRect">
            <a:avLst>
              <a:gd name="adj" fmla="val 4681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D9F66-1059-4E75-A538-79AB7748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02  find_best_cards()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23BF0-FB52-4623-B549-93CE73B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098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從目前仍可使用的牌中找出本輪最高分組合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CF915-2134-4773-9DB9-AC4F3B81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67000"/>
            <a:ext cx="4762500" cy="1600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90E1B"/>
          </a:solidFill>
          <a:ln xmlns:a="http://schemas.openxmlformats.org/drawingml/2006/main" w="9525">
            <a:solidFill>
              <a:srgbClr val="202D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80DB8-1D1D-4583-BEBC-A7C1FC1A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38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if(depth == count)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    long score = score(current, count);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    if(score &gt; best_score[0])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        best_score[0] = score;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        ...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D8FFE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8FFE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ADC9C-6F6C-43E2-9823-25811398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排除已用牌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E837E-9BA4-46ED-BF79-98341C4D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0C0E1-EFCB-4915-9334-972D8825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列舉 C(n,k)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4703A2-B6D4-4292-89F2-AF8B6711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053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36C87-2B9F-46BA-ABE1-9F032B28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保留最高分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E22AFC-E3B6-459C-9778-FF82AF38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62550"/>
            <a:ext cx="39433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0241F"/>
          </a:solidFill>
          <a:ln xmlns:a="http://schemas.openxmlformats.org/drawingml/2006/main" w="9525">
            <a:solidFill>
              <a:srgbClr val="31D0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CF7C4-86A7-4A9B-9F30-C8445A1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只選目前輪次，不是一次安排三輪</a:t>
            </a:r>
          </a:p>
        </p:txBody>
      </p:sp>
    </p:spTree>
    <p:extLst>
      <p:ext uri="{BB962C8B-B14F-4D97-AF65-F5344CB8AC3E}">
        <p14:creationId xmlns:p14="http://schemas.microsoft.com/office/powerpoint/2010/main" val="705641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DCC85-FE8D-40F3-A06A-543C425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rPr>
              <a:t>EXTENSIBLE GAME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03402-E80C-4F4C-A7E8-ED55B37C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同一套遊戲目錄已能登錄 Poker 與 Quiz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F70F4-3BB3-4077-9C18-B56B89B8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7C55B-7765-4D3F-9BFB-129B201D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D5ACE-D8D8-46A9-8C7A-1A875250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71BF3-22BC-45C5-A8A7-FA9F528D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4250747254ab6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14500"/>
            <a:ext cx="5715000" cy="3219450"/>
          </a:xfrm>
          <a:prstGeom xmlns:a="http://schemas.openxmlformats.org/drawingml/2006/main" prst="roundRect">
            <a:avLst>
              <a:gd name="adj" fmla="val 5325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e613d77b44777"/>
          <a:stretch xmlns:a="http://schemas.openxmlformats.org/drawingml/2006/main"/>
        </p:blipFill>
        <p:spPr>
          <a:xfrm xmlns:a="http://schemas.openxmlformats.org/drawingml/2006/main">
            <a:off x="6858000" y="1809750"/>
            <a:ext cx="990600" cy="990600"/>
          </a:xfrm>
          <a:prstGeom xmlns:a="http://schemas.openxmlformats.org/drawingml/2006/main" prst="roundRect">
            <a:avLst>
              <a:gd name="adj" fmla="val 1923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C3EC2-7D2B-4EEC-9167-BC87FB0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B7185"/>
                </a:solidFill>
                <a:latin typeface="Microsoft JhengHei"/>
                <a:ea typeface="Microsoft JhengHei"/>
                <a:cs typeface="Microsoft JhengHei"/>
              </a:rPr>
              <a:t>QUIZ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A7611-37BC-4D3E-8A48-14D5EEDB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限時問答挑戰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65351-BB3D-4AE0-8B11-2FBD5DB2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4572000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9525">
            <a:solidFill>
              <a:srgbClr val="202D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A3E5E-F409-4743-977C-55565CE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956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Game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816C4-83D2-4B17-8201-5BC79EB0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8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frontendPath · backendPath · imagePath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642D8-61B2-480D-AEAD-907194D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81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GameMode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82608-DD8C-49EB-9C85-3916CCD8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81425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SINGLE · 1 位真人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2A88F-0F5D-4A2D-AE9E-3D5C2A19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67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Question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8DC9D-96A8-4448-BF24-67DDC595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20 題與 80 個選項已初始化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F62A6-61D0-498E-A7F4-82AE7389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8382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1521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01EB2-913E-4E30-9A76-893B04F2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476875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D6D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D6DE"/>
                </a:solidFill>
                <a:latin typeface="Microsoft JhengHei"/>
                <a:ea typeface="Microsoft JhengHei"/>
                <a:cs typeface="Microsoft JhengHei"/>
              </a:rPr>
              <a:t>目前狀態：入口與題庫資料已存在；隨機題目載入仍需修正後再完成遊玩驗證。</a:t>
            </a:r>
          </a:p>
        </p:txBody>
      </p:sp>
    </p:spTree>
    <p:extLst>
      <p:ext uri="{BB962C8B-B14F-4D97-AF65-F5344CB8AC3E}">
        <p14:creationId xmlns:p14="http://schemas.microsoft.com/office/powerpoint/2010/main" val="18781389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60A94-0251-42DE-ABD4-1CD7F625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VERIFICATION AND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7AF31-2C1C-41E2-A838-5B4DB46B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整合成果已有 58 項自動化測試通過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8968B-1963-43DB-BF70-DB724A4E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3DC7D-C57A-4A0E-8B22-060661C6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47"/>
          </a:solidFill>
          <a:ln xmlns:a="http://schemas.openxmlformats.org/drawingml/2006/main" w="0">
            <a:solidFill>
              <a:srgbClr val="202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BAB83-25B9-439D-992D-0D19EBBF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· 小組專題成果報告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6A94D-A597-4208-805F-C4B1CA1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913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27C76-01E8-47CA-A51F-6BA72B0D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528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3C7C0-DBB6-4DC1-850A-56A6FAB8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22A66-23FA-48EA-B1D2-DB919F3F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後端測試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44B6D-AB54-4159-9940-74E61FB5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33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Spring、Board、Poker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JWT、Game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97929-CCF8-4B20-BE8F-1A42870C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76400"/>
            <a:ext cx="33528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98752-892C-4F95-916C-82C8304C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F0818-9134-47FF-B0F7-84B61721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526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前端測試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A5CF6-6C18-4CD0-9D8D-9EB3656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33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登入、分頁、即時連線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與重新連線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18B8D-8A3E-4E05-B6E4-A702F68B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52800" cy="14668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34B4A-9348-4226-92C0-8CDF4002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114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39743-20B2-47EA-A7AB-E8A04007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52625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合計通過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315A7-C3ED-4E85-8FAB-0DD960A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33625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 failure · 0 error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0 skipped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45242-DA14-4814-B93D-B93EDBD0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整合時最重要的三個課題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92199-0DD5-47E2-9231-FB074902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C7F4"/>
          </a:solidFill>
          <a:ln xmlns:a="http://schemas.openxmlformats.org/drawingml/2006/main" w="0">
            <a:solidFill>
              <a:srgbClr val="3CC7F4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554D7-2A1C-4E91-95DC-26B46371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052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共用身分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A912F-7A7F-4DFF-9C53-A4CA7AC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14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JWT 必須由後端驗證，不能只依賴前端登入狀態。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CEE05-EEF9-4B75-89BC-A1F3C376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6DC25-A674-4215-8B21-1F4AFD2D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52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模組邊界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251F0-7D5F-40CC-9F88-E7DCBE7F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Board 與 Lobby 透過公開入口合作，不直接改寫對方資料表。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61ADE-FA79-462C-BA9D-90782B3A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D0AA"/>
          </a:solidFill>
          <a:ln xmlns:a="http://schemas.openxmlformats.org/drawingml/2006/main" w="0">
            <a:solidFill>
              <a:srgbClr val="31D0A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C049C-072F-4D23-BB54-8FD6FFA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006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即時一致性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DA1A1-B4D8-4D09-BEA7-775E3161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102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WebSocket 事件在資料交易成功後才推送，避免畫面先於資料更新。</a:t>
            </a:r>
          </a:p>
        </p:txBody>
      </p:sp>
    </p:spTree>
    <p:extLst>
      <p:ext uri="{BB962C8B-B14F-4D97-AF65-F5344CB8AC3E}">
        <p14:creationId xmlns:p14="http://schemas.microsoft.com/office/powerpoint/2010/main" val="10417635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9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1f97f9db440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94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80D6A-B755-4990-BFF3-4BE2ABA2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5081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3F76B-AF03-4E64-94DB-7E09F93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1009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9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7F9FF"/>
                </a:solidFill>
                <a:latin typeface="Microsoft JhengHei"/>
                <a:ea typeface="Microsoft JhengHei"/>
                <a:cs typeface="Microsoft JhengHei"/>
              </a:rPr>
              <a:t>從會員到遊戲，平台已形成可擴充的完整流程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CDC3E-7B33-4B97-B215-6E13B9A8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05050"/>
            <a:ext cx="866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GamePlatform 將共用系統與個別遊戲分離，讓新遊戲可以沿用既有的登入、目錄、組隊與房間能力。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0F0E9-90B2-4977-8B92-2A3397EB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19500"/>
            <a:ext cx="26670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63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97B52-AC6D-4762-93BC-B9A0372B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10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377FF"/>
                </a:solidFill>
                <a:latin typeface="Microsoft JhengHei"/>
                <a:ea typeface="Microsoft JhengHei"/>
                <a:cs typeface="Microsoft JhengHei"/>
              </a:rPr>
              <a:t>端到端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0949E-E955-4E60-A1DD-7D106BFC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登入 → 房間 → 遊戲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16EF0-6206-4A4D-A458-B60C8E4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26670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9B7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B340B-497C-4937-9C91-5FEE153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9B7CFF"/>
                </a:solidFill>
                <a:latin typeface="Microsoft JhengHei"/>
                <a:ea typeface="Microsoft JhengHei"/>
                <a:cs typeface="Microsoft JhengHei"/>
              </a:rPr>
              <a:t>模組化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6D712-3328-4DAE-A47D-97A59C24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共同平台 + 獨立遊戲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B12A2-82B3-4EE9-BABC-70501435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19500"/>
            <a:ext cx="26670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11182A"/>
          </a:solidFill>
          <a:ln xmlns:a="http://schemas.openxmlformats.org/drawingml/2006/main" w="19050">
            <a:solidFill>
              <a:srgbClr val="31D0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719F9-3D3F-44B9-81DD-222C3A9F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D0AA"/>
                </a:solidFill>
                <a:latin typeface="Microsoft JhengHei"/>
                <a:ea typeface="Microsoft JhengHei"/>
                <a:cs typeface="Microsoft JhengHei"/>
              </a:rPr>
              <a:t>可驗證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220C1-B627-412F-B6A9-E226F28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86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A9B3CC"/>
                </a:solidFill>
                <a:latin typeface="Microsoft JhengHei"/>
                <a:ea typeface="Microsoft JhengHei"/>
                <a:cs typeface="Microsoft JhengHei"/>
              </a:rPr>
              <a:t>58 項測試 + 實機流程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78D92-1319-4CE4-900E-E639A80C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CC7F4"/>
                </a:solidFill>
                <a:latin typeface="Microsoft JhengHei"/>
                <a:ea typeface="Microsoft JhengHei"/>
                <a:cs typeface="Microsoft JhengHei"/>
              </a:rPr>
              <a:t>DEMO  ·  Q&amp;A</a:t>
            </a:r>
          </a:p>
        </p:txBody>
      </p:sp>
    </p:spTree>
    <p:extLst>
      <p:ext uri="{BB962C8B-B14F-4D97-AF65-F5344CB8AC3E}">
        <p14:creationId xmlns:p14="http://schemas.microsoft.com/office/powerpoint/2010/main" val="1050204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2026-09-03T05:41:17.7420000Z</dcterms:created>
  <dcterms:modified xsi:type="dcterms:W3CDTF">2026-09-03T05:41:17.7420000Z</dcterms:modified>
</coreProperties>
</file>