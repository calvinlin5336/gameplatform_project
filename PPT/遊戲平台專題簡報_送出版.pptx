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3" r:id="rId5"/>
    <p:sldId id="275" r:id="rId6"/>
    <p:sldId id="259" r:id="rId7"/>
    <p:sldId id="260" r:id="rId8"/>
    <p:sldId id="264" r:id="rId9"/>
    <p:sldId id="261" r:id="rId10"/>
    <p:sldId id="262" r:id="rId11"/>
    <p:sldId id="263" r:id="rId12"/>
    <p:sldId id="278" r:id="rId13"/>
    <p:sldId id="265" r:id="rId14"/>
    <p:sldId id="266" r:id="rId15"/>
    <p:sldId id="279" r:id="rId16"/>
    <p:sldId id="280" r:id="rId17"/>
    <p:sldId id="272" r:id="rId18"/>
    <p:sldId id="276" r:id="rId19"/>
    <p:sldId id="277" r:id="rId20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36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本頁直接使用素材資料夾中的完整 UI 使用者流程圖。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44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加入 Lobby 說明，並將 Game/GameMode/Room/RoomPlayers 關聯集中呈現。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51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54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21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327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29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425696" cy="68580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10528" y="832104"/>
            <a:ext cx="5038344" cy="3232820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1112" y="941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57416" y="941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941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" y="96012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1353312"/>
            <a:ext cx="5303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遊戲對戰平台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176272"/>
            <a:ext cx="4800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從會員登入、遊戲大廳、組隊與房間，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到進入遊戲的一體化平台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" y="3182112"/>
            <a:ext cx="658368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" y="3401568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全端工程師職訓 · 小組專題成果報告</a:t>
            </a:r>
            <a:endParaRPr lang="en-US" sz="1330" dirty="0"/>
          </a:p>
        </p:txBody>
      </p:sp>
      <p:sp>
        <p:nvSpPr>
          <p:cNvPr id="16" name="Shape 13"/>
          <p:cNvSpPr/>
          <p:nvPr/>
        </p:nvSpPr>
        <p:spPr>
          <a:xfrm>
            <a:off x="71323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1051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88366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0779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98094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0507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7822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863072" y="6144768"/>
            <a:ext cx="713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1000" dirty="0"/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005" y="1234440"/>
            <a:ext cx="4885390" cy="26609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GOAL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我們做的不是單一遊戲，而是一條完整的遊玩流程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玩家真正需要的，是從登入、找到遊戲，到和其他玩家一起開始遊戲都能順暢銜接。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44144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集中顯示遊戲與模式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0048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0944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45536" y="24414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45536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尋找玩家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大廳與組隊公告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48656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3248" y="2441448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13248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742432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依模式驗證人數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16368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244144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10144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等待同步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10144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房主與玩家名單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73184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48672" y="2441448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48672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277856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帶入房號與身分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25880" y="4251960"/>
            <a:ext cx="955548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25880" y="4251960"/>
            <a:ext cx="73152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54480" y="4379976"/>
            <a:ext cx="9189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共用會員、遊戲目錄與房間流程，個別遊戲只專注自己的規則與對局。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MODULES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六個模組共同組成遊戲平台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這一頁只看「系統責任」，不是組員分工。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2944368" cy="960120"/>
          </a:xfrm>
          <a:prstGeom prst="roundRect">
            <a:avLst>
              <a:gd name="adj" fmla="val 11429"/>
            </a:avLst>
          </a:prstGeom>
          <a:solidFill>
            <a:srgbClr val="F0F6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724912"/>
            <a:ext cx="2441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共用身分、目錄與流程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289741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4984" y="2408613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33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719509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JWT · 會員管理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4944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33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 · 模式 · 入口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03580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8211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33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建房 · 入房 · 等待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87628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2259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</a:t>
            </a:r>
            <a:endParaRPr lang="en-US" sz="133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 · 申請 · 通知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970264" y="2139696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16568" y="2258568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</a:t>
            </a:r>
            <a:endParaRPr lang="en-US" sz="1330" dirty="0"/>
          </a:p>
        </p:txBody>
      </p:sp>
      <p:sp>
        <p:nvSpPr>
          <p:cNvPr id="28" name="Text 26"/>
          <p:cNvSpPr txBox="1"/>
          <p:nvPr/>
        </p:nvSpPr>
        <p:spPr>
          <a:xfrm>
            <a:off x="9116568" y="2569464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聊天室即時訊息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162288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08592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330" dirty="0"/>
          </a:p>
        </p:txBody>
      </p:sp>
      <p:sp>
        <p:nvSpPr>
          <p:cNvPr id="31" name="Text 29"/>
          <p:cNvSpPr txBox="1"/>
          <p:nvPr/>
        </p:nvSpPr>
        <p:spPr>
          <a:xfrm>
            <a:off x="9308592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· Quiz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3182112" y="2598559"/>
            <a:ext cx="13716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16952" y="2587752"/>
            <a:ext cx="135331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9904" y="3182112"/>
            <a:ext cx="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9904" y="3182112"/>
            <a:ext cx="0" cy="123444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87952" y="4416552"/>
            <a:ext cx="377647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</a:t>
            </a: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000" b="1" dirty="0" err="1" smtClean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使用者流程圖</a:t>
            </a:r>
            <a:r>
              <a:rPr lang="en-US" sz="2000" b="1" dirty="0" err="1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b="1" dirty="0" err="1" smtClean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實際畫面串接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298448"/>
            <a:ext cx="10058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03504" y="1664208"/>
            <a:ext cx="10817352" cy="4233672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0" descr="/mnt/data/material_ui_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764" y="1700784"/>
            <a:ext cx="6656832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6035040"/>
            <a:ext cx="786384" cy="219456"/>
          </a:xfrm>
          <a:prstGeom prst="roundRect">
            <a:avLst>
              <a:gd name="adj" fmla="val 29167"/>
            </a:avLst>
          </a:prstGeom>
          <a:solidFill>
            <a:srgbClr val="2563EB">
              <a:alpha val="12000"/>
            </a:srgbClr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6095723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主流程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6067044"/>
            <a:ext cx="67665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登入／註冊 → 平台主頁 → 遊戲大廳 → 建立房間 → 等待室 → 進入遊戲</a:t>
            </a:r>
          </a:p>
        </p:txBody>
      </p:sp>
      <p:sp>
        <p:nvSpPr>
          <p:cNvPr id="17" name="Shape 14"/>
          <p:cNvSpPr/>
          <p:nvPr/>
        </p:nvSpPr>
        <p:spPr>
          <a:xfrm>
            <a:off x="7539228" y="6022571"/>
            <a:ext cx="786384" cy="219456"/>
          </a:xfrm>
          <a:prstGeom prst="roundRect">
            <a:avLst>
              <a:gd name="adj" fmla="val 29167"/>
            </a:avLst>
          </a:prstGeom>
          <a:solidFill>
            <a:srgbClr val="059669">
              <a:alpha val="12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5804" y="608990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組隊流程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66760" y="6062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 → 申請加入 → 隊長審核 → 隊伍額滿 → 自動建房</a:t>
            </a:r>
          </a:p>
        </p:txBody>
      </p:sp>
      <p:sp>
        <p:nvSpPr>
          <p:cNvPr id="21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711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aterial_ui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6" y="0"/>
            <a:ext cx="12175734" cy="7609834"/>
          </a:xfrm>
          <a:prstGeom prst="rect">
            <a:avLst/>
          </a:prstGeom>
        </p:spPr>
      </p:pic>
      <p:sp>
        <p:nvSpPr>
          <p:cNvPr id="3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8282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前端、Spring Boot 與 SQLite 串起所有模組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 err="1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主要採用</a:t>
            </a:r>
            <a:r>
              <a:rPr 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HTML、CSS、JavaScript 與 jQuery，後端由 Spring Boot 提供 API。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2688" y="187452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0432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09397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· CSS · JavaScript · jQuery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211226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畫面、表單與操作狀態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78892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20040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0432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 · WebSocket · JWT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343814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→ Service → 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411480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52628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70432" y="468172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474573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76402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JPA／Hibernate + JDBC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74520" y="5669280"/>
            <a:ext cx="8412480" cy="384048"/>
          </a:xfrm>
          <a:prstGeom prst="roundRect">
            <a:avLst>
              <a:gd name="adj" fmla="val 28571"/>
            </a:avLst>
          </a:prstGeom>
          <a:solidFill>
            <a:srgbClr val="EEF7FF"/>
          </a:solidFill>
          <a:ln w="10160">
            <a:solidFill>
              <a:srgbClr val="D9EA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48256" y="5760720"/>
            <a:ext cx="8065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Game Management · Lobby · Board · Chat · Poker · Quiz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網頁使用流程：從登入到進入遊戲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同一個平台身分貫穿所有步驟，遊戲頁不需要再次建立獨立帳號。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2144" y="2130552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521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JWT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7510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26664" y="21305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2666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5973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245973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4962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01184" y="213055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3425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選模式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433425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GameMode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72414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75704" y="2130552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7570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組隊／建房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620877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驗證人數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59866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0224" y="213055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5022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同步玩家名單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47318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4744" y="213055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247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578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99578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 room ID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188720" y="4315968"/>
            <a:ext cx="9802368" cy="777240"/>
          </a:xfrm>
          <a:prstGeom prst="roundRect">
            <a:avLst>
              <a:gd name="adj" fmla="val 14118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88720" y="4315968"/>
            <a:ext cx="73152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417320" y="4443984"/>
            <a:ext cx="94366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從資料庫讀取遊戲路徑</a:t>
            </a:r>
            <a:r>
              <a:rPr lang="en-US" altLang="zh-TW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	 =&gt;        </a:t>
            </a:r>
            <a:r>
              <a:rPr lang="en-US" sz="1250" b="1" dirty="0" err="1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決定要開啟哪個遊戲頁面</a:t>
            </a:r>
            <a:r>
              <a:rPr 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	 =&gt;       room </a:t>
            </a: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 讓遊戲取得本次房間、模式與玩家資訊。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讓不同頁面共享同一個登入身分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前端保存登入結果；每次受保護請求仍由後端重新驗證 token 與帳號狀態。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21762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0759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24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+ password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487168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1216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7016" y="217627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57016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80944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2980944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userId · account · role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36592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217627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24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Bearer token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986016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70064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55864" y="217627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55864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Filter</a:t>
            </a:r>
            <a:endParaRPr lang="en-US" sz="1240" dirty="0"/>
          </a:p>
        </p:txBody>
      </p:sp>
      <p:sp>
        <p:nvSpPr>
          <p:cNvPr id="33" name="Text 31"/>
          <p:cNvSpPr txBox="1"/>
          <p:nvPr/>
        </p:nvSpPr>
        <p:spPr>
          <a:xfrm>
            <a:off x="7479792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驗簽 · 到期 · 狀態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235440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19488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05288" y="2176272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0528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Modules</a:t>
            </a:r>
            <a:endParaRPr lang="en-US" sz="124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Board · Lobby · Games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591056" y="4526280"/>
            <a:ext cx="9006840" cy="731520"/>
          </a:xfrm>
          <a:prstGeom prst="roundRect">
            <a:avLst>
              <a:gd name="adj" fmla="val 15000"/>
            </a:avLst>
          </a:prstGeom>
          <a:solidFill>
            <a:srgbClr val="FBFDFF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91056" y="4526280"/>
            <a:ext cx="73152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819656" y="4654296"/>
            <a:ext cx="8641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只保存資料；真正能不能操作，仍以後端驗證結果為準。</a:t>
            </a:r>
            <a:endParaRPr lang="en-US" sz="1250" dirty="0"/>
          </a:p>
        </p:txBody>
      </p:sp>
      <p:sp>
        <p:nvSpPr>
          <p:cNvPr id="43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 smtClean="0"/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/ MODE / ROOM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Game、GameMode 與 Room 把遊戲設定從房間邏輯中抽離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保存遊戲入口，GameMode 保存模式限制，Room 保存一次等待中的對局。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6968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/ QUIZ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 · 入口路徑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 · 啟用狀態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980944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1024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GameMode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94176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 / COMPUTER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minPlayers · maxPlayers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computerPlayers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797296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9672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gameId + modeId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hostAccount · players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613648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07424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53728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36024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0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poker_client.html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?room=XXXXXXXX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依房間資料啟動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828800" y="5074920"/>
            <a:ext cx="854964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5074920"/>
            <a:ext cx="73152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57400" y="5202936"/>
            <a:ext cx="8183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房間只依 gameId / modeId 查規則，不需要把 Poker 或 Quiz 的特殊玩法寫死在通用房間模組。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ER Model：會員、遊戲目錄與房間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先看會直接影響「登入 → 選遊戲 → 建房 → 進遊戲」的資料表。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938528"/>
            <a:ext cx="12801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0208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377440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40480"/>
            <a:ext cx="12801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392277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27939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status_name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87168" y="2423160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87168" y="2423160"/>
            <a:ext cx="18288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6040" y="250545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15184" y="2862072"/>
            <a:ext cx="1572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role_id · status_id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1938528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938528"/>
            <a:ext cx="157276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10912" y="202082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0056" y="2377440"/>
            <a:ext cx="1316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game_code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frontend_path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backend_path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38404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840480"/>
            <a:ext cx="175564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10912" y="39227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game_modes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0056" y="4279392"/>
            <a:ext cx="1499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mode_code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min/max players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16368" y="2331720"/>
            <a:ext cx="196596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16368" y="2331720"/>
            <a:ext cx="19659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35240" y="241401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644384" y="2770632"/>
            <a:ext cx="17099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 (8碼)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host_account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012680" y="2596896"/>
            <a:ext cx="1481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2596896"/>
            <a:ext cx="148132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31552" y="267919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room_players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140696" y="30358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player_account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56816" y="2560320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56816" y="4142232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56832" y="2578608"/>
            <a:ext cx="59436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39712" y="4315968"/>
            <a:ext cx="512064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64624" y="3118104"/>
            <a:ext cx="32004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84248" y="2139696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057400" y="2208276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84248" y="371246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057400" y="378104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93408" y="214884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66560" y="221742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76288" y="388620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49440" y="395478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37192" y="270662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610344" y="277520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0" y="5623560"/>
            <a:ext cx="6263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 同時保存 game_id 與 mode_id；room_players 是 Room.players 的 ElementCollection 關聯表。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BOARD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ER Model：組隊公告如何連到會員、遊戲與房間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有自己的 Entity，但透過 platform_user_id、game_id、mode_id、room_id 與其他模組銜接。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15087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148840"/>
            <a:ext cx="15087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3113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587752"/>
            <a:ext cx="1252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2148840"/>
            <a:ext cx="17556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148840"/>
            <a:ext cx="1755648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79192" y="223113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88336" y="2587752"/>
            <a:ext cx="1499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platform_user_id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· nickname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19476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965960"/>
            <a:ext cx="194767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73752" y="204825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team_posts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82896" y="2404872"/>
            <a:ext cx="1691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 · 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52855" y="2031631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52855" y="2031631"/>
            <a:ext cx="1883664" cy="3291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71727" y="2113927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join_requests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80871" y="2470543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post_id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18888" y="4059936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18888" y="4059936"/>
            <a:ext cx="1883664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41422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946904" y="4498848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post_id · message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765792" y="2071116"/>
            <a:ext cx="14173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65792" y="2071116"/>
            <a:ext cx="14173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84664" y="215341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 / modes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893808" y="2510028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21992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09371" y="265716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5721651" y="372285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49156" y="2659658"/>
            <a:ext cx="40233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5440680"/>
            <a:ext cx="9372600" cy="475488"/>
          </a:xfrm>
          <a:prstGeom prst="roundRect">
            <a:avLst>
              <a:gd name="adj" fmla="val 23077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5440680"/>
            <a:ext cx="7315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91640" y="5568696"/>
            <a:ext cx="9006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重點：組隊模組不直接取代會員／房間資料表，而是保存必要的識別資訊與自己的流程狀態。</a:t>
            </a:r>
            <a:endParaRPr lang="en-US" sz="1250" dirty="0"/>
          </a:p>
        </p:txBody>
      </p:sp>
      <p:sp>
        <p:nvSpPr>
          <p:cNvPr id="43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94360" y="350797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</a:t>
            </a:r>
            <a:r>
              <a:rPr lang="zh-TW" alt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r>
              <a:rPr lang="zh-TW" alt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950" b="1" dirty="0">
              <a:solidFill>
                <a:srgbClr val="059669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 / Lobby：會員、遊戲目錄與房間生命週期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40080" y="1136349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 是遊戲大廳與房間系統，負責建房、等待、開始遊戲，以及遊戲結束後的房間狀態收斂。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14400" y="4663440"/>
            <a:ext cx="3246120" cy="850392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3000" y="4800600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 關鍵角色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3000" y="5084064"/>
            <a:ext cx="2697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把等待中的房間從遊戲本身抽離，讓 Poker、Quiz 等遊戲共用同一套建房與結束流程。</a:t>
            </a:r>
            <a:endParaRPr lang="en-US" sz="780" dirty="0"/>
          </a:p>
        </p:txBody>
      </p:sp>
      <p:sp>
        <p:nvSpPr>
          <p:cNvPr id="46" name="Shape 5"/>
          <p:cNvSpPr/>
          <p:nvPr/>
        </p:nvSpPr>
        <p:spPr>
          <a:xfrm>
            <a:off x="640080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21"/>
          <p:cNvSpPr/>
          <p:nvPr/>
        </p:nvSpPr>
        <p:spPr>
          <a:xfrm>
            <a:off x="7196328" y="2048256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9"/>
          <p:cNvSpPr/>
          <p:nvPr/>
        </p:nvSpPr>
        <p:spPr>
          <a:xfrm>
            <a:off x="658368" y="2148840"/>
            <a:ext cx="15087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10"/>
          <p:cNvSpPr/>
          <p:nvPr/>
        </p:nvSpPr>
        <p:spPr>
          <a:xfrm>
            <a:off x="658368" y="2148840"/>
            <a:ext cx="15087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11"/>
          <p:cNvSpPr txBox="1"/>
          <p:nvPr/>
        </p:nvSpPr>
        <p:spPr>
          <a:xfrm>
            <a:off x="777240" y="223113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TW" sz="10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 </a:t>
            </a:r>
            <a:r>
              <a:rPr lang="en-US" altLang="zh-TW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</a:t>
            </a:r>
            <a:r>
              <a:rPr lang="en-US" altLang="zh-TW" sz="10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statuses</a:t>
            </a:r>
            <a:endParaRPr lang="en-US" altLang="zh-TW" sz="1050" dirty="0"/>
          </a:p>
        </p:txBody>
      </p:sp>
      <p:sp>
        <p:nvSpPr>
          <p:cNvPr id="53" name="Text 12"/>
          <p:cNvSpPr txBox="1"/>
          <p:nvPr/>
        </p:nvSpPr>
        <p:spPr>
          <a:xfrm>
            <a:off x="786384" y="2587752"/>
            <a:ext cx="1252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TW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</a:t>
            </a:r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角色名稱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狀態名稱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54" name="Shape 13"/>
          <p:cNvSpPr/>
          <p:nvPr/>
        </p:nvSpPr>
        <p:spPr>
          <a:xfrm>
            <a:off x="2560320" y="2148840"/>
            <a:ext cx="17556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14"/>
          <p:cNvSpPr/>
          <p:nvPr/>
        </p:nvSpPr>
        <p:spPr>
          <a:xfrm>
            <a:off x="2560320" y="2148840"/>
            <a:ext cx="1755648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15"/>
          <p:cNvSpPr txBox="1"/>
          <p:nvPr/>
        </p:nvSpPr>
        <p:spPr>
          <a:xfrm>
            <a:off x="2679192" y="223113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TW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57" name="Text 16"/>
          <p:cNvSpPr txBox="1"/>
          <p:nvPr/>
        </p:nvSpPr>
        <p:spPr>
          <a:xfrm>
            <a:off x="2688336" y="2587752"/>
            <a:ext cx="1499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TW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</a:t>
            </a:r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會員編號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帳號／暱稱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role_id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status_id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58" name="Shape 17"/>
          <p:cNvSpPr/>
          <p:nvPr/>
        </p:nvSpPr>
        <p:spPr>
          <a:xfrm>
            <a:off x="4754880" y="1965960"/>
            <a:ext cx="19476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18"/>
          <p:cNvSpPr/>
          <p:nvPr/>
        </p:nvSpPr>
        <p:spPr>
          <a:xfrm>
            <a:off x="4754880" y="1965960"/>
            <a:ext cx="194767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19"/>
          <p:cNvSpPr txBox="1"/>
          <p:nvPr/>
        </p:nvSpPr>
        <p:spPr>
          <a:xfrm>
            <a:off x="4873752" y="204825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TW" sz="10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altLang="zh-TW" sz="1050" dirty="0"/>
          </a:p>
        </p:txBody>
      </p:sp>
      <p:sp>
        <p:nvSpPr>
          <p:cNvPr id="61" name="Text 20"/>
          <p:cNvSpPr txBox="1"/>
          <p:nvPr/>
        </p:nvSpPr>
        <p:spPr>
          <a:xfrm>
            <a:off x="4882896" y="2404872"/>
            <a:ext cx="1691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TW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</a:t>
            </a:r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遊戲編號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遊戲代碼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前端／後端入口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7196328" y="2048256"/>
            <a:ext cx="188366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23"/>
          <p:cNvSpPr txBox="1"/>
          <p:nvPr/>
        </p:nvSpPr>
        <p:spPr>
          <a:xfrm>
            <a:off x="7315200" y="2130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TW" sz="105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game_modes</a:t>
            </a:r>
            <a:endParaRPr lang="en-US" sz="1050" dirty="0"/>
          </a:p>
        </p:txBody>
      </p:sp>
      <p:sp>
        <p:nvSpPr>
          <p:cNvPr id="64" name="Text 24"/>
          <p:cNvSpPr txBox="1"/>
          <p:nvPr/>
        </p:nvSpPr>
        <p:spPr>
          <a:xfrm>
            <a:off x="7324344" y="2487168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TW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</a:t>
            </a:r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模式編號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</a:t>
            </a:r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遊戲編號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模式代碼／名稱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玩家數限制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5" name="Shape 25"/>
          <p:cNvSpPr/>
          <p:nvPr/>
        </p:nvSpPr>
        <p:spPr>
          <a:xfrm>
            <a:off x="4791456" y="4473909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26"/>
          <p:cNvSpPr/>
          <p:nvPr/>
        </p:nvSpPr>
        <p:spPr>
          <a:xfrm>
            <a:off x="4791456" y="4473909"/>
            <a:ext cx="1883664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27"/>
          <p:cNvSpPr txBox="1"/>
          <p:nvPr/>
        </p:nvSpPr>
        <p:spPr>
          <a:xfrm>
            <a:off x="4910328" y="4556205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TW" sz="105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room_players</a:t>
            </a:r>
            <a:endParaRPr lang="en-US" altLang="zh-TW" sz="1050" dirty="0"/>
          </a:p>
        </p:txBody>
      </p:sp>
      <p:sp>
        <p:nvSpPr>
          <p:cNvPr id="68" name="Text 28"/>
          <p:cNvSpPr txBox="1"/>
          <p:nvPr/>
        </p:nvSpPr>
        <p:spPr>
          <a:xfrm>
            <a:off x="4919472" y="4912821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TW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</a:t>
            </a:r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房間ID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玩家帳號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ElementCollection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9" name="Shape 29"/>
          <p:cNvSpPr/>
          <p:nvPr/>
        </p:nvSpPr>
        <p:spPr>
          <a:xfrm>
            <a:off x="7354152" y="4455344"/>
            <a:ext cx="14173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30"/>
          <p:cNvSpPr/>
          <p:nvPr/>
        </p:nvSpPr>
        <p:spPr>
          <a:xfrm>
            <a:off x="7354152" y="4455344"/>
            <a:ext cx="141732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31"/>
          <p:cNvSpPr txBox="1"/>
          <p:nvPr/>
        </p:nvSpPr>
        <p:spPr>
          <a:xfrm>
            <a:off x="7473024" y="453764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TW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altLang="zh-TW" sz="1050" dirty="0"/>
          </a:p>
        </p:txBody>
      </p:sp>
      <p:sp>
        <p:nvSpPr>
          <p:cNvPr id="72" name="Text 32"/>
          <p:cNvSpPr txBox="1"/>
          <p:nvPr/>
        </p:nvSpPr>
        <p:spPr>
          <a:xfrm>
            <a:off x="7482168" y="4894256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altLang="zh-TW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</a:t>
            </a:r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房間ID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</a:t>
            </a:r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遊戲／模式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房主帳號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sz="85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開始／結束／過期</a:t>
            </a:r>
            <a:endParaRPr lang="en-US" altLang="zh-TW" sz="85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73" name="Shape 33"/>
          <p:cNvSpPr/>
          <p:nvPr/>
        </p:nvSpPr>
        <p:spPr>
          <a:xfrm>
            <a:off x="2221992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34"/>
          <p:cNvSpPr/>
          <p:nvPr/>
        </p:nvSpPr>
        <p:spPr>
          <a:xfrm>
            <a:off x="4389120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35"/>
          <p:cNvSpPr/>
          <p:nvPr/>
        </p:nvSpPr>
        <p:spPr>
          <a:xfrm>
            <a:off x="6766560" y="243230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37"/>
          <p:cNvSpPr/>
          <p:nvPr/>
        </p:nvSpPr>
        <p:spPr>
          <a:xfrm rot="5400000" flipV="1">
            <a:off x="7704147" y="3749413"/>
            <a:ext cx="971827" cy="162206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37"/>
          <p:cNvSpPr/>
          <p:nvPr/>
        </p:nvSpPr>
        <p:spPr>
          <a:xfrm rot="2660390" flipV="1">
            <a:off x="6562368" y="3782146"/>
            <a:ext cx="1162566" cy="149273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37"/>
          <p:cNvSpPr/>
          <p:nvPr/>
        </p:nvSpPr>
        <p:spPr>
          <a:xfrm rot="2660390" flipV="1">
            <a:off x="3420891" y="3799799"/>
            <a:ext cx="1380408" cy="130122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33"/>
          <p:cNvSpPr/>
          <p:nvPr/>
        </p:nvSpPr>
        <p:spPr>
          <a:xfrm rot="10800000">
            <a:off x="6910668" y="4992624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97863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CROSS-MODULE SEQUENCE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核心功能資料流：組隊完成後建立房間並導向遊戲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用一次核心流程說明前端、Controller、Service、Game Management、Lobby 與 DB 如何串接。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UI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選遊戲／模式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送出組隊資料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02996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5059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接收請求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取得登入身分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5020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7083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Service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申請／核准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判斷人數到齊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87044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9107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gameId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modeId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79068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1131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加入玩家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71092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315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room ID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71032" y="3675888"/>
            <a:ext cx="274320" cy="457200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4434840"/>
            <a:ext cx="4535424" cy="685800"/>
          </a:xfrm>
          <a:prstGeom prst="roundRect">
            <a:avLst>
              <a:gd name="adj" fmla="val 16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4434840"/>
            <a:ext cx="73152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69080" y="4562856"/>
            <a:ext cx="4169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+ WebSocket：資料交易成功後才保存／推送玩家名單、通知與房間狀態。</a:t>
            </a:r>
            <a:endParaRPr lang="en-US" sz="1250" dirty="0"/>
          </a:p>
        </p:txBody>
      </p:sp>
      <p:sp>
        <p:nvSpPr>
          <p:cNvPr id="38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 PRODUCT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實際畫面把平台流程連成一致體驗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遊戲大廳 → 組隊設定 → 房間等待，畫面都使用同一個登入身分。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1975104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2084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2084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084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0" descr="/mnt/data/a3ee7892-e793-4869-8dfe-8b6687969b4e.png"/>
          <p:cNvPicPr>
            <a:picLocks noChangeAspect="1"/>
          </p:cNvPicPr>
          <p:nvPr/>
        </p:nvPicPr>
        <p:blipFill>
          <a:blip r:embed="rId3"/>
          <a:srcRect l="8135" r="8135"/>
          <a:stretch/>
        </p:blipFill>
        <p:spPr>
          <a:xfrm>
            <a:off x="685800" y="2286000"/>
            <a:ext cx="3273552" cy="19385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434840" y="1975104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35424" y="2084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81728" y="2084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28032" y="2084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11312" y="1975104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11896" y="2084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58200" y="2084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604504" y="2084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2" descr="/mnt/data/ppt_build/screenshots/06-waiting-room.png"/>
          <p:cNvPicPr>
            <a:picLocks noChangeAspect="1"/>
          </p:cNvPicPr>
          <p:nvPr/>
        </p:nvPicPr>
        <p:blipFill>
          <a:blip r:embed="rId4"/>
          <a:srcRect l="2854" r="2854"/>
          <a:stretch/>
        </p:blipFill>
        <p:spPr>
          <a:xfrm>
            <a:off x="8238744" y="2286000"/>
            <a:ext cx="3273552" cy="193852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85800" y="4690872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50392" y="489204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50392" y="4892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179576" y="4818888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1179576" y="5138928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遊戲清單由 Game Management 提供。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462272" y="4690872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626864" y="4892040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626864" y="4892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956048" y="4818888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設定隊伍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4956048" y="5138928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模式與人數依資料動態產生。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238744" y="4690872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403336" y="4892040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403336" y="4892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732520" y="4818888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8732520" y="5138928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房號、房主與玩家名單同步顯示。</a:t>
            </a:r>
            <a:endParaRPr lang="en-US" sz="950" dirty="0"/>
          </a:p>
        </p:txBody>
      </p:sp>
      <p:pic>
        <p:nvPicPr>
          <p:cNvPr id="44" name="Image 1" descr="/mnt/data/gp3/gammPlatform/PPT/screenshots/05-lobby-create-room.png"/>
          <p:cNvPicPr>
            <a:picLocks noChangeAspect="1"/>
          </p:cNvPicPr>
          <p:nvPr/>
        </p:nvPicPr>
        <p:blipFill>
          <a:blip r:embed="rId5"/>
          <a:srcRect l="32" r="32"/>
          <a:stretch/>
        </p:blipFill>
        <p:spPr>
          <a:xfrm>
            <a:off x="4462272" y="2267712"/>
            <a:ext cx="3200400" cy="1801368"/>
          </a:xfrm>
          <a:prstGeom prst="rect">
            <a:avLst/>
          </a:prstGeom>
        </p:spPr>
      </p:pic>
      <p:sp>
        <p:nvSpPr>
          <p:cNvPr id="45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GAME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田忌撲克完成選牌、比牌與三輪結果呈現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同一頁完成玩家資訊、目前輪次、選牌區、結果區與三輪戰績呈現。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105706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0664" y="2123994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32104" y="221543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78408" y="221543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24712" y="221543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ppt_build/screenshots/08-poker-auto-select.png"/>
          <p:cNvPicPr>
            <a:picLocks noChangeAspect="1"/>
          </p:cNvPicPr>
          <p:nvPr/>
        </p:nvPicPr>
        <p:blipFill>
          <a:blip r:embed="rId3"/>
          <a:srcRect l="1908" r="1908"/>
          <a:stretch/>
        </p:blipFill>
        <p:spPr>
          <a:xfrm>
            <a:off x="758952" y="2416602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64224" y="2105706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373368" y="2123994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464808" y="221543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611112" y="221543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757416" y="221543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9-poker-result.png"/>
          <p:cNvPicPr>
            <a:picLocks noChangeAspect="1"/>
          </p:cNvPicPr>
          <p:nvPr/>
        </p:nvPicPr>
        <p:blipFill>
          <a:blip r:embed="rId4"/>
          <a:srcRect l="1908" r="1908"/>
          <a:stretch/>
        </p:blipFill>
        <p:spPr>
          <a:xfrm>
            <a:off x="6391656" y="2416602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96696" y="1643334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1069848" y="1711914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546273" y="1643334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6619425" y="1711914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三輪結果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197864" y="5781594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1197864" y="5781594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1426464" y="5909610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房間資訊 + 玩家身分 + 手牌 + 本輪結果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720840" y="5781594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6720840" y="5781594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6949440" y="5909610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同一頁顯示三輪戰績與對局結果</a:t>
            </a:r>
            <a:endParaRPr lang="en-US" sz="1250" dirty="0"/>
          </a:p>
        </p:txBody>
      </p:sp>
      <p:sp>
        <p:nvSpPr>
          <p:cNvPr id="33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17891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indent="0">
              <a:lnSpc>
                <a:spcPct val="100000"/>
              </a:lnSpc>
              <a:buNone/>
              <a:defRPr sz="2400" b="1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r>
              <a:rPr dirty="0"/>
              <a:t>Poker </a:t>
            </a:r>
            <a:r>
              <a:rPr dirty="0" err="1"/>
              <a:t>演算法：把牌型轉成可直接比較的</a:t>
            </a:r>
            <a:r>
              <a:rPr dirty="0"/>
              <a:t> strength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dirty="0">
                <a:solidFill>
                  <a:srgbClr val="5E6D85"/>
                </a:solidFill>
                <a:latin typeface="Aptos"/>
              </a:rPr>
              <a:t>以 ♦2、♦6、♦8、♦9、♦K </a:t>
            </a:r>
            <a:r>
              <a:rPr sz="1500" dirty="0" err="1">
                <a:solidFill>
                  <a:srgbClr val="5E6D85"/>
                </a:solidFill>
                <a:latin typeface="Aptos"/>
              </a:rPr>
              <a:t>同花為例，將牌型、點數與花色編碼成單一</a:t>
            </a:r>
            <a:r>
              <a:rPr sz="1500" dirty="0">
                <a:solidFill>
                  <a:srgbClr val="5E6D85"/>
                </a:solidFill>
                <a:latin typeface="Aptos"/>
              </a:rPr>
              <a:t> long 值。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pic>
        <p:nvPicPr>
          <p:cNvPr id="11" name="Picture 10" descr="card_a_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55648"/>
            <a:ext cx="448056" cy="650577"/>
          </a:xfrm>
          <a:prstGeom prst="rect">
            <a:avLst/>
          </a:prstGeom>
        </p:spPr>
      </p:pic>
      <p:pic>
        <p:nvPicPr>
          <p:cNvPr id="12" name="Picture 11" descr="card_a_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755648"/>
            <a:ext cx="448056" cy="650577"/>
          </a:xfrm>
          <a:prstGeom prst="rect">
            <a:avLst/>
          </a:prstGeom>
        </p:spPr>
      </p:pic>
      <p:pic>
        <p:nvPicPr>
          <p:cNvPr id="13" name="Picture 12" descr="card_a_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1755648"/>
            <a:ext cx="448056" cy="650577"/>
          </a:xfrm>
          <a:prstGeom prst="rect">
            <a:avLst/>
          </a:prstGeom>
        </p:spPr>
      </p:pic>
      <p:pic>
        <p:nvPicPr>
          <p:cNvPr id="14" name="Picture 13" descr="card_a_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39" y="1755648"/>
            <a:ext cx="448056" cy="650577"/>
          </a:xfrm>
          <a:prstGeom prst="rect">
            <a:avLst/>
          </a:prstGeom>
        </p:spPr>
      </p:pic>
      <p:pic>
        <p:nvPicPr>
          <p:cNvPr id="15" name="Picture 14" descr="card_a_d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91" y="1755648"/>
            <a:ext cx="448056" cy="6505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999232"/>
            <a:ext cx="2817438" cy="247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indent="0">
              <a:lnSpc>
                <a:spcPct val="100000"/>
              </a:lnSpc>
              <a:buNone/>
              <a:defRPr sz="1250" b="1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r>
              <a:rPr dirty="0" err="1"/>
              <a:t>範例</a:t>
            </a:r>
            <a:r>
              <a:rPr dirty="0"/>
              <a:t>：♦2、♦6、♦8、♦9、♦K ＝ </a:t>
            </a:r>
            <a:r>
              <a:rPr dirty="0" err="1"/>
              <a:t>同花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4709160" y="1627632"/>
            <a:ext cx="5806440" cy="1389888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1975104"/>
            <a:ext cx="2240280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JhengHei"/>
              </a:rPr>
              <a:t>513090806021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029968"/>
            <a:ext cx="2926080" cy="31089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1400" b="1">
                <a:solidFill>
                  <a:srgbClr val="FFDCE2"/>
                </a:solidFill>
                <a:latin typeface="Microsoft JhengHei"/>
              </a:rPr>
              <a:t>=  5  |  13  |  09  |  08  |  06  |  02  | 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32888"/>
            <a:ext cx="4800600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950" b="0">
                <a:solidFill>
                  <a:srgbClr val="DEE5F1"/>
                </a:solidFill>
                <a:latin typeface="Microsoft JhengHei"/>
              </a:rPr>
              <a:t>牌型  同花        最大K        9        8        6        2       花色♦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0392" y="4005072"/>
            <a:ext cx="2788920" cy="310896"/>
          </a:xfrm>
          <a:prstGeom prst="rect">
            <a:avLst/>
          </a:prstGeom>
          <a:solidFill>
            <a:srgbClr val="E71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1"/>
            <a:ext cx="2569463" cy="289310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 err="1">
                <a:solidFill>
                  <a:srgbClr val="FFFFFF"/>
                </a:solidFill>
                <a:latin typeface="+mj-lt"/>
              </a:rPr>
              <a:t>強度編碼</a:t>
            </a:r>
            <a:endParaRPr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7552" y="4361426"/>
            <a:ext cx="2514600" cy="841769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牌型放在最高位</a:t>
            </a:r>
            <a:endParaRPr sz="1200" dirty="0">
              <a:solidFill>
                <a:srgbClr val="5C6B8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點數由大到小排列</a:t>
            </a:r>
            <a:endParaRPr sz="1200" dirty="0">
              <a:solidFill>
                <a:srgbClr val="5C6B8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kicker／花色放在低位</a:t>
            </a:r>
            <a:endParaRPr sz="1200" dirty="0">
              <a:solidFill>
                <a:srgbClr val="5C6B8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比較時只看</a:t>
            </a:r>
            <a:r>
              <a:rPr sz="12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long </a:t>
            </a: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大小</a:t>
            </a:r>
            <a:endParaRPr sz="1200" dirty="0">
              <a:solidFill>
                <a:srgbClr val="5C6B8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931920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31920" y="4005072"/>
            <a:ext cx="2788920" cy="310896"/>
          </a:xfrm>
          <a:prstGeom prst="rect">
            <a:avLst/>
          </a:prstGeom>
          <a:solidFill>
            <a:srgbClr val="703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41648" y="4050791"/>
            <a:ext cx="2569463" cy="289310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 err="1">
                <a:solidFill>
                  <a:srgbClr val="FFFFFF"/>
                </a:solidFill>
                <a:latin typeface="+mj-lt"/>
              </a:rPr>
              <a:t>規則集中</a:t>
            </a:r>
            <a:endParaRPr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69080" y="4416551"/>
            <a:ext cx="2514600" cy="653512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牌型規則集中維護</a:t>
            </a:r>
            <a:endParaRPr sz="1200" dirty="0">
              <a:solidFill>
                <a:srgbClr val="5C6B8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牌組統一轉成</a:t>
            </a:r>
            <a:r>
              <a:rPr sz="12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避免大量</a:t>
            </a:r>
            <a:r>
              <a:rPr sz="12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if / else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13448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13448" y="4005072"/>
            <a:ext cx="2788920" cy="310896"/>
          </a:xfrm>
          <a:prstGeom prst="rect">
            <a:avLst/>
          </a:prstGeom>
          <a:solidFill>
            <a:srgbClr val="049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23176" y="4050791"/>
            <a:ext cx="2569463" cy="289310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 err="1">
                <a:solidFill>
                  <a:srgbClr val="FFFFFF"/>
                </a:solidFill>
                <a:latin typeface="+mj-lt"/>
              </a:rPr>
              <a:t>自動選牌基礎</a:t>
            </a:r>
            <a:endParaRPr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50608" y="4395176"/>
            <a:ext cx="2514600" cy="653512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find_best_cards</a:t>
            </a:r>
            <a:r>
              <a:rPr sz="12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() </a:t>
            </a: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列舉組合</a:t>
            </a:r>
            <a:endParaRPr sz="1200" dirty="0">
              <a:solidFill>
                <a:srgbClr val="5C6B8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每組計算</a:t>
            </a:r>
            <a:r>
              <a:rPr sz="12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0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保留最高分牌組</a:t>
            </a:r>
            <a:endParaRPr sz="1200" dirty="0">
              <a:solidFill>
                <a:srgbClr val="5C6B8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33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940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950" b="1" dirty="0">
              <a:solidFill>
                <a:srgbClr val="059669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1" dirty="0" err="1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自動選牌：find_best_cards</a:t>
            </a:r>
            <a:r>
              <a:rPr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() </a:t>
            </a:r>
            <a:r>
              <a:rPr sz="2400" b="1" dirty="0" err="1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找出本輪最強手牌</a:t>
            </a:r>
            <a:endParaRPr sz="2400" b="1" dirty="0">
              <a:solidFill>
                <a:srgbClr val="122033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5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列舉本輪可用牌的候選組合，將每一組轉成</a:t>
            </a:r>
            <a:r>
              <a:rPr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sz="1250" dirty="0" err="1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strength，比較後保留分數最高的牌組</a:t>
            </a:r>
            <a:r>
              <a:rPr sz="1500" dirty="0">
                <a:solidFill>
                  <a:srgbClr val="5E6D85"/>
                </a:solidFill>
                <a:latin typeface="Aptos"/>
              </a:rPr>
              <a:t>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5371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255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5139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71C52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800029"/>
            <a:ext cx="11247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0D1B30"/>
                </a:solidFill>
                <a:latin typeface="+mj-lt"/>
              </a:rPr>
              <a:t>扣除已用牌</a:t>
            </a:r>
            <a:endParaRPr sz="1200" b="1" dirty="0">
              <a:solidFill>
                <a:srgbClr val="0D1B30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 err="1">
                <a:solidFill>
                  <a:srgbClr val="5E6D85"/>
                </a:solidFill>
                <a:latin typeface="Aptos"/>
              </a:rPr>
              <a:t>前面輪次已選牌不再使用</a:t>
            </a:r>
            <a:endParaRPr sz="850" b="0" dirty="0">
              <a:solidFill>
                <a:srgbClr val="5E6D85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8892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9864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038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800029"/>
            <a:ext cx="11247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0D1B30"/>
                </a:solidFill>
                <a:latin typeface="+mj-lt"/>
              </a:rPr>
              <a:t>決定張數</a:t>
            </a:r>
            <a:endParaRPr sz="1200" b="1" dirty="0">
              <a:solidFill>
                <a:srgbClr val="0D1B30"/>
              </a:solidFill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4612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E6D85"/>
                </a:solidFill>
                <a:latin typeface="Aptos"/>
              </a:rPr>
              <a:t>第 1 輪 3 </a:t>
            </a:r>
            <a:r>
              <a:rPr sz="850" b="0" dirty="0" err="1">
                <a:solidFill>
                  <a:srgbClr val="5E6D85"/>
                </a:solidFill>
                <a:latin typeface="Aptos"/>
              </a:rPr>
              <a:t>張；第</a:t>
            </a:r>
            <a:r>
              <a:rPr sz="850" b="0" dirty="0">
                <a:solidFill>
                  <a:srgbClr val="5E6D85"/>
                </a:solidFill>
                <a:latin typeface="Aptos"/>
              </a:rPr>
              <a:t> 2/3 輪 5 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800029"/>
            <a:ext cx="11247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0D1B30"/>
                </a:solidFill>
                <a:latin typeface="+mj-lt"/>
              </a:rPr>
              <a:t>列舉組合</a:t>
            </a:r>
            <a:endParaRPr sz="1200" b="1" dirty="0">
              <a:solidFill>
                <a:srgbClr val="0D1B30"/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9496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從剩餘手牌取 C(n,k)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9632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49B71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800029"/>
            <a:ext cx="11247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0D1B30"/>
                </a:solidFill>
                <a:latin typeface="+mj-lt"/>
              </a:rPr>
              <a:t>計算分數</a:t>
            </a:r>
            <a:endParaRPr sz="1200" b="1" dirty="0">
              <a:solidFill>
                <a:srgbClr val="0D1B30"/>
              </a:solidFill>
              <a:latin typeface="+mj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4380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score() → hand_strength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45167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00029"/>
            <a:ext cx="11247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0D1B30"/>
                </a:solidFill>
                <a:latin typeface="+mj-lt"/>
              </a:rPr>
              <a:t>保留最高</a:t>
            </a:r>
            <a:endParaRPr sz="1200" b="1" dirty="0">
              <a:solidFill>
                <a:srgbClr val="0D1B30"/>
              </a:solidFill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9264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更新 best_score 與 best[]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2907792"/>
            <a:ext cx="5166360" cy="2176272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3090672"/>
            <a:ext cx="4526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find_best_cards() 核心概念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474720"/>
            <a:ext cx="45537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  <a:latin typeface="Consolas"/>
              </a:rPr>
              <a:t>best_score = -1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for each combination C(n, k):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score = score(current, count)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if score &gt; best_score: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best_score = score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 = current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907792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36208" y="3042273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E71C52"/>
                </a:solidFill>
                <a:latin typeface="+mj-lt"/>
              </a:rPr>
              <a:t>回合策略</a:t>
            </a:r>
            <a:endParaRPr sz="1200" b="1" dirty="0">
              <a:solidFill>
                <a:srgbClr val="E71C52"/>
              </a:solidFill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43800" y="2936337"/>
            <a:ext cx="3337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dirty="0" err="1">
                <a:solidFill>
                  <a:srgbClr val="5E6D85"/>
                </a:solidFill>
                <a:latin typeface="Aptos"/>
              </a:rPr>
              <a:t>依目前流程先選第</a:t>
            </a:r>
            <a:r>
              <a:rPr sz="1000" b="0" dirty="0">
                <a:solidFill>
                  <a:srgbClr val="0D1B30"/>
                </a:solidFill>
                <a:latin typeface="Aptos"/>
              </a:rPr>
              <a:t> </a:t>
            </a:r>
            <a:r>
              <a:rPr sz="1000" dirty="0">
                <a:solidFill>
                  <a:srgbClr val="5E6D85"/>
                </a:solidFill>
                <a:latin typeface="Aptos"/>
              </a:rPr>
              <a:t>3 輪 5 </a:t>
            </a:r>
            <a:r>
              <a:rPr sz="1000" dirty="0" err="1">
                <a:solidFill>
                  <a:srgbClr val="5E6D85"/>
                </a:solidFill>
                <a:latin typeface="Aptos"/>
              </a:rPr>
              <a:t>張，再選第</a:t>
            </a:r>
            <a:r>
              <a:rPr sz="1000" dirty="0">
                <a:solidFill>
                  <a:srgbClr val="5E6D85"/>
                </a:solidFill>
                <a:latin typeface="Aptos"/>
              </a:rPr>
              <a:t> 2 </a:t>
            </a:r>
            <a:r>
              <a:rPr sz="1000" dirty="0" err="1">
                <a:solidFill>
                  <a:srgbClr val="5E6D85"/>
                </a:solidFill>
                <a:latin typeface="Aptos"/>
              </a:rPr>
              <a:t>輪，最後處理第</a:t>
            </a:r>
            <a:r>
              <a:rPr sz="1000" dirty="0">
                <a:solidFill>
                  <a:srgbClr val="5E6D85"/>
                </a:solidFill>
                <a:latin typeface="Aptos"/>
              </a:rPr>
              <a:t> 1 輪 3 張。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602736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70937" y="3602736"/>
            <a:ext cx="832104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7038FF"/>
                </a:solidFill>
                <a:latin typeface="+mj-lt"/>
              </a:rPr>
              <a:t>目前輪次自動選牌</a:t>
            </a:r>
            <a:endParaRPr sz="1200" b="1" dirty="0">
              <a:solidFill>
                <a:srgbClr val="7038FF"/>
              </a:solidFill>
              <a:latin typeface="+mj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43800" y="3631282"/>
            <a:ext cx="3337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dirty="0" err="1">
                <a:solidFill>
                  <a:srgbClr val="5E6D85"/>
                </a:solidFill>
                <a:latin typeface="Aptos"/>
              </a:rPr>
              <a:t>auto_choose_current_round</a:t>
            </a:r>
            <a:r>
              <a:rPr sz="1000" dirty="0">
                <a:solidFill>
                  <a:srgbClr val="5E6D85"/>
                </a:solidFill>
                <a:latin typeface="Aptos"/>
              </a:rPr>
              <a:t>() </a:t>
            </a:r>
            <a:r>
              <a:rPr sz="1000" dirty="0" err="1">
                <a:solidFill>
                  <a:srgbClr val="5E6D85"/>
                </a:solidFill>
                <a:latin typeface="Aptos"/>
              </a:rPr>
              <a:t>只重算目前輪次；已完成輪次保持鎖定</a:t>
            </a:r>
            <a:r>
              <a:rPr sz="1000" dirty="0">
                <a:solidFill>
                  <a:srgbClr val="5E6D85"/>
                </a:solidFill>
                <a:latin typeface="Aptos"/>
              </a:rPr>
              <a:t>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297680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72415" y="4297680"/>
            <a:ext cx="1143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049B71"/>
                </a:solidFill>
                <a:latin typeface="+mj-lt"/>
              </a:rPr>
              <a:t>與 strength </a:t>
            </a:r>
            <a:r>
              <a:rPr sz="1200" b="1" dirty="0" err="1">
                <a:solidFill>
                  <a:srgbClr val="049B71"/>
                </a:solidFill>
                <a:latin typeface="+mj-lt"/>
              </a:rPr>
              <a:t>的關係</a:t>
            </a:r>
            <a:endParaRPr sz="1200" b="1" dirty="0">
              <a:solidFill>
                <a:srgbClr val="049B71"/>
              </a:solidFill>
              <a:latin typeface="+mj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43800" y="4326226"/>
            <a:ext cx="3337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dirty="0" err="1">
                <a:solidFill>
                  <a:srgbClr val="5E6D85"/>
                </a:solidFill>
                <a:latin typeface="Aptos"/>
              </a:rPr>
              <a:t>每一組候選牌都交給</a:t>
            </a:r>
            <a:r>
              <a:rPr sz="1000" dirty="0">
                <a:solidFill>
                  <a:srgbClr val="5E6D85"/>
                </a:solidFill>
                <a:latin typeface="Aptos"/>
              </a:rPr>
              <a:t> score()，</a:t>
            </a:r>
            <a:r>
              <a:rPr sz="1000" dirty="0" err="1">
                <a:solidFill>
                  <a:srgbClr val="5E6D85"/>
                </a:solidFill>
                <a:latin typeface="Aptos"/>
              </a:rPr>
              <a:t>再由</a:t>
            </a:r>
            <a:r>
              <a:rPr sz="1000" dirty="0">
                <a:solidFill>
                  <a:srgbClr val="5E6D85"/>
                </a:solidFill>
                <a:latin typeface="Aptos"/>
              </a:rPr>
              <a:t> </a:t>
            </a:r>
            <a:r>
              <a:rPr sz="1000" dirty="0" err="1">
                <a:solidFill>
                  <a:srgbClr val="5E6D85"/>
                </a:solidFill>
                <a:latin typeface="Aptos"/>
              </a:rPr>
              <a:t>Round.determine_hand_strength</a:t>
            </a:r>
            <a:r>
              <a:rPr sz="1000" dirty="0">
                <a:solidFill>
                  <a:srgbClr val="5E6D85"/>
                </a:solidFill>
                <a:latin typeface="Aptos"/>
              </a:rPr>
              <a:t>() </a:t>
            </a:r>
            <a:r>
              <a:rPr sz="1000" dirty="0" err="1">
                <a:solidFill>
                  <a:srgbClr val="5E6D85"/>
                </a:solidFill>
                <a:latin typeface="Aptos"/>
              </a:rPr>
              <a:t>取得分數</a:t>
            </a:r>
            <a:r>
              <a:rPr sz="1000" dirty="0">
                <a:solidFill>
                  <a:srgbClr val="5E6D85"/>
                </a:solidFill>
                <a:latin typeface="Aptos"/>
              </a:rPr>
              <a:t>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5074920"/>
            <a:ext cx="493776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27648" y="5146008"/>
            <a:ext cx="452628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dirty="0" err="1">
                <a:solidFill>
                  <a:srgbClr val="0D1B30"/>
                </a:solidFill>
                <a:latin typeface="+mj-lt"/>
              </a:rPr>
              <a:t>重點：比牌規則只維護一份，自動選牌只需要反覆比較</a:t>
            </a:r>
            <a:r>
              <a:rPr sz="1150" b="1" dirty="0">
                <a:solidFill>
                  <a:srgbClr val="0D1B30"/>
                </a:solidFill>
                <a:latin typeface="+mj-lt"/>
              </a:rPr>
              <a:t> strength。</a:t>
            </a:r>
          </a:p>
        </p:txBody>
      </p:sp>
      <p:sp>
        <p:nvSpPr>
          <p:cNvPr id="49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41060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TW" sz="950" b="1" dirty="0" smtClean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</a:t>
            </a:r>
            <a:r>
              <a:rPr lang="en-US" sz="950" b="1" dirty="0" smtClean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950" b="1" dirty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950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限時問答挑戰 </a:t>
            </a:r>
            <a:r>
              <a:rPr lang="en-US" altLang="zh-TW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可以挑戰、並提供檢討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現時</a:t>
            </a:r>
            <a:r>
              <a:rPr lang="en-US" altLang="zh-TW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r>
              <a:rPr lang="zh-TW" alt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秒答題挑戰，考驗玩家對</a:t>
            </a:r>
            <a:r>
              <a:rPr lang="en-US" altLang="zh-TW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</a:t>
            </a:r>
            <a:r>
              <a:rPr lang="zh-TW" alt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程式基本概念的了解，並提供閱讀與維護的功能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" y="1847088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12648" y="1865376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195681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50392" y="19568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96696" y="195681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ppt_build/screenshots/08-poker-auto-select.png"/>
          <p:cNvPicPr>
            <a:picLocks noChangeAspect="1"/>
          </p:cNvPicPr>
          <p:nvPr/>
        </p:nvPicPr>
        <p:blipFill>
          <a:blip r:embed="rId3"/>
          <a:srcRect l="1908" r="1908"/>
          <a:stretch/>
        </p:blipFill>
        <p:spPr>
          <a:xfrm>
            <a:off x="630936" y="2157984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236208" y="1847088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245352" y="1865376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336792" y="195681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483096" y="19568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629400" y="195681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9-poker-result.png"/>
          <p:cNvPicPr>
            <a:picLocks noChangeAspect="1"/>
          </p:cNvPicPr>
          <p:nvPr/>
        </p:nvPicPr>
        <p:blipFill>
          <a:blip r:embed="rId4"/>
          <a:srcRect l="1908" r="1908"/>
          <a:stretch/>
        </p:blipFill>
        <p:spPr>
          <a:xfrm>
            <a:off x="6263640" y="2157984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32044" y="1469413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705196" y="1537993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TW" altLang="en-US" sz="9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亂數排列產生答題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336792" y="144225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6409944" y="151083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TW" altLang="en-US" sz="9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得分與閱卷檢討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069848" y="5522976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1069848" y="5522976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1298448" y="5650992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250" b="1" dirty="0" err="1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玩家身分</a:t>
            </a: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zh-TW" alt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加入挑戰</a:t>
            </a: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，並顯示剩餘時間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92824" y="5522976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6592824" y="5522976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6821424" y="5650992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 err="1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</a:t>
            </a:r>
            <a:r>
              <a:rPr lang="zh-TW" alt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</a:t>
            </a: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分數，並提供答案對比的檢討結果</a:t>
            </a:r>
            <a:endParaRPr lang="en-US" sz="1250" dirty="0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 rotWithShape="1">
          <a:blip r:embed="rId5"/>
          <a:srcRect b="17310"/>
          <a:stretch/>
        </p:blipFill>
        <p:spPr>
          <a:xfrm>
            <a:off x="6409944" y="2231136"/>
            <a:ext cx="4736592" cy="2761488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 rotWithShape="1">
          <a:blip r:embed="rId6"/>
          <a:srcRect b="6260"/>
          <a:stretch/>
        </p:blipFill>
        <p:spPr>
          <a:xfrm>
            <a:off x="704088" y="2227812"/>
            <a:ext cx="4830581" cy="2763150"/>
          </a:xfrm>
          <a:prstGeom prst="rect">
            <a:avLst/>
          </a:prstGeom>
        </p:spPr>
      </p:pic>
      <p:sp>
        <p:nvSpPr>
          <p:cNvPr id="35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51120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TW" sz="950" b="1" dirty="0" smtClean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</a:t>
            </a:r>
            <a:r>
              <a:rPr lang="en-US" sz="950" b="1" dirty="0" smtClean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950" b="1" dirty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950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限時問答挑戰 </a:t>
            </a:r>
            <a:r>
              <a:rPr lang="en-US" altLang="zh-TW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題目維護與排行榜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</a:rPr>
              <a:t>提供</a:t>
            </a:r>
            <a:r>
              <a:rPr lang="zh-TW" alt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</a:rPr>
              <a:t>題目新增、修改、刪除等維護功能，並將玩家成績做成排行榜以資鼓勵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" y="2099610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12648" y="2117898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220933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50392" y="220933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96696" y="220933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ppt_build/screenshots/08-poker-auto-select.png"/>
          <p:cNvPicPr>
            <a:picLocks noChangeAspect="1"/>
          </p:cNvPicPr>
          <p:nvPr/>
        </p:nvPicPr>
        <p:blipFill>
          <a:blip r:embed="rId3"/>
          <a:srcRect l="1908" r="1908"/>
          <a:stretch/>
        </p:blipFill>
        <p:spPr>
          <a:xfrm>
            <a:off x="630936" y="2410506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236208" y="2099610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245352" y="2117898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336792" y="220933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483096" y="220933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629400" y="220933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9-poker-result.png"/>
          <p:cNvPicPr>
            <a:picLocks noChangeAspect="1"/>
          </p:cNvPicPr>
          <p:nvPr/>
        </p:nvPicPr>
        <p:blipFill>
          <a:blip r:embed="rId4"/>
          <a:srcRect l="1908" r="1908"/>
          <a:stretch/>
        </p:blipFill>
        <p:spPr>
          <a:xfrm>
            <a:off x="6263640" y="2410506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30937" y="1642226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704089" y="1710806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TW" altLang="en-US" sz="9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題目維護頁面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236208" y="1613223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6309360" y="1681803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TW" altLang="en-US" sz="9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玩家分數排行榜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069848" y="5775498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1069848" y="5775498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1298448" y="5903514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玩家登入即可維護問答題目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92824" y="5775498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6592824" y="5775498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6821424" y="5903514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會記錄玩家分數，依照高低排行成績</a:t>
            </a:r>
            <a:endParaRPr lang="en-US" sz="1250" dirty="0"/>
          </a:p>
        </p:txBody>
      </p:sp>
      <p:pic>
        <p:nvPicPr>
          <p:cNvPr id="34" name="圖片 33"/>
          <p:cNvPicPr>
            <a:picLocks noChangeAspect="1"/>
          </p:cNvPicPr>
          <p:nvPr/>
        </p:nvPicPr>
        <p:blipFill rotWithShape="1">
          <a:blip r:embed="rId5"/>
          <a:srcRect b="6260"/>
          <a:stretch/>
        </p:blipFill>
        <p:spPr>
          <a:xfrm>
            <a:off x="704088" y="2480334"/>
            <a:ext cx="4830581" cy="2763150"/>
          </a:xfrm>
          <a:prstGeom prst="rect">
            <a:avLst/>
          </a:prstGeom>
        </p:spPr>
      </p:pic>
      <p:pic>
        <p:nvPicPr>
          <p:cNvPr id="101" name="圖片 100"/>
          <p:cNvPicPr>
            <a:picLocks noChangeAspect="1"/>
          </p:cNvPicPr>
          <p:nvPr/>
        </p:nvPicPr>
        <p:blipFill rotWithShape="1">
          <a:blip r:embed="rId6"/>
          <a:srcRect b="12330"/>
          <a:stretch/>
        </p:blipFill>
        <p:spPr>
          <a:xfrm>
            <a:off x="704089" y="2483659"/>
            <a:ext cx="4809744" cy="2751512"/>
          </a:xfrm>
          <a:prstGeom prst="rect">
            <a:avLst/>
          </a:prstGeom>
        </p:spPr>
      </p:pic>
      <p:pic>
        <p:nvPicPr>
          <p:cNvPr id="102" name="圖片 101"/>
          <p:cNvPicPr>
            <a:picLocks noChangeAspect="1"/>
          </p:cNvPicPr>
          <p:nvPr/>
        </p:nvPicPr>
        <p:blipFill rotWithShape="1">
          <a:blip r:embed="rId7"/>
          <a:srcRect b="10934"/>
          <a:stretch/>
        </p:blipFill>
        <p:spPr>
          <a:xfrm>
            <a:off x="6409945" y="2494992"/>
            <a:ext cx="4736592" cy="2750154"/>
          </a:xfrm>
          <a:prstGeom prst="rect">
            <a:avLst/>
          </a:prstGeom>
        </p:spPr>
      </p:pic>
      <p:sp>
        <p:nvSpPr>
          <p:cNvPr id="35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86194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280160"/>
            <a:ext cx="10241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從會員到遊戲，平台已形成可展示的完整流程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02352" y="2066544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975104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共用登入、遊戲目錄、組隊與房間流程，再由個別遊戲處理自己的規則。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82880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房間 → 遊戲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7492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共同平台 + 獨立遊戲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32104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項測試 + 實機流程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5394960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· Q&amp;A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2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1155</Words>
  <Application>Microsoft Office PowerPoint</Application>
  <PresentationFormat>寬螢幕</PresentationFormat>
  <Paragraphs>398</Paragraphs>
  <Slides>20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Aptos</vt:lpstr>
      <vt:lpstr>Microsoft JhengHei</vt:lpstr>
      <vt:lpstr>新細明體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Java 全端職訓小組專題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遊戲對戰平台 GamePlatform</dc:title>
  <dc:subject>簡易遊戲平台小組專題成果報告</dc:subject>
  <dc:creator>OpenAI</dc:creator>
  <cp:lastModifiedBy>student</cp:lastModifiedBy>
  <cp:revision>17</cp:revision>
  <cp:lastPrinted>2026-09-04T09:28:26Z</cp:lastPrinted>
  <dcterms:created xsi:type="dcterms:W3CDTF">2026-09-03T07:23:02Z</dcterms:created>
  <dcterms:modified xsi:type="dcterms:W3CDTF">2026-09-07T07:32:53Z</dcterms:modified>
</cp:coreProperties>
</file>