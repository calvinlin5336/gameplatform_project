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73" r:id="rId5"/>
    <p:sldId id="275" r:id="rId6"/>
    <p:sldId id="259" r:id="rId7"/>
    <p:sldId id="260" r:id="rId8"/>
    <p:sldId id="261" r:id="rId9"/>
    <p:sldId id="262" r:id="rId10"/>
    <p:sldId id="263" r:id="rId11"/>
    <p:sldId id="278" r:id="rId12"/>
    <p:sldId id="264" r:id="rId13"/>
    <p:sldId id="265" r:id="rId14"/>
    <p:sldId id="266" r:id="rId15"/>
    <p:sldId id="279" r:id="rId16"/>
    <p:sldId id="280" r:id="rId17"/>
    <p:sldId id="272" r:id="rId18"/>
    <p:sldId id="276" r:id="rId19"/>
    <p:sldId id="277" r:id="rId20"/>
    <p:sldId id="270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9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7369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本頁直接使用素材資料夾中的完整 UI 使用者流程圖。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7445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加入 Lobby 說明，並將 Game/GameMode/Room/RoomPlayers 關聯集中呈現。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8511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4546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52134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8327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85295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0"/>
            <a:ext cx="4425696" cy="6858000"/>
          </a:xfrm>
          <a:prstGeom prst="rect">
            <a:avLst/>
          </a:prstGeom>
          <a:solidFill>
            <a:srgbClr val="EAF2FF"/>
          </a:solidFill>
          <a:ln w="12700">
            <a:solidFill>
              <a:srgbClr val="EAF2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10528" y="832104"/>
            <a:ext cx="5038344" cy="3232820"/>
          </a:xfrm>
          <a:prstGeom prst="roundRect">
            <a:avLst>
              <a:gd name="adj" fmla="val 2764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11112" y="941832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57416" y="941832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03720" y="941832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" y="960120"/>
            <a:ext cx="21031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94944" y="1353312"/>
            <a:ext cx="5303520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遊戲對戰平台</a:t>
            </a:r>
            <a:endParaRPr lang="en-US" sz="38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" y="2176272"/>
            <a:ext cx="4800600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從會員登入、遊戲大廳、組隊與房間，</a:t>
            </a:r>
            <a:endParaRPr lang="en-US" sz="18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到進入遊戲的一體化平台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13232" y="3182112"/>
            <a:ext cx="658368" cy="5486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3232" y="3401568"/>
            <a:ext cx="4206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全端工程師職訓 · 小組專題成果報告</a:t>
            </a:r>
            <a:endParaRPr lang="en-US" sz="1330" dirty="0"/>
          </a:p>
        </p:txBody>
      </p:sp>
      <p:sp>
        <p:nvSpPr>
          <p:cNvPr id="16" name="Shape 13"/>
          <p:cNvSpPr/>
          <p:nvPr/>
        </p:nvSpPr>
        <p:spPr>
          <a:xfrm>
            <a:off x="713232" y="559612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6384" y="5664708"/>
            <a:ext cx="8138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4F46E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810512" y="559612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83664" y="5664708"/>
            <a:ext cx="8138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SQLite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2907792" y="559612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80944" y="5664708"/>
            <a:ext cx="8138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4F46E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REST API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005072" y="559612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78224" y="5664708"/>
            <a:ext cx="8138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WebSocket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0863072" y="6144768"/>
            <a:ext cx="71323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</a:t>
            </a:r>
            <a:endParaRPr lang="en-US" sz="1000" dirty="0"/>
          </a:p>
        </p:txBody>
      </p:sp>
      <p:pic>
        <p:nvPicPr>
          <p:cNvPr id="26" name="圖片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7005" y="1234440"/>
            <a:ext cx="4885390" cy="266092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PROJECT GOAL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我們做的不是單一遊戲，而是一條完整的遊玩流程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玩家真正需要的，是從登入、找到遊戲，到和其他玩家一起開始遊戲都能順暢銜接。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2240280"/>
            <a:ext cx="1874520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0160">
            <a:solidFill>
              <a:srgbClr val="D7E0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7824" y="2441448"/>
            <a:ext cx="237744" cy="23774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36829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選擇遊戲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68833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集中顯示遊戲與模式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70048" y="2560320"/>
            <a:ext cx="237744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80944" y="2240280"/>
            <a:ext cx="1874520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0160">
            <a:solidFill>
              <a:srgbClr val="D7E0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45536" y="2441448"/>
            <a:ext cx="237744" cy="23774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45536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36829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尋找玩家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268833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大廳與組隊公告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937760" y="2560320"/>
            <a:ext cx="237744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48656" y="2240280"/>
            <a:ext cx="1874520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0160">
            <a:solidFill>
              <a:srgbClr val="D7E0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13248" y="2441448"/>
            <a:ext cx="237744" cy="237744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13248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742432" y="236829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建立房間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5742432" y="268833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依模式驗證人數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05472" y="2560320"/>
            <a:ext cx="237744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16368" y="2240280"/>
            <a:ext cx="1874520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0160">
            <a:solidFill>
              <a:srgbClr val="D7E0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80960" y="2441448"/>
            <a:ext cx="237744" cy="23774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80960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010144" y="236829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等待同步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010144" y="268833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房主與玩家名單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473184" y="2560320"/>
            <a:ext cx="237744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84080" y="2240280"/>
            <a:ext cx="1874520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0160">
            <a:solidFill>
              <a:srgbClr val="D7E0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48672" y="2441448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948672" y="24414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10277856" y="236829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開始遊戲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10277856" y="2688336"/>
            <a:ext cx="123444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帶入房號與身分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325880" y="4251960"/>
            <a:ext cx="9555480" cy="713232"/>
          </a:xfrm>
          <a:prstGeom prst="roundRect">
            <a:avLst>
              <a:gd name="adj" fmla="val 15385"/>
            </a:avLst>
          </a:prstGeom>
          <a:solidFill>
            <a:srgbClr val="FBFDFF"/>
          </a:solidFill>
          <a:ln w="13970">
            <a:solidFill>
              <a:srgbClr val="4F46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25880" y="4251960"/>
            <a:ext cx="73152" cy="71323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554480" y="4379976"/>
            <a:ext cx="918972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共用會員、遊戲目錄與房間流程，個別遊戲只專注自己的規則與對局。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4F46E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SYSTEM MODULES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六個模組共同組成遊戲平台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這一頁只看「系統責任」，不是組員分工。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17720" y="2148840"/>
            <a:ext cx="2944368" cy="960120"/>
          </a:xfrm>
          <a:prstGeom prst="roundRect">
            <a:avLst>
              <a:gd name="adj" fmla="val 11429"/>
            </a:avLst>
          </a:prstGeom>
          <a:solidFill>
            <a:srgbClr val="F0F6FF"/>
          </a:solidFill>
          <a:ln w="1016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2377440"/>
            <a:ext cx="2441448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2724912"/>
            <a:ext cx="244144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共用身分、目錄與流程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" y="2289741"/>
            <a:ext cx="2267712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0160">
            <a:solidFill>
              <a:srgbClr val="0891B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14984" y="2408613"/>
            <a:ext cx="1975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</a:t>
            </a:r>
            <a:endParaRPr lang="en-US" sz="133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719509"/>
            <a:ext cx="19751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 · JWT · 會員管理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694944" y="4005072"/>
            <a:ext cx="2267712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4123944"/>
            <a:ext cx="1975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Management</a:t>
            </a:r>
            <a:endParaRPr lang="en-US" sz="133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4434840"/>
            <a:ext cx="19751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 · 模式 · 入口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3035808" y="4617720"/>
            <a:ext cx="2267712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182112" y="4736592"/>
            <a:ext cx="1975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</a:t>
            </a:r>
            <a:endParaRPr lang="en-US" sz="1330" dirty="0"/>
          </a:p>
        </p:txBody>
      </p:sp>
      <p:sp>
        <p:nvSpPr>
          <p:cNvPr id="22" name="Text 20"/>
          <p:cNvSpPr txBox="1"/>
          <p:nvPr/>
        </p:nvSpPr>
        <p:spPr>
          <a:xfrm>
            <a:off x="3182112" y="5047488"/>
            <a:ext cx="19751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建房 · 入房 · 等待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6876288" y="4617720"/>
            <a:ext cx="2267712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22592" y="4736592"/>
            <a:ext cx="1975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Board</a:t>
            </a:r>
            <a:endParaRPr lang="en-US" sz="1330" dirty="0"/>
          </a:p>
        </p:txBody>
      </p:sp>
      <p:sp>
        <p:nvSpPr>
          <p:cNvPr id="25" name="Text 23"/>
          <p:cNvSpPr txBox="1"/>
          <p:nvPr/>
        </p:nvSpPr>
        <p:spPr>
          <a:xfrm>
            <a:off x="7022592" y="5047488"/>
            <a:ext cx="19751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組隊 · 申請 · 通知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8970264" y="2139696"/>
            <a:ext cx="2267712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16568" y="2258568"/>
            <a:ext cx="1975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</a:t>
            </a:r>
            <a:endParaRPr lang="en-US" sz="1330" dirty="0"/>
          </a:p>
        </p:txBody>
      </p:sp>
      <p:sp>
        <p:nvSpPr>
          <p:cNvPr id="28" name="Text 26"/>
          <p:cNvSpPr txBox="1"/>
          <p:nvPr/>
        </p:nvSpPr>
        <p:spPr>
          <a:xfrm>
            <a:off x="9116568" y="2569464"/>
            <a:ext cx="19751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聊天室即時訊息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9162288" y="4005072"/>
            <a:ext cx="2267712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0160">
            <a:solidFill>
              <a:srgbClr val="E11D4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308592" y="4123944"/>
            <a:ext cx="19751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30" b="1" dirty="0">
                <a:solidFill>
                  <a:srgbClr val="E11D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Games</a:t>
            </a:r>
            <a:endParaRPr lang="en-US" sz="1330" dirty="0"/>
          </a:p>
        </p:txBody>
      </p:sp>
      <p:sp>
        <p:nvSpPr>
          <p:cNvPr id="31" name="Text 29"/>
          <p:cNvSpPr txBox="1"/>
          <p:nvPr/>
        </p:nvSpPr>
        <p:spPr>
          <a:xfrm>
            <a:off x="9308592" y="4434840"/>
            <a:ext cx="19751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· Quiz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3182112" y="2598559"/>
            <a:ext cx="13716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16952" y="2587752"/>
            <a:ext cx="1353312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089904" y="3182112"/>
            <a:ext cx="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89904" y="3182112"/>
            <a:ext cx="0" cy="123444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87952" y="4416552"/>
            <a:ext cx="3776472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 w="12700">
            <a:solidFill>
              <a:srgbClr val="F7FA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92840" y="0"/>
            <a:ext cx="896112" cy="6858000"/>
          </a:xfrm>
          <a:prstGeom prst="rect">
            <a:avLst/>
          </a:prstGeom>
          <a:solidFill>
            <a:srgbClr val="EAF7FB">
              <a:alpha val="85000"/>
            </a:srgbClr>
          </a:solidFill>
          <a:ln w="12700">
            <a:solidFill>
              <a:srgbClr val="EAF7F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384048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USER FLOW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dirty="0" err="1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</a:t>
            </a:r>
            <a:r>
              <a:rPr lang="en-US" sz="20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000" b="1" dirty="0" err="1" smtClean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使用者流程圖</a:t>
            </a:r>
            <a:r>
              <a:rPr lang="en-US" sz="2000" b="1" dirty="0" err="1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2000" b="1" dirty="0" err="1" smtClean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實際畫面串接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94360" y="1170432"/>
            <a:ext cx="960120" cy="0"/>
          </a:xfrm>
          <a:prstGeom prst="line">
            <a:avLst/>
          </a:prstGeom>
          <a:noFill/>
          <a:ln w="279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731520" y="1298448"/>
            <a:ext cx="1005840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03504" y="1664208"/>
            <a:ext cx="10817352" cy="4233672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  <a:effectLst>
            <a:outerShdw blurRad="12700" dist="50800" dir="27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13" name="Image 0" descr="/mnt/data/material_ui_fl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3764" y="1700784"/>
            <a:ext cx="6656832" cy="416052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22960" y="6035040"/>
            <a:ext cx="786384" cy="219456"/>
          </a:xfrm>
          <a:prstGeom prst="roundRect">
            <a:avLst>
              <a:gd name="adj" fmla="val 29167"/>
            </a:avLst>
          </a:prstGeom>
          <a:solidFill>
            <a:srgbClr val="2563EB">
              <a:alpha val="12000"/>
            </a:srgbClr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59536" y="6095723"/>
            <a:ext cx="7132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主流程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91640" y="6067044"/>
            <a:ext cx="676656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93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登入／註冊 → 平台主頁 → 遊戲大廳 → 建立房間 → 等待室 → 進入遊戲</a:t>
            </a:r>
          </a:p>
        </p:txBody>
      </p:sp>
      <p:sp>
        <p:nvSpPr>
          <p:cNvPr id="17" name="Shape 14"/>
          <p:cNvSpPr/>
          <p:nvPr/>
        </p:nvSpPr>
        <p:spPr>
          <a:xfrm>
            <a:off x="7539228" y="6022571"/>
            <a:ext cx="786384" cy="219456"/>
          </a:xfrm>
          <a:prstGeom prst="roundRect">
            <a:avLst>
              <a:gd name="adj" fmla="val 29167"/>
            </a:avLst>
          </a:prstGeom>
          <a:solidFill>
            <a:srgbClr val="059669">
              <a:alpha val="12000"/>
            </a:srgbClr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575804" y="6089904"/>
            <a:ext cx="7132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組隊流程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8366760" y="6062472"/>
            <a:ext cx="29260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Autofit/>
          </a:bodyPr>
          <a:lstStyle/>
          <a:p>
            <a:pPr>
              <a:lnSpc>
                <a:spcPct val="110000"/>
              </a:lnSpc>
            </a:pPr>
            <a:r>
              <a:rPr lang="en-US" sz="93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 → 申請加入 → 隊長審核 → 隊伍額滿 → 自動建房</a:t>
            </a:r>
          </a:p>
        </p:txBody>
      </p:sp>
      <p:sp>
        <p:nvSpPr>
          <p:cNvPr id="21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3671126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material_ui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66" y="0"/>
            <a:ext cx="12175734" cy="7609834"/>
          </a:xfrm>
          <a:prstGeom prst="rect">
            <a:avLst/>
          </a:prstGeom>
        </p:spPr>
      </p:pic>
      <p:sp>
        <p:nvSpPr>
          <p:cNvPr id="3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982823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SYSTEM ARCHITECTURE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前端、Spring Boot 與 SQLite 串起所有模組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 err="1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主要採用</a:t>
            </a:r>
            <a:r>
              <a:rPr lang="en-US" sz="1250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HTML、CSS、JavaScript 與 jQuery，後端由 Spring Boot 提供 API。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32688" y="1874520"/>
            <a:ext cx="101498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70432" y="2029968"/>
            <a:ext cx="141732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BROWSER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2093976"/>
            <a:ext cx="39319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HTML · CSS · JavaScript · jQuery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7333488" y="2112264"/>
            <a:ext cx="3429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畫面、表單與操作狀態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897880" y="2788920"/>
            <a:ext cx="347472" cy="219456"/>
          </a:xfrm>
          <a:prstGeom prst="down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32688" y="3200400"/>
            <a:ext cx="101498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70432" y="3355848"/>
            <a:ext cx="141732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4F46E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670048" y="3419856"/>
            <a:ext cx="39319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REST API · WebSocket · JWT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33488" y="3438144"/>
            <a:ext cx="3429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Controller → Service → Repository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897880" y="4114800"/>
            <a:ext cx="347472" cy="219456"/>
          </a:xfrm>
          <a:prstGeom prst="down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32688" y="4526280"/>
            <a:ext cx="101498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70432" y="4681728"/>
            <a:ext cx="141732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2670048" y="4745736"/>
            <a:ext cx="3931920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SQLite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333488" y="4764024"/>
            <a:ext cx="3429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0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JPA／Hibernate + JDBC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1874520" y="5669280"/>
            <a:ext cx="8412480" cy="384048"/>
          </a:xfrm>
          <a:prstGeom prst="roundRect">
            <a:avLst>
              <a:gd name="adj" fmla="val 28571"/>
            </a:avLst>
          </a:prstGeom>
          <a:solidFill>
            <a:srgbClr val="EEF7FF"/>
          </a:solidFill>
          <a:ln w="10160">
            <a:solidFill>
              <a:srgbClr val="D9EAF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048256" y="5760720"/>
            <a:ext cx="80650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 · Game Management · Lobby · Board · Chat · Poker · Quiz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USER FLOW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網頁使用流程：從登入到進入遊戲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同一個平台身分貫穿所有步驟，遊戲頁不需要再次建立獨立帳號。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152144" y="2130552"/>
            <a:ext cx="438912" cy="438912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52144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" y="2788920"/>
            <a:ext cx="15727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260" dirty="0"/>
          </a:p>
        </p:txBody>
      </p:sp>
      <p:sp>
        <p:nvSpPr>
          <p:cNvPr id="14" name="Text 12"/>
          <p:cNvSpPr txBox="1"/>
          <p:nvPr/>
        </p:nvSpPr>
        <p:spPr>
          <a:xfrm>
            <a:off x="585216" y="3108960"/>
            <a:ext cx="157276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2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 JWT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1975104" y="2267712"/>
            <a:ext cx="31089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26664" y="2130552"/>
            <a:ext cx="438912" cy="43891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26664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2459736" y="2788920"/>
            <a:ext cx="15727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選遊戲</a:t>
            </a:r>
            <a:endParaRPr lang="en-US" sz="1260" dirty="0"/>
          </a:p>
        </p:txBody>
      </p:sp>
      <p:sp>
        <p:nvSpPr>
          <p:cNvPr id="19" name="Text 17"/>
          <p:cNvSpPr txBox="1"/>
          <p:nvPr/>
        </p:nvSpPr>
        <p:spPr>
          <a:xfrm>
            <a:off x="2459736" y="3108960"/>
            <a:ext cx="157276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2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 Game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849624" y="2267712"/>
            <a:ext cx="31089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901184" y="2130552"/>
            <a:ext cx="438912" cy="438912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01184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34256" y="2788920"/>
            <a:ext cx="15727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選模式</a:t>
            </a:r>
            <a:endParaRPr lang="en-US" sz="1260" dirty="0"/>
          </a:p>
        </p:txBody>
      </p:sp>
      <p:sp>
        <p:nvSpPr>
          <p:cNvPr id="24" name="Text 22"/>
          <p:cNvSpPr txBox="1"/>
          <p:nvPr/>
        </p:nvSpPr>
        <p:spPr>
          <a:xfrm>
            <a:off x="4334256" y="3108960"/>
            <a:ext cx="157276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2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 GameMode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5724144" y="2267712"/>
            <a:ext cx="31089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75704" y="2130552"/>
            <a:ext cx="438912" cy="438912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75704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208776" y="2788920"/>
            <a:ext cx="15727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組隊／建房</a:t>
            </a:r>
            <a:endParaRPr lang="en-US" sz="1260" dirty="0"/>
          </a:p>
        </p:txBody>
      </p:sp>
      <p:sp>
        <p:nvSpPr>
          <p:cNvPr id="29" name="Text 27"/>
          <p:cNvSpPr txBox="1"/>
          <p:nvPr/>
        </p:nvSpPr>
        <p:spPr>
          <a:xfrm>
            <a:off x="6208776" y="3108960"/>
            <a:ext cx="157276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2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驗證人數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7598664" y="2267712"/>
            <a:ext cx="31089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50224" y="2130552"/>
            <a:ext cx="438912" cy="43891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50224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8083296" y="2788920"/>
            <a:ext cx="15727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等待開始</a:t>
            </a:r>
            <a:endParaRPr lang="en-US" sz="1260" dirty="0"/>
          </a:p>
        </p:txBody>
      </p:sp>
      <p:sp>
        <p:nvSpPr>
          <p:cNvPr id="34" name="Text 32"/>
          <p:cNvSpPr txBox="1"/>
          <p:nvPr/>
        </p:nvSpPr>
        <p:spPr>
          <a:xfrm>
            <a:off x="8083296" y="3108960"/>
            <a:ext cx="157276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2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同步玩家名單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9473184" y="2267712"/>
            <a:ext cx="31089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524744" y="2130552"/>
            <a:ext cx="438912" cy="438912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524744" y="2130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957816" y="2788920"/>
            <a:ext cx="1572768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6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進入遊戲</a:t>
            </a:r>
            <a:endParaRPr lang="en-US" sz="1260" dirty="0"/>
          </a:p>
        </p:txBody>
      </p:sp>
      <p:sp>
        <p:nvSpPr>
          <p:cNvPr id="39" name="Text 37"/>
          <p:cNvSpPr txBox="1"/>
          <p:nvPr/>
        </p:nvSpPr>
        <p:spPr>
          <a:xfrm>
            <a:off x="9957816" y="3108960"/>
            <a:ext cx="157276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2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帶入 room ID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1188720" y="4315968"/>
            <a:ext cx="9802368" cy="777240"/>
          </a:xfrm>
          <a:prstGeom prst="roundRect">
            <a:avLst>
              <a:gd name="adj" fmla="val 14118"/>
            </a:avLst>
          </a:prstGeom>
          <a:solidFill>
            <a:srgbClr val="FBFD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188720" y="4315968"/>
            <a:ext cx="73152" cy="777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417320" y="4443984"/>
            <a:ext cx="9436608" cy="548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TW" alt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從資料庫讀取遊戲</a:t>
            </a:r>
            <a:r>
              <a:rPr lang="zh-TW" alt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r>
              <a:rPr lang="en-US" altLang="zh-TW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	 </a:t>
            </a:r>
            <a:r>
              <a:rPr lang="en-US" altLang="zh-TW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=&gt;        </a:t>
            </a:r>
            <a:r>
              <a:rPr lang="en-US" sz="1250" b="1" dirty="0" err="1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決定要開啟哪個遊戲頁面</a:t>
            </a:r>
            <a:r>
              <a:rPr 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	 =&gt;       </a:t>
            </a:r>
            <a:r>
              <a:rPr 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 </a:t>
            </a: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ID 讓遊戲取得本次房間、模式與玩家資訊。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4F46E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/ MODE / ROOM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Game、GameMode 與 Room 把遊戲設定從房間邏輯中抽離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保存遊戲入口，GameMode 保存模式限制，Room 保存一次等待中的對局。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883664"/>
            <a:ext cx="2212848" cy="251460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121408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86968" y="2560320"/>
            <a:ext cx="1755648" cy="0"/>
          </a:xfrm>
          <a:prstGeom prst="line">
            <a:avLst/>
          </a:prstGeom>
          <a:noFill/>
          <a:ln w="12700">
            <a:solidFill>
              <a:srgbClr val="E7ED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7824" y="2816352"/>
            <a:ext cx="1783080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/ QUIZ</a:t>
            </a:r>
            <a:endParaRPr lang="en-US" sz="102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遊戲名稱 · 入口路徑</a:t>
            </a:r>
            <a:endParaRPr lang="en-US" sz="102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 · 啟用狀態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2980944" y="2944368"/>
            <a:ext cx="338328" cy="109728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0" y="1883664"/>
            <a:ext cx="2212848" cy="251460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21024" y="2121408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GameMode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3703320" y="2560320"/>
            <a:ext cx="1755648" cy="0"/>
          </a:xfrm>
          <a:prstGeom prst="line">
            <a:avLst/>
          </a:prstGeom>
          <a:noFill/>
          <a:ln w="12700">
            <a:solidFill>
              <a:srgbClr val="E7ED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94176" y="2816352"/>
            <a:ext cx="1783080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PLAYER / COMPUTER</a:t>
            </a:r>
            <a:endParaRPr lang="en-US" sz="102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minPlayers · maxPlayers</a:t>
            </a:r>
            <a:endParaRPr lang="en-US" sz="102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computerPlayers</a:t>
            </a:r>
            <a:endParaRPr lang="en-US" sz="1020" dirty="0"/>
          </a:p>
        </p:txBody>
      </p:sp>
      <p:sp>
        <p:nvSpPr>
          <p:cNvPr id="20" name="Shape 18"/>
          <p:cNvSpPr/>
          <p:nvPr/>
        </p:nvSpPr>
        <p:spPr>
          <a:xfrm>
            <a:off x="5797296" y="2944368"/>
            <a:ext cx="338328" cy="109728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91072" y="1883664"/>
            <a:ext cx="2212848" cy="251460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37376" y="2121408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19672" y="2560320"/>
            <a:ext cx="1755648" cy="0"/>
          </a:xfrm>
          <a:prstGeom prst="line">
            <a:avLst/>
          </a:prstGeom>
          <a:noFill/>
          <a:ln w="12700">
            <a:solidFill>
              <a:srgbClr val="E7EDF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2816352"/>
            <a:ext cx="1783080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gameId + modeId</a:t>
            </a:r>
            <a:endParaRPr lang="en-US" sz="102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hostAccount · players</a:t>
            </a:r>
            <a:endParaRPr lang="en-US" sz="102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</a:t>
            </a:r>
            <a:endParaRPr lang="en-US" sz="1020" dirty="0"/>
          </a:p>
        </p:txBody>
      </p:sp>
      <p:sp>
        <p:nvSpPr>
          <p:cNvPr id="25" name="Shape 23"/>
          <p:cNvSpPr/>
          <p:nvPr/>
        </p:nvSpPr>
        <p:spPr>
          <a:xfrm>
            <a:off x="8613648" y="2944368"/>
            <a:ext cx="338328" cy="109728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07424" y="1883664"/>
            <a:ext cx="2212848" cy="2514600"/>
          </a:xfrm>
          <a:prstGeom prst="roundRect">
            <a:avLst>
              <a:gd name="adj" fmla="val 4959"/>
            </a:avLst>
          </a:prstGeom>
          <a:solidFill>
            <a:srgbClr val="FFFFFF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3728" y="2121408"/>
            <a:ext cx="192024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Page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336024" y="2560320"/>
            <a:ext cx="1755648" cy="0"/>
          </a:xfrm>
          <a:prstGeom prst="line">
            <a:avLst/>
          </a:prstGeom>
          <a:noFill/>
          <a:ln w="12700">
            <a:solidFill>
              <a:srgbClr val="E7EDF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0" y="2816352"/>
            <a:ext cx="1783080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poker_client.html</a:t>
            </a:r>
            <a:endParaRPr lang="en-US" sz="102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?room=XXXXXXXX</a:t>
            </a:r>
            <a:endParaRPr lang="en-US" sz="102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依房間資料啟動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1828800" y="5074920"/>
            <a:ext cx="8549640" cy="713232"/>
          </a:xfrm>
          <a:prstGeom prst="roundRect">
            <a:avLst>
              <a:gd name="adj" fmla="val 15385"/>
            </a:avLst>
          </a:prstGeom>
          <a:solidFill>
            <a:srgbClr val="FBFDFF"/>
          </a:solidFill>
          <a:ln w="13970">
            <a:solidFill>
              <a:srgbClr val="4F46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828800" y="5074920"/>
            <a:ext cx="73152" cy="713232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057400" y="5202936"/>
            <a:ext cx="8183880" cy="4846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房間只依 gameId / modeId 查規則，不需要把 Poker 或 Quiz 的特殊玩法寫死在通用房間模組。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 MODEL · CORE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 ER Model：會員、遊戲目錄與房間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先看會直接影響「登入 → 選遊戲 → 建房 → 進遊戲」的資料表。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938528"/>
            <a:ext cx="12801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1938528"/>
            <a:ext cx="12801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2020824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8096" y="2377440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role_name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12801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840480"/>
            <a:ext cx="12801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" y="392277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statuses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68096" y="4279392"/>
            <a:ext cx="1024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status_name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487168" y="2423160"/>
            <a:ext cx="1828800" cy="153619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87168" y="2423160"/>
            <a:ext cx="182880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06040" y="2505456"/>
            <a:ext cx="1591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615184" y="2862072"/>
            <a:ext cx="1572768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account (UQ)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username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role_id · status_id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892040" y="1938528"/>
            <a:ext cx="157276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92040" y="1938528"/>
            <a:ext cx="157276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10912" y="2020824"/>
            <a:ext cx="1335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0056" y="2377440"/>
            <a:ext cx="13167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game_id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game_code (UQ)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frontend_path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backend_path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892040" y="3840480"/>
            <a:ext cx="1755648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92040" y="3840480"/>
            <a:ext cx="1755648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010912" y="3922776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game_modes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020056" y="4279392"/>
            <a:ext cx="149961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mode_id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game_id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mode_code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min/max players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516368" y="2331720"/>
            <a:ext cx="196596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16368" y="2331720"/>
            <a:ext cx="1965960" cy="3291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635240" y="2414016"/>
            <a:ext cx="17282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7644384" y="2770632"/>
            <a:ext cx="170992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 (8碼)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game_id · mode_id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host_account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0012680" y="2596896"/>
            <a:ext cx="1481328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012680" y="2596896"/>
            <a:ext cx="1481328" cy="3291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131552" y="2679192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room_players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0140696" y="3035808"/>
            <a:ext cx="12252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player_account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56816" y="2560320"/>
            <a:ext cx="384048" cy="109728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56816" y="4142232"/>
            <a:ext cx="384048" cy="109728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656832" y="2578608"/>
            <a:ext cx="594360" cy="109728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839712" y="4315968"/>
            <a:ext cx="512064" cy="109728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564624" y="3118104"/>
            <a:ext cx="320040" cy="109728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84248" y="2139696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057400" y="2208276"/>
            <a:ext cx="3566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: N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984248" y="3712464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057400" y="3781044"/>
            <a:ext cx="3566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: N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693408" y="214884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0" y="2217420"/>
            <a:ext cx="3566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: N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6876288" y="3886200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949440" y="3954780"/>
            <a:ext cx="3566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: N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9537192" y="2706624"/>
            <a:ext cx="502920" cy="329184"/>
          </a:xfrm>
          <a:prstGeom prst="roundRect">
            <a:avLst>
              <a:gd name="adj" fmla="val 50000"/>
            </a:avLst>
          </a:prstGeom>
          <a:solidFill>
            <a:srgbClr val="F2F6F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610344" y="2775204"/>
            <a:ext cx="356616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: N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4572000" y="5623560"/>
            <a:ext cx="62636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2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rooms 同時保存 game_id 與 mode_id；room_players 是 Room.players 的 ElementCollection 關聯表。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 MODEL · BOARD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延伸 ER Model：組隊公告如何連到會員、遊戲與房間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Board 有自己的 Entity，但透過 platform_user_id、game_id、mode_id、room_id 與其他模組銜接。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50876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" y="21488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231136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86384" y="2587752"/>
            <a:ext cx="1252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account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username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560320" y="2148840"/>
            <a:ext cx="175564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60320" y="2148840"/>
            <a:ext cx="1755648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79192" y="2231136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members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688336" y="2587752"/>
            <a:ext cx="14996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platform_user_id (UQ)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account · nickname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754880" y="1965960"/>
            <a:ext cx="1947672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54880" y="1965960"/>
            <a:ext cx="1947672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73752" y="2048256"/>
            <a:ext cx="1709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team_posts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882896" y="2404872"/>
            <a:ext cx="1691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member_id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game_id · mode_id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room_id · status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252855" y="2031631"/>
            <a:ext cx="188366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252855" y="2031631"/>
            <a:ext cx="1883664" cy="329184"/>
          </a:xfrm>
          <a:prstGeom prst="rect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71727" y="2113927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join_requests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380871" y="2470543"/>
            <a:ext cx="16276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post_id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member_id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818888" y="4059936"/>
            <a:ext cx="188366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18888" y="4059936"/>
            <a:ext cx="1883664" cy="3291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0" y="414223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notifications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4946904" y="4498848"/>
            <a:ext cx="16276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member_id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post_id · message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765792" y="2071116"/>
            <a:ext cx="141732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765792" y="2071116"/>
            <a:ext cx="141732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884664" y="2153412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games / modes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893808" y="2510028"/>
            <a:ext cx="1161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game_id</a:t>
            </a:r>
            <a:endParaRPr lang="en-US" sz="85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mode_id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221992" y="2651760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89120" y="2651760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809371" y="2657164"/>
            <a:ext cx="31089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5721651" y="3722854"/>
            <a:ext cx="31089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249156" y="2659658"/>
            <a:ext cx="40233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463040" y="5440680"/>
            <a:ext cx="9372600" cy="475488"/>
          </a:xfrm>
          <a:prstGeom prst="roundRect">
            <a:avLst>
              <a:gd name="adj" fmla="val 23077"/>
            </a:avLst>
          </a:prstGeom>
          <a:solidFill>
            <a:srgbClr val="FBFDFF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63040" y="5440680"/>
            <a:ext cx="73152" cy="4754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691640" y="5568696"/>
            <a:ext cx="900684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重點：組隊模組不直接取代會員／房間資料表，而是保存必要的識別資訊與自己的流程狀態。</a:t>
            </a:r>
            <a:endParaRPr lang="en-US" sz="1250" dirty="0"/>
          </a:p>
        </p:txBody>
      </p:sp>
      <p:sp>
        <p:nvSpPr>
          <p:cNvPr id="43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594360" y="350797"/>
            <a:ext cx="310896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r>
              <a:rPr 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 </a:t>
            </a:r>
            <a:r>
              <a:rPr 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MODEL</a:t>
            </a:r>
            <a:r>
              <a:rPr lang="zh-TW" alt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·</a:t>
            </a:r>
            <a:r>
              <a:rPr lang="zh-TW" alt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</a:t>
            </a:r>
            <a:endParaRPr lang="en-US" sz="950" b="1" dirty="0">
              <a:solidFill>
                <a:srgbClr val="059669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94360" y="640080"/>
            <a:ext cx="978408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02A4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ER Model · Core / Lobby：會員、遊戲目錄與房間生命週期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94360" y="6510528"/>
            <a:ext cx="10744200" cy="0"/>
          </a:xfrm>
          <a:prstGeom prst="line">
            <a:avLst/>
          </a:prstGeom>
          <a:noFill/>
          <a:ln w="6350">
            <a:solidFill>
              <a:srgbClr val="D7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6565392"/>
            <a:ext cx="2834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0927080" y="6565392"/>
            <a:ext cx="411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80" b="1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640080" y="1136349"/>
            <a:ext cx="1024128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2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 是遊戲大廳與房間系統，負責建房、等待、開始遊戲，以及遊戲結束後的房間狀態收斂。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914400" y="4663440"/>
            <a:ext cx="3246120" cy="850392"/>
          </a:xfrm>
          <a:prstGeom prst="roundRect">
            <a:avLst>
              <a:gd name="adj" fmla="val 12903"/>
            </a:avLst>
          </a:prstGeom>
          <a:solidFill>
            <a:srgbClr val="ECFDF5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43000" y="4800600"/>
            <a:ext cx="24688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 關鍵角色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143000" y="5084064"/>
            <a:ext cx="26974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l">
              <a:buNone/>
            </a:pPr>
            <a:r>
              <a:rPr lang="en-US" sz="780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把等待中的房間從遊戲本身抽離，讓 Poker、Quiz 等遊戲共用同一套建房與結束流程。</a:t>
            </a:r>
            <a:endParaRPr lang="en-US" sz="780" dirty="0"/>
          </a:p>
        </p:txBody>
      </p:sp>
      <p:sp>
        <p:nvSpPr>
          <p:cNvPr id="46" name="Shape 5"/>
          <p:cNvSpPr/>
          <p:nvPr/>
        </p:nvSpPr>
        <p:spPr>
          <a:xfrm>
            <a:off x="640080" y="1508760"/>
            <a:ext cx="530352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21"/>
          <p:cNvSpPr/>
          <p:nvPr/>
        </p:nvSpPr>
        <p:spPr>
          <a:xfrm>
            <a:off x="7196328" y="2048256"/>
            <a:ext cx="188366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9"/>
          <p:cNvSpPr/>
          <p:nvPr/>
        </p:nvSpPr>
        <p:spPr>
          <a:xfrm>
            <a:off x="658368" y="2148840"/>
            <a:ext cx="150876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10"/>
          <p:cNvSpPr/>
          <p:nvPr/>
        </p:nvSpPr>
        <p:spPr>
          <a:xfrm>
            <a:off x="658368" y="21488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Text 11"/>
          <p:cNvSpPr txBox="1"/>
          <p:nvPr/>
        </p:nvSpPr>
        <p:spPr>
          <a:xfrm>
            <a:off x="777240" y="2231136"/>
            <a:ext cx="1271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zh-TW" sz="1050" b="1" dirty="0" smtClean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roles </a:t>
            </a:r>
            <a:r>
              <a:rPr lang="en-US" altLang="zh-TW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 </a:t>
            </a:r>
            <a:r>
              <a:rPr lang="en-US" altLang="zh-TW" sz="1050" b="1" dirty="0" smtClean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statuses</a:t>
            </a:r>
            <a:endParaRPr lang="en-US" altLang="zh-TW" sz="1050" dirty="0"/>
          </a:p>
        </p:txBody>
      </p:sp>
      <p:sp>
        <p:nvSpPr>
          <p:cNvPr id="53" name="Text 12"/>
          <p:cNvSpPr txBox="1"/>
          <p:nvPr/>
        </p:nvSpPr>
        <p:spPr>
          <a:xfrm>
            <a:off x="786384" y="2587752"/>
            <a:ext cx="125272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altLang="zh-TW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</a:t>
            </a:r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角色名稱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狀態名稱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54" name="Shape 13"/>
          <p:cNvSpPr/>
          <p:nvPr/>
        </p:nvSpPr>
        <p:spPr>
          <a:xfrm>
            <a:off x="2560320" y="2148840"/>
            <a:ext cx="1755648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14"/>
          <p:cNvSpPr/>
          <p:nvPr/>
        </p:nvSpPr>
        <p:spPr>
          <a:xfrm>
            <a:off x="2560320" y="2148840"/>
            <a:ext cx="1755648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15"/>
          <p:cNvSpPr txBox="1"/>
          <p:nvPr/>
        </p:nvSpPr>
        <p:spPr>
          <a:xfrm>
            <a:off x="2679192" y="2231136"/>
            <a:ext cx="1517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zh-TW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users</a:t>
            </a:r>
            <a:endParaRPr lang="en-US" sz="1050" dirty="0"/>
          </a:p>
        </p:txBody>
      </p:sp>
      <p:sp>
        <p:nvSpPr>
          <p:cNvPr id="57" name="Text 16"/>
          <p:cNvSpPr txBox="1"/>
          <p:nvPr/>
        </p:nvSpPr>
        <p:spPr>
          <a:xfrm>
            <a:off x="2688336" y="2587752"/>
            <a:ext cx="149961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altLang="zh-TW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</a:t>
            </a:r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會員編號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帳號／暱稱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密碼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role_id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status_id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58" name="Shape 17"/>
          <p:cNvSpPr/>
          <p:nvPr/>
        </p:nvSpPr>
        <p:spPr>
          <a:xfrm>
            <a:off x="4754880" y="1965960"/>
            <a:ext cx="1947672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18"/>
          <p:cNvSpPr/>
          <p:nvPr/>
        </p:nvSpPr>
        <p:spPr>
          <a:xfrm>
            <a:off x="4754880" y="1965960"/>
            <a:ext cx="1947672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Text 19"/>
          <p:cNvSpPr txBox="1"/>
          <p:nvPr/>
        </p:nvSpPr>
        <p:spPr>
          <a:xfrm>
            <a:off x="4873752" y="2048256"/>
            <a:ext cx="1709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zh-TW" sz="1050" b="1" dirty="0" smtClean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games</a:t>
            </a:r>
            <a:endParaRPr lang="en-US" altLang="zh-TW" sz="1050" dirty="0"/>
          </a:p>
        </p:txBody>
      </p:sp>
      <p:sp>
        <p:nvSpPr>
          <p:cNvPr id="61" name="Text 20"/>
          <p:cNvSpPr txBox="1"/>
          <p:nvPr/>
        </p:nvSpPr>
        <p:spPr>
          <a:xfrm>
            <a:off x="4882896" y="2404872"/>
            <a:ext cx="1691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altLang="zh-TW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</a:t>
            </a:r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遊戲編號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遊戲代碼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遊戲名稱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前端／後端入口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62" name="Shape 22"/>
          <p:cNvSpPr/>
          <p:nvPr/>
        </p:nvSpPr>
        <p:spPr>
          <a:xfrm>
            <a:off x="7196328" y="2048256"/>
            <a:ext cx="1883664" cy="32918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23"/>
          <p:cNvSpPr txBox="1"/>
          <p:nvPr/>
        </p:nvSpPr>
        <p:spPr>
          <a:xfrm>
            <a:off x="7315200" y="21305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zh-TW" sz="105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game_modes</a:t>
            </a:r>
            <a:endParaRPr lang="en-US" sz="1050" dirty="0"/>
          </a:p>
        </p:txBody>
      </p:sp>
      <p:sp>
        <p:nvSpPr>
          <p:cNvPr id="64" name="Text 24"/>
          <p:cNvSpPr txBox="1"/>
          <p:nvPr/>
        </p:nvSpPr>
        <p:spPr>
          <a:xfrm>
            <a:off x="7324344" y="2487168"/>
            <a:ext cx="16276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altLang="zh-TW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</a:t>
            </a:r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模式編號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</a:t>
            </a:r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遊戲編號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模式代碼／名稱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玩家數限制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65" name="Shape 25"/>
          <p:cNvSpPr/>
          <p:nvPr/>
        </p:nvSpPr>
        <p:spPr>
          <a:xfrm>
            <a:off x="4791456" y="4473909"/>
            <a:ext cx="1883664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Shape 26"/>
          <p:cNvSpPr/>
          <p:nvPr/>
        </p:nvSpPr>
        <p:spPr>
          <a:xfrm>
            <a:off x="4791456" y="4473909"/>
            <a:ext cx="1883664" cy="3291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27"/>
          <p:cNvSpPr txBox="1"/>
          <p:nvPr/>
        </p:nvSpPr>
        <p:spPr>
          <a:xfrm>
            <a:off x="4910328" y="4556205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zh-TW" sz="1050" b="1" dirty="0" err="1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room_players</a:t>
            </a:r>
            <a:endParaRPr lang="en-US" altLang="zh-TW" sz="1050" dirty="0"/>
          </a:p>
        </p:txBody>
      </p:sp>
      <p:sp>
        <p:nvSpPr>
          <p:cNvPr id="68" name="Text 28"/>
          <p:cNvSpPr txBox="1"/>
          <p:nvPr/>
        </p:nvSpPr>
        <p:spPr>
          <a:xfrm>
            <a:off x="4919472" y="4912821"/>
            <a:ext cx="16276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altLang="zh-TW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</a:t>
            </a:r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房間ID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玩家帳號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ElementCollection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69" name="Shape 29"/>
          <p:cNvSpPr/>
          <p:nvPr/>
        </p:nvSpPr>
        <p:spPr>
          <a:xfrm>
            <a:off x="7354152" y="4455344"/>
            <a:ext cx="1417320" cy="1115568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Shape 30"/>
          <p:cNvSpPr/>
          <p:nvPr/>
        </p:nvSpPr>
        <p:spPr>
          <a:xfrm>
            <a:off x="7354152" y="4455344"/>
            <a:ext cx="1417320" cy="329184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1" name="Text 31"/>
          <p:cNvSpPr txBox="1"/>
          <p:nvPr/>
        </p:nvSpPr>
        <p:spPr>
          <a:xfrm>
            <a:off x="7473024" y="453764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altLang="zh-TW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rooms</a:t>
            </a:r>
            <a:endParaRPr lang="en-US" altLang="zh-TW" sz="1050" dirty="0"/>
          </a:p>
        </p:txBody>
      </p:sp>
      <p:sp>
        <p:nvSpPr>
          <p:cNvPr id="72" name="Text 32"/>
          <p:cNvSpPr txBox="1"/>
          <p:nvPr/>
        </p:nvSpPr>
        <p:spPr>
          <a:xfrm>
            <a:off x="7482168" y="4894256"/>
            <a:ext cx="11612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r>
              <a:rPr lang="en-US" altLang="zh-TW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PK </a:t>
            </a:r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房間ID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FK </a:t>
            </a:r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遊戲／模式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房主帳號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sz="850" dirty="0" err="1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開始／結束／過期</a:t>
            </a:r>
            <a:endParaRPr lang="en-US" altLang="zh-TW" sz="850" dirty="0">
              <a:solidFill>
                <a:srgbClr val="334155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73" name="Shape 33"/>
          <p:cNvSpPr/>
          <p:nvPr/>
        </p:nvSpPr>
        <p:spPr>
          <a:xfrm>
            <a:off x="2221992" y="2651760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4" name="Shape 34"/>
          <p:cNvSpPr/>
          <p:nvPr/>
        </p:nvSpPr>
        <p:spPr>
          <a:xfrm>
            <a:off x="4389120" y="2651760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5" name="Shape 35"/>
          <p:cNvSpPr/>
          <p:nvPr/>
        </p:nvSpPr>
        <p:spPr>
          <a:xfrm>
            <a:off x="6766560" y="2432304"/>
            <a:ext cx="310896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Shape 37"/>
          <p:cNvSpPr/>
          <p:nvPr/>
        </p:nvSpPr>
        <p:spPr>
          <a:xfrm rot="5400000" flipV="1">
            <a:off x="7669046" y="3784514"/>
            <a:ext cx="971827" cy="92003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8" name="Shape 37"/>
          <p:cNvSpPr/>
          <p:nvPr/>
        </p:nvSpPr>
        <p:spPr>
          <a:xfrm rot="2660390" flipV="1">
            <a:off x="6553150" y="3787764"/>
            <a:ext cx="1039838" cy="106894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0" name="Shape 37"/>
          <p:cNvSpPr/>
          <p:nvPr/>
        </p:nvSpPr>
        <p:spPr>
          <a:xfrm rot="2660390" flipV="1">
            <a:off x="3397447" y="3857334"/>
            <a:ext cx="1380408" cy="63034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2" name="Shape 33"/>
          <p:cNvSpPr/>
          <p:nvPr/>
        </p:nvSpPr>
        <p:spPr>
          <a:xfrm rot="10800000">
            <a:off x="6910668" y="4992624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3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1978637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AUTHENTICATION FLOW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JWT 讓不同頁面共享同一個登入身分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前端保存登入結果；每次受保護請求仍由後端重新驗證 token 與帳號狀態。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1783080" cy="131673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07592" y="2176272"/>
            <a:ext cx="365760" cy="3657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07592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660904"/>
            <a:ext cx="156362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4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Login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2944368"/>
            <a:ext cx="156362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account + password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2487168" y="2606040"/>
            <a:ext cx="237744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1216" y="2011680"/>
            <a:ext cx="1783080" cy="131673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57016" y="2176272"/>
            <a:ext cx="365760" cy="36576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57016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980944" y="2660904"/>
            <a:ext cx="156362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4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JWT</a:t>
            </a:r>
            <a:endParaRPr lang="en-US" sz="1240" dirty="0"/>
          </a:p>
        </p:txBody>
      </p:sp>
      <p:sp>
        <p:nvSpPr>
          <p:cNvPr id="21" name="Text 19"/>
          <p:cNvSpPr txBox="1"/>
          <p:nvPr/>
        </p:nvSpPr>
        <p:spPr>
          <a:xfrm>
            <a:off x="2980944" y="2944368"/>
            <a:ext cx="156362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userId · account · role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4736592" y="2606040"/>
            <a:ext cx="237744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20640" y="2011680"/>
            <a:ext cx="1783080" cy="131673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0891B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06440" y="2176272"/>
            <a:ext cx="365760" cy="36576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806440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30368" y="2660904"/>
            <a:ext cx="156362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4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Authorization</a:t>
            </a:r>
            <a:endParaRPr lang="en-US" sz="1240" dirty="0"/>
          </a:p>
        </p:txBody>
      </p:sp>
      <p:sp>
        <p:nvSpPr>
          <p:cNvPr id="27" name="Text 25"/>
          <p:cNvSpPr txBox="1"/>
          <p:nvPr/>
        </p:nvSpPr>
        <p:spPr>
          <a:xfrm>
            <a:off x="5230368" y="2944368"/>
            <a:ext cx="156362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Bearer token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6986016" y="2606040"/>
            <a:ext cx="237744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70064" y="2011680"/>
            <a:ext cx="1783080" cy="131673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55864" y="2176272"/>
            <a:ext cx="365760" cy="36576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55864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479792" y="2660904"/>
            <a:ext cx="156362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4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Security Filter</a:t>
            </a:r>
            <a:endParaRPr lang="en-US" sz="1240" dirty="0"/>
          </a:p>
        </p:txBody>
      </p:sp>
      <p:sp>
        <p:nvSpPr>
          <p:cNvPr id="33" name="Text 31"/>
          <p:cNvSpPr txBox="1"/>
          <p:nvPr/>
        </p:nvSpPr>
        <p:spPr>
          <a:xfrm>
            <a:off x="7479792" y="2944368"/>
            <a:ext cx="156362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驗簽 · 到期 · 狀態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9235440" y="2606040"/>
            <a:ext cx="237744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619488" y="2011680"/>
            <a:ext cx="1783080" cy="1316736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305288" y="2176272"/>
            <a:ext cx="365760" cy="36576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05288" y="21762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729216" y="2660904"/>
            <a:ext cx="1563624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4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Platform Modules</a:t>
            </a:r>
            <a:endParaRPr lang="en-US" sz="1240" dirty="0"/>
          </a:p>
        </p:txBody>
      </p:sp>
      <p:sp>
        <p:nvSpPr>
          <p:cNvPr id="39" name="Text 37"/>
          <p:cNvSpPr txBox="1"/>
          <p:nvPr/>
        </p:nvSpPr>
        <p:spPr>
          <a:xfrm>
            <a:off x="9729216" y="2944368"/>
            <a:ext cx="156362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8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User · Board · Lobby · Games</a:t>
            </a:r>
            <a:endParaRPr lang="en-US" sz="880" dirty="0"/>
          </a:p>
        </p:txBody>
      </p:sp>
      <p:sp>
        <p:nvSpPr>
          <p:cNvPr id="40" name="Shape 38"/>
          <p:cNvSpPr/>
          <p:nvPr/>
        </p:nvSpPr>
        <p:spPr>
          <a:xfrm>
            <a:off x="1591056" y="4526280"/>
            <a:ext cx="9006840" cy="731520"/>
          </a:xfrm>
          <a:prstGeom prst="roundRect">
            <a:avLst>
              <a:gd name="adj" fmla="val 15000"/>
            </a:avLst>
          </a:prstGeom>
          <a:solidFill>
            <a:srgbClr val="FBFDFF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591056" y="4526280"/>
            <a:ext cx="73152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819656" y="4654296"/>
            <a:ext cx="864108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localStorage 只保存資料；真正能不能操作，仍以後端驗證結果為準。</a:t>
            </a:r>
            <a:endParaRPr lang="en-US" sz="1250" dirty="0"/>
          </a:p>
        </p:txBody>
      </p:sp>
      <p:sp>
        <p:nvSpPr>
          <p:cNvPr id="43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dirty="0" smtClean="0"/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CROSS-MODULE SEQUENCE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核心功能資料流：組隊完成後建立房間並導向遊戲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用一次核心流程說明前端、Controller、Service、Game Management、Lobby 與 DB 如何串接。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57200" y="1984248"/>
            <a:ext cx="1481328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0352" y="2185416"/>
            <a:ext cx="133502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Board UI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33472"/>
            <a:ext cx="129844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選遊戲／模式</a:t>
            </a:r>
            <a:endParaRPr lang="en-US" sz="86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送出組隊資料</a:t>
            </a:r>
            <a:endParaRPr lang="en-US" sz="860" dirty="0"/>
          </a:p>
        </p:txBody>
      </p:sp>
      <p:sp>
        <p:nvSpPr>
          <p:cNvPr id="14" name="Shape 12"/>
          <p:cNvSpPr/>
          <p:nvPr/>
        </p:nvSpPr>
        <p:spPr>
          <a:xfrm>
            <a:off x="2029968" y="2587752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77440" y="1984248"/>
            <a:ext cx="1481328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50592" y="2185416"/>
            <a:ext cx="133502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Controller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2633472"/>
            <a:ext cx="129844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接收請求</a:t>
            </a:r>
            <a:endParaRPr lang="en-US" sz="86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取得登入身分</a:t>
            </a:r>
            <a:endParaRPr lang="en-US" sz="860" dirty="0"/>
          </a:p>
        </p:txBody>
      </p:sp>
      <p:sp>
        <p:nvSpPr>
          <p:cNvPr id="18" name="Shape 16"/>
          <p:cNvSpPr/>
          <p:nvPr/>
        </p:nvSpPr>
        <p:spPr>
          <a:xfrm>
            <a:off x="3950208" y="2587752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97680" y="1984248"/>
            <a:ext cx="1481328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D9770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70832" y="2185416"/>
            <a:ext cx="133502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D9770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Board Service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2633472"/>
            <a:ext cx="129844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申請／核准</a:t>
            </a:r>
            <a:endParaRPr lang="en-US" sz="86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判斷人數到齊</a:t>
            </a:r>
            <a:endParaRPr lang="en-US" sz="860" dirty="0"/>
          </a:p>
        </p:txBody>
      </p:sp>
      <p:sp>
        <p:nvSpPr>
          <p:cNvPr id="22" name="Shape 20"/>
          <p:cNvSpPr/>
          <p:nvPr/>
        </p:nvSpPr>
        <p:spPr>
          <a:xfrm>
            <a:off x="5870448" y="2587752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1984248"/>
            <a:ext cx="1481328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91072" y="2185416"/>
            <a:ext cx="133502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Management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309360" y="2633472"/>
            <a:ext cx="129844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 gameId</a:t>
            </a:r>
            <a:endParaRPr lang="en-US" sz="86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modeId</a:t>
            </a:r>
            <a:endParaRPr lang="en-US" sz="860" dirty="0"/>
          </a:p>
        </p:txBody>
      </p:sp>
      <p:sp>
        <p:nvSpPr>
          <p:cNvPr id="26" name="Shape 24"/>
          <p:cNvSpPr/>
          <p:nvPr/>
        </p:nvSpPr>
        <p:spPr>
          <a:xfrm>
            <a:off x="7790688" y="2587752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38160" y="1984248"/>
            <a:ext cx="1481328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11312" y="2185416"/>
            <a:ext cx="133502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Lobby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0" y="2633472"/>
            <a:ext cx="129844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建立房間</a:t>
            </a:r>
            <a:endParaRPr lang="en-US" sz="86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加入玩家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9710928" y="2587752"/>
            <a:ext cx="228600" cy="91440"/>
          </a:xfrm>
          <a:prstGeom prst="right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0" y="1984248"/>
            <a:ext cx="1481328" cy="1389888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0160">
            <a:solidFill>
              <a:srgbClr val="E11D4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31552" y="2185416"/>
            <a:ext cx="1335024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E11D4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 Page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0" y="2633472"/>
            <a:ext cx="1298448" cy="393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frontendPath</a:t>
            </a:r>
            <a:endParaRPr lang="en-US" sz="86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86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room ID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971032" y="3675888"/>
            <a:ext cx="274320" cy="457200"/>
          </a:xfrm>
          <a:prstGeom prst="downArrow">
            <a:avLst/>
          </a:prstGeom>
          <a:solidFill>
            <a:srgbClr val="D7E0E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0480" y="4434840"/>
            <a:ext cx="4535424" cy="685800"/>
          </a:xfrm>
          <a:prstGeom prst="roundRect">
            <a:avLst>
              <a:gd name="adj" fmla="val 16000"/>
            </a:avLst>
          </a:prstGeom>
          <a:solidFill>
            <a:srgbClr val="FBFDFF"/>
          </a:solidFill>
          <a:ln w="13970">
            <a:solidFill>
              <a:srgbClr val="0596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40480" y="4434840"/>
            <a:ext cx="73152" cy="6858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069080" y="4562856"/>
            <a:ext cx="4169664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SQLite + WebSocket：資料交易成功後才保存／推送玩家名單、通知與房間狀態。</a:t>
            </a:r>
            <a:endParaRPr lang="en-US" sz="1250" dirty="0"/>
          </a:p>
        </p:txBody>
      </p:sp>
      <p:sp>
        <p:nvSpPr>
          <p:cNvPr id="38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WORKING PRODUCT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實際畫面把平台流程連成一致體驗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遊戲大廳 → 組隊設定 → 房間等待，畫面都使用同一個登入身分。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58368" y="1975104"/>
            <a:ext cx="3328416" cy="2304288"/>
          </a:xfrm>
          <a:prstGeom prst="roundRect">
            <a:avLst>
              <a:gd name="adj" fmla="val 4365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58952" y="2084832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05256" y="2084832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51560" y="2084832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6" name="Image 0" descr="/mnt/data/a3ee7892-e793-4869-8dfe-8b6687969b4e.png"/>
          <p:cNvPicPr>
            <a:picLocks noChangeAspect="1"/>
          </p:cNvPicPr>
          <p:nvPr/>
        </p:nvPicPr>
        <p:blipFill>
          <a:blip r:embed="rId3"/>
          <a:srcRect l="8135" r="8135"/>
          <a:stretch/>
        </p:blipFill>
        <p:spPr>
          <a:xfrm>
            <a:off x="685800" y="2286000"/>
            <a:ext cx="3273552" cy="193852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434840" y="1975104"/>
            <a:ext cx="3328416" cy="2304288"/>
          </a:xfrm>
          <a:prstGeom prst="roundRect">
            <a:avLst>
              <a:gd name="adj" fmla="val 4365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35424" y="2084832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681728" y="2084832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828032" y="2084832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211312" y="1975104"/>
            <a:ext cx="3328416" cy="2304288"/>
          </a:xfrm>
          <a:prstGeom prst="roundRect">
            <a:avLst>
              <a:gd name="adj" fmla="val 4365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311896" y="2084832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458200" y="2084832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604504" y="2084832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28" name="Image 2" descr="/mnt/data/ppt_build/screenshots/06-waiting-room.png"/>
          <p:cNvPicPr>
            <a:picLocks noChangeAspect="1"/>
          </p:cNvPicPr>
          <p:nvPr/>
        </p:nvPicPr>
        <p:blipFill>
          <a:blip r:embed="rId4"/>
          <a:srcRect l="2854" r="2854"/>
          <a:stretch/>
        </p:blipFill>
        <p:spPr>
          <a:xfrm>
            <a:off x="8238744" y="2286000"/>
            <a:ext cx="3273552" cy="193852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85800" y="4690872"/>
            <a:ext cx="3273552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0160">
            <a:solidFill>
              <a:srgbClr val="D7E0EB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50392" y="4892040"/>
            <a:ext cx="237744" cy="237744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50392" y="48920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1179576" y="4818888"/>
            <a:ext cx="26334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選擇遊戲</a:t>
            </a:r>
            <a:endParaRPr lang="en-US" sz="1350" dirty="0"/>
          </a:p>
        </p:txBody>
      </p:sp>
      <p:sp>
        <p:nvSpPr>
          <p:cNvPr id="33" name="Text 28"/>
          <p:cNvSpPr txBox="1"/>
          <p:nvPr/>
        </p:nvSpPr>
        <p:spPr>
          <a:xfrm>
            <a:off x="1179576" y="5138928"/>
            <a:ext cx="26334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遊戲清單由 Game Management 提供。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4462272" y="4690872"/>
            <a:ext cx="3273552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0160">
            <a:solidFill>
              <a:srgbClr val="D7E0EB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626864" y="4892040"/>
            <a:ext cx="237744" cy="237744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4626864" y="48920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4956048" y="4818888"/>
            <a:ext cx="26334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設定隊伍</a:t>
            </a:r>
            <a:endParaRPr lang="en-US" sz="1350" dirty="0"/>
          </a:p>
        </p:txBody>
      </p:sp>
      <p:sp>
        <p:nvSpPr>
          <p:cNvPr id="38" name="Text 33"/>
          <p:cNvSpPr txBox="1"/>
          <p:nvPr/>
        </p:nvSpPr>
        <p:spPr>
          <a:xfrm>
            <a:off x="4956048" y="5138928"/>
            <a:ext cx="26334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模式與人數依資料動態產生。</a:t>
            </a:r>
            <a:endParaRPr lang="en-US" sz="950" dirty="0"/>
          </a:p>
        </p:txBody>
      </p:sp>
      <p:sp>
        <p:nvSpPr>
          <p:cNvPr id="39" name="Shape 34"/>
          <p:cNvSpPr/>
          <p:nvPr/>
        </p:nvSpPr>
        <p:spPr>
          <a:xfrm>
            <a:off x="8238744" y="4690872"/>
            <a:ext cx="3273552" cy="859536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0160">
            <a:solidFill>
              <a:srgbClr val="D7E0EB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8403336" y="4892040"/>
            <a:ext cx="237744" cy="237744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403336" y="48920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8732520" y="4818888"/>
            <a:ext cx="26334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等待開始</a:t>
            </a:r>
            <a:endParaRPr lang="en-US" sz="1350" dirty="0"/>
          </a:p>
        </p:txBody>
      </p:sp>
      <p:sp>
        <p:nvSpPr>
          <p:cNvPr id="43" name="Text 38"/>
          <p:cNvSpPr txBox="1"/>
          <p:nvPr/>
        </p:nvSpPr>
        <p:spPr>
          <a:xfrm>
            <a:off x="8732520" y="5138928"/>
            <a:ext cx="26334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房號、房主與玩家名單同步顯示。</a:t>
            </a:r>
            <a:endParaRPr lang="en-US" sz="950" dirty="0"/>
          </a:p>
        </p:txBody>
      </p:sp>
      <p:pic>
        <p:nvPicPr>
          <p:cNvPr id="44" name="Image 1" descr="/mnt/data/gp3/gammPlatform/PPT/screenshots/05-lobby-create-room.png"/>
          <p:cNvPicPr>
            <a:picLocks noChangeAspect="1"/>
          </p:cNvPicPr>
          <p:nvPr/>
        </p:nvPicPr>
        <p:blipFill>
          <a:blip r:embed="rId5"/>
          <a:srcRect l="32" r="32"/>
          <a:stretch/>
        </p:blipFill>
        <p:spPr>
          <a:xfrm>
            <a:off x="4462272" y="2267712"/>
            <a:ext cx="3200400" cy="1801368"/>
          </a:xfrm>
          <a:prstGeom prst="rect">
            <a:avLst/>
          </a:prstGeom>
        </p:spPr>
      </p:pic>
      <p:sp>
        <p:nvSpPr>
          <p:cNvPr id="45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GAME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田忌撲克完成選牌、比牌與三輪結果呈現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同一頁完成玩家資訊、目前輪次、選牌區、結果區與三輪戰績呈現。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31520" y="2105706"/>
            <a:ext cx="4937760" cy="3200400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40664" y="2123994"/>
            <a:ext cx="4919472" cy="292608"/>
          </a:xfrm>
          <a:prstGeom prst="rect">
            <a:avLst/>
          </a:prstGeom>
          <a:solidFill>
            <a:srgbClr val="F2F6FB"/>
          </a:solidFill>
          <a:ln w="635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32104" y="2215434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978408" y="221543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1124712" y="2215434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0" descr="/mnt/data/ppt_build/screenshots/08-poker-auto-select.png"/>
          <p:cNvPicPr>
            <a:picLocks noChangeAspect="1"/>
          </p:cNvPicPr>
          <p:nvPr/>
        </p:nvPicPr>
        <p:blipFill>
          <a:blip r:embed="rId3"/>
          <a:srcRect l="1908" r="1908"/>
          <a:stretch/>
        </p:blipFill>
        <p:spPr>
          <a:xfrm>
            <a:off x="758952" y="2416602"/>
            <a:ext cx="4882896" cy="283464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364224" y="2105706"/>
            <a:ext cx="4937760" cy="3200400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6373368" y="2123994"/>
            <a:ext cx="4919472" cy="292608"/>
          </a:xfrm>
          <a:prstGeom prst="rect">
            <a:avLst/>
          </a:prstGeom>
          <a:solidFill>
            <a:srgbClr val="F2F6FB"/>
          </a:solidFill>
          <a:ln w="635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464808" y="2215434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6611112" y="2215434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757416" y="2215434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1" descr="/mnt/data/ppt_build/screenshots/09-poker-result.png"/>
          <p:cNvPicPr>
            <a:picLocks noChangeAspect="1"/>
          </p:cNvPicPr>
          <p:nvPr/>
        </p:nvPicPr>
        <p:blipFill>
          <a:blip r:embed="rId4"/>
          <a:srcRect l="1908" r="1908"/>
          <a:stretch/>
        </p:blipFill>
        <p:spPr>
          <a:xfrm>
            <a:off x="6391656" y="2416602"/>
            <a:ext cx="4882896" cy="283464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996696" y="1643334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0"/>
          <p:cNvSpPr txBox="1"/>
          <p:nvPr/>
        </p:nvSpPr>
        <p:spPr>
          <a:xfrm>
            <a:off x="1069848" y="1711914"/>
            <a:ext cx="93268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自動選牌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546273" y="1643334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6619425" y="1711914"/>
            <a:ext cx="93268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三輪結果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197864" y="5781594"/>
            <a:ext cx="4206240" cy="438912"/>
          </a:xfrm>
          <a:prstGeom prst="roundRect">
            <a:avLst>
              <a:gd name="adj" fmla="val 25000"/>
            </a:avLst>
          </a:prstGeom>
          <a:solidFill>
            <a:srgbClr val="FBFDFF"/>
          </a:solidFill>
          <a:ln w="1397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1197864" y="5781594"/>
            <a:ext cx="73152" cy="4389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1426464" y="5909610"/>
            <a:ext cx="38404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房間資訊 + 玩家身分 + 手牌 + 本輪結果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720840" y="5781594"/>
            <a:ext cx="4251960" cy="438912"/>
          </a:xfrm>
          <a:prstGeom prst="roundRect">
            <a:avLst>
              <a:gd name="adj" fmla="val 25000"/>
            </a:avLst>
          </a:prstGeom>
          <a:solidFill>
            <a:srgbClr val="FBFDFF"/>
          </a:solidFill>
          <a:ln w="1397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6720840" y="5781594"/>
            <a:ext cx="73152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6949440" y="5909610"/>
            <a:ext cx="388620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同一頁顯示三輪戰績與對局結果</a:t>
            </a:r>
            <a:endParaRPr lang="en-US" sz="1250" dirty="0"/>
          </a:p>
        </p:txBody>
      </p:sp>
      <p:sp>
        <p:nvSpPr>
          <p:cNvPr id="33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178916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ALGORITHM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>
            <a:lvl1pPr indent="0">
              <a:lnSpc>
                <a:spcPct val="100000"/>
              </a:lnSpc>
              <a:buNone/>
              <a:defRPr sz="2400" b="1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r>
              <a:rPr dirty="0"/>
              <a:t>Poker </a:t>
            </a:r>
            <a:r>
              <a:rPr dirty="0" err="1"/>
              <a:t>演算法：把牌型轉成可直接比較的</a:t>
            </a:r>
            <a:r>
              <a:rPr dirty="0"/>
              <a:t> strength</a:t>
            </a:r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500" dirty="0">
                <a:solidFill>
                  <a:srgbClr val="5E6D85"/>
                </a:solidFill>
                <a:latin typeface="Aptos"/>
              </a:rPr>
              <a:t>以 ♦2、♦6、♦8、♦9、♦K </a:t>
            </a:r>
            <a:r>
              <a:rPr sz="1500" dirty="0" err="1">
                <a:solidFill>
                  <a:srgbClr val="5E6D85"/>
                </a:solidFill>
                <a:latin typeface="Aptos"/>
              </a:rPr>
              <a:t>同花為例，將牌型、點數與花色編碼成單一</a:t>
            </a:r>
            <a:r>
              <a:rPr sz="1500" dirty="0">
                <a:solidFill>
                  <a:srgbClr val="5E6D85"/>
                </a:solidFill>
                <a:latin typeface="Aptos"/>
              </a:rPr>
              <a:t> long 值。</a:t>
            </a:r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pic>
        <p:nvPicPr>
          <p:cNvPr id="11" name="Picture 10" descr="card_a_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1755648"/>
            <a:ext cx="448056" cy="650577"/>
          </a:xfrm>
          <a:prstGeom prst="rect">
            <a:avLst/>
          </a:prstGeom>
        </p:spPr>
      </p:pic>
      <p:pic>
        <p:nvPicPr>
          <p:cNvPr id="12" name="Picture 11" descr="card_a_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6736" y="1755648"/>
            <a:ext cx="448056" cy="650577"/>
          </a:xfrm>
          <a:prstGeom prst="rect">
            <a:avLst/>
          </a:prstGeom>
        </p:spPr>
      </p:pic>
      <p:pic>
        <p:nvPicPr>
          <p:cNvPr id="13" name="Picture 12" descr="card_a_d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7088" y="1755648"/>
            <a:ext cx="448056" cy="650577"/>
          </a:xfrm>
          <a:prstGeom prst="rect">
            <a:avLst/>
          </a:prstGeom>
        </p:spPr>
      </p:pic>
      <p:pic>
        <p:nvPicPr>
          <p:cNvPr id="14" name="Picture 13" descr="card_a_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39" y="1755648"/>
            <a:ext cx="448056" cy="650577"/>
          </a:xfrm>
          <a:prstGeom prst="rect">
            <a:avLst/>
          </a:prstGeom>
        </p:spPr>
      </p:pic>
      <p:pic>
        <p:nvPicPr>
          <p:cNvPr id="15" name="Picture 14" descr="card_a_d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7791" y="1755648"/>
            <a:ext cx="448056" cy="6505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2999232"/>
            <a:ext cx="2817438" cy="247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>
            <a:lvl1pPr indent="0">
              <a:lnSpc>
                <a:spcPct val="100000"/>
              </a:lnSpc>
              <a:buNone/>
              <a:defRPr sz="1250" b="1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defRPr>
            </a:lvl1pPr>
          </a:lstStyle>
          <a:p>
            <a:r>
              <a:rPr dirty="0" err="1"/>
              <a:t>範例</a:t>
            </a:r>
            <a:r>
              <a:rPr dirty="0"/>
              <a:t>：♦2、♦6、♦8、♦9、♦K ＝ </a:t>
            </a:r>
            <a:r>
              <a:rPr dirty="0" err="1"/>
              <a:t>同花</a:t>
            </a:r>
            <a:endParaRPr dirty="0"/>
          </a:p>
        </p:txBody>
      </p:sp>
      <p:sp>
        <p:nvSpPr>
          <p:cNvPr id="17" name="Rounded Rectangle 16"/>
          <p:cNvSpPr/>
          <p:nvPr/>
        </p:nvSpPr>
        <p:spPr>
          <a:xfrm>
            <a:off x="4709160" y="1627632"/>
            <a:ext cx="5806440" cy="1389888"/>
          </a:xfrm>
          <a:prstGeom prst="roundRect">
            <a:avLst/>
          </a:prstGeom>
          <a:solidFill>
            <a:srgbClr val="0A1324"/>
          </a:solidFill>
          <a:ln w="15875">
            <a:solidFill>
              <a:srgbClr val="E71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65192" y="1975104"/>
            <a:ext cx="2240280" cy="384048"/>
          </a:xfrm>
          <a:prstGeom prst="rect">
            <a:avLst/>
          </a:prstGeom>
          <a:noFill/>
        </p:spPr>
        <p:txBody>
          <a:bodyPr wrap="none" lIns="45720" tIns="27432" rIns="45720" bIns="27432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Microsoft JhengHei"/>
              </a:rPr>
              <a:t>513090806021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4032" y="2029968"/>
            <a:ext cx="2926080" cy="310896"/>
          </a:xfrm>
          <a:prstGeom prst="rect">
            <a:avLst/>
          </a:prstGeom>
          <a:noFill/>
        </p:spPr>
        <p:txBody>
          <a:bodyPr wrap="none" lIns="45720" tIns="27432" rIns="45720" bIns="27432">
            <a:spAutoFit/>
          </a:bodyPr>
          <a:lstStyle/>
          <a:p>
            <a:r>
              <a:rPr sz="1400" b="1">
                <a:solidFill>
                  <a:srgbClr val="FFDCE2"/>
                </a:solidFill>
                <a:latin typeface="Microsoft JhengHei"/>
              </a:rPr>
              <a:t>=  5  |  13  |  09  |  08  |  06  |  02  | 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2532888"/>
            <a:ext cx="4800600" cy="256032"/>
          </a:xfrm>
          <a:prstGeom prst="rect">
            <a:avLst/>
          </a:prstGeom>
          <a:noFill/>
        </p:spPr>
        <p:txBody>
          <a:bodyPr wrap="none" lIns="45720" tIns="27432" rIns="45720" bIns="27432">
            <a:spAutoFit/>
          </a:bodyPr>
          <a:lstStyle/>
          <a:p>
            <a:r>
              <a:rPr sz="950" b="0">
                <a:solidFill>
                  <a:srgbClr val="DEE5F1"/>
                </a:solidFill>
                <a:latin typeface="Microsoft JhengHei"/>
              </a:rPr>
              <a:t>牌型  同花        最大K        9        8        6        2       花色♦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" y="4005072"/>
            <a:ext cx="2788920" cy="135331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71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50392" y="4005072"/>
            <a:ext cx="2788920" cy="310896"/>
          </a:xfrm>
          <a:prstGeom prst="rect">
            <a:avLst/>
          </a:prstGeom>
          <a:solidFill>
            <a:srgbClr val="E71C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050791"/>
            <a:ext cx="2569463" cy="289310"/>
          </a:xfrm>
          <a:prstGeom prst="rect">
            <a:avLst/>
          </a:prstGeom>
          <a:noFill/>
        </p:spPr>
        <p:txBody>
          <a:bodyPr wrap="square" tIns="36576" rIns="73152" bIns="36576">
            <a:spAutoFit/>
          </a:bodyPr>
          <a:lstStyle/>
          <a:p>
            <a:pPr>
              <a:lnSpc>
                <a:spcPct val="100000"/>
              </a:lnSpc>
            </a:pPr>
            <a:r>
              <a:rPr sz="1400" b="1" dirty="0" err="1">
                <a:solidFill>
                  <a:srgbClr val="FFFFFF"/>
                </a:solidFill>
                <a:latin typeface="+mj-lt"/>
              </a:rPr>
              <a:t>強度編碼</a:t>
            </a:r>
            <a:endParaRPr sz="1400" b="1" dirty="0">
              <a:solidFill>
                <a:srgbClr val="FFFFFF"/>
              </a:solidFill>
              <a:latin typeface="+mj-lt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87552" y="4361426"/>
            <a:ext cx="2514600" cy="841769"/>
          </a:xfrm>
          <a:prstGeom prst="rect">
            <a:avLst/>
          </a:prstGeom>
          <a:noFill/>
        </p:spPr>
        <p:txBody>
          <a:bodyPr wrap="square" lIns="128016" tIns="73152" rIns="109728" bIns="27432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牌型放在最高位</a:t>
            </a:r>
            <a:endParaRPr sz="1200" dirty="0">
              <a:solidFill>
                <a:srgbClr val="5C6B8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點數由大到小排列</a:t>
            </a:r>
            <a:endParaRPr sz="1200" dirty="0">
              <a:solidFill>
                <a:srgbClr val="5C6B8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kicker／花色放在低位</a:t>
            </a:r>
            <a:endParaRPr sz="1200" dirty="0">
              <a:solidFill>
                <a:srgbClr val="5C6B8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比較時只看</a:t>
            </a:r>
            <a:r>
              <a:rPr sz="120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long </a:t>
            </a: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大小</a:t>
            </a:r>
            <a:endParaRPr sz="1200" dirty="0">
              <a:solidFill>
                <a:srgbClr val="5C6B8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931920" y="4005072"/>
            <a:ext cx="2788920" cy="135331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03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931920" y="4005072"/>
            <a:ext cx="2788920" cy="310896"/>
          </a:xfrm>
          <a:prstGeom prst="rect">
            <a:avLst/>
          </a:prstGeom>
          <a:solidFill>
            <a:srgbClr val="703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041648" y="4050791"/>
            <a:ext cx="2569463" cy="289310"/>
          </a:xfrm>
          <a:prstGeom prst="rect">
            <a:avLst/>
          </a:prstGeom>
          <a:noFill/>
        </p:spPr>
        <p:txBody>
          <a:bodyPr wrap="square" tIns="36576" rIns="73152" bIns="36576">
            <a:spAutoFit/>
          </a:bodyPr>
          <a:lstStyle/>
          <a:p>
            <a:pPr>
              <a:lnSpc>
                <a:spcPct val="100000"/>
              </a:lnSpc>
            </a:pPr>
            <a:r>
              <a:rPr sz="1400" b="1" dirty="0" err="1">
                <a:solidFill>
                  <a:srgbClr val="FFFFFF"/>
                </a:solidFill>
                <a:latin typeface="+mj-lt"/>
              </a:rPr>
              <a:t>規則集中</a:t>
            </a:r>
            <a:endParaRPr sz="1400" b="1" dirty="0">
              <a:solidFill>
                <a:srgbClr val="FFFFFF"/>
              </a:solidFill>
              <a:latin typeface="+mj-lt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069080" y="4416551"/>
            <a:ext cx="2514600" cy="653512"/>
          </a:xfrm>
          <a:prstGeom prst="rect">
            <a:avLst/>
          </a:prstGeom>
          <a:noFill/>
        </p:spPr>
        <p:txBody>
          <a:bodyPr wrap="square" lIns="128016" tIns="73152" rIns="109728" bIns="27432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牌型規則集中維護</a:t>
            </a:r>
            <a:endParaRPr sz="1200" dirty="0">
              <a:solidFill>
                <a:srgbClr val="5C6B8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牌組統一轉成</a:t>
            </a:r>
            <a:r>
              <a:rPr sz="120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strength</a:t>
            </a:r>
          </a:p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避免大量</a:t>
            </a:r>
            <a:r>
              <a:rPr sz="120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if / else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13448" y="4005072"/>
            <a:ext cx="2788920" cy="135331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49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013448" y="4005072"/>
            <a:ext cx="2788920" cy="310896"/>
          </a:xfrm>
          <a:prstGeom prst="rect">
            <a:avLst/>
          </a:prstGeom>
          <a:solidFill>
            <a:srgbClr val="049B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123176" y="4050791"/>
            <a:ext cx="2569463" cy="289310"/>
          </a:xfrm>
          <a:prstGeom prst="rect">
            <a:avLst/>
          </a:prstGeom>
          <a:noFill/>
        </p:spPr>
        <p:txBody>
          <a:bodyPr wrap="square" tIns="36576" rIns="73152" bIns="36576">
            <a:spAutoFit/>
          </a:bodyPr>
          <a:lstStyle/>
          <a:p>
            <a:pPr>
              <a:lnSpc>
                <a:spcPct val="100000"/>
              </a:lnSpc>
            </a:pPr>
            <a:r>
              <a:rPr sz="1400" b="1" dirty="0" err="1">
                <a:solidFill>
                  <a:srgbClr val="FFFFFF"/>
                </a:solidFill>
                <a:latin typeface="+mj-lt"/>
              </a:rPr>
              <a:t>自動選牌基礎</a:t>
            </a:r>
            <a:endParaRPr sz="1400" b="1" dirty="0">
              <a:solidFill>
                <a:srgbClr val="FFFFFF"/>
              </a:solidFill>
              <a:latin typeface="+mj-lt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150608" y="4395176"/>
            <a:ext cx="2514600" cy="653512"/>
          </a:xfrm>
          <a:prstGeom prst="rect">
            <a:avLst/>
          </a:prstGeom>
          <a:noFill/>
        </p:spPr>
        <p:txBody>
          <a:bodyPr wrap="square" lIns="128016" tIns="73152" rIns="109728" bIns="27432">
            <a:spAutoFit/>
          </a:bodyPr>
          <a:lstStyle/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find_best_cards</a:t>
            </a:r>
            <a:r>
              <a:rPr sz="120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() </a:t>
            </a: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列舉組合</a:t>
            </a:r>
            <a:endParaRPr sz="1200" dirty="0">
              <a:solidFill>
                <a:srgbClr val="5C6B8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每組計算</a:t>
            </a:r>
            <a:r>
              <a:rPr sz="120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strength</a:t>
            </a:r>
          </a:p>
          <a:p>
            <a:pPr>
              <a:lnSpc>
                <a:spcPct val="95000"/>
              </a:lnSpc>
              <a:spcAft>
                <a:spcPts val="100"/>
              </a:spcAft>
            </a:pPr>
            <a:r>
              <a:rPr sz="120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保留最高分牌組</a:t>
            </a:r>
            <a:endParaRPr sz="1200" dirty="0">
              <a:solidFill>
                <a:srgbClr val="5C6B8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33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99404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9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POKER ALGORITHM</a:t>
            </a:r>
            <a:endParaRPr lang="en-US" sz="950" b="1" dirty="0">
              <a:solidFill>
                <a:srgbClr val="059669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2400" b="1" dirty="0" err="1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自動選牌：find_best_cards</a:t>
            </a:r>
            <a:r>
              <a:rPr sz="24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() </a:t>
            </a:r>
            <a:r>
              <a:rPr sz="2400" b="1" dirty="0" err="1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找出本輪最強手牌</a:t>
            </a:r>
            <a:endParaRPr sz="2400" b="1" dirty="0">
              <a:solidFill>
                <a:srgbClr val="122033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25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列舉本輪可用牌的候選組合，將每一組轉成</a:t>
            </a:r>
            <a:r>
              <a:rPr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sz="1250" dirty="0" err="1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strength，比較後保留分數最高的牌組</a:t>
            </a:r>
            <a:r>
              <a:rPr sz="1500" dirty="0">
                <a:solidFill>
                  <a:srgbClr val="5E6D85"/>
                </a:solidFill>
                <a:latin typeface="Aptos"/>
              </a:rPr>
              <a:t>。</a:t>
            </a:r>
          </a:p>
        </p:txBody>
      </p:sp>
      <p:sp>
        <p:nvSpPr>
          <p:cNvPr id="7" name="Shape 5"/>
          <p:cNvSpPr/>
          <p:nvPr/>
        </p:nvSpPr>
        <p:spPr>
          <a:xfrm>
            <a:off x="603504" y="1508760"/>
            <a:ext cx="530352" cy="3657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cxnSp>
        <p:nvCxnSpPr>
          <p:cNvPr id="11" name="Connector 10"/>
          <p:cNvCxnSpPr/>
          <p:nvPr/>
        </p:nvCxnSpPr>
        <p:spPr>
          <a:xfrm>
            <a:off x="2404872" y="2103120"/>
            <a:ext cx="310896" cy="0"/>
          </a:xfrm>
          <a:prstGeom prst="line">
            <a:avLst/>
          </a:prstGeom>
          <a:ln w="1778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553712" y="2103120"/>
            <a:ext cx="310896" cy="0"/>
          </a:xfrm>
          <a:prstGeom prst="line">
            <a:avLst/>
          </a:prstGeom>
          <a:ln w="1778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702552" y="2103120"/>
            <a:ext cx="310896" cy="0"/>
          </a:xfrm>
          <a:prstGeom prst="line">
            <a:avLst/>
          </a:prstGeom>
          <a:ln w="1778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51392" y="2103120"/>
            <a:ext cx="310896" cy="0"/>
          </a:xfrm>
          <a:prstGeom prst="line">
            <a:avLst/>
          </a:prstGeom>
          <a:ln w="1778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1755648"/>
            <a:ext cx="1691640" cy="69494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71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9808" y="1847088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E71C52"/>
                </a:solidFill>
                <a:latin typeface="Aptos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1800029"/>
            <a:ext cx="1124712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 err="1">
                <a:solidFill>
                  <a:srgbClr val="0D1B30"/>
                </a:solidFill>
                <a:latin typeface="+mj-lt"/>
              </a:rPr>
              <a:t>扣除已用牌</a:t>
            </a:r>
            <a:endParaRPr sz="1200" b="1" dirty="0">
              <a:solidFill>
                <a:srgbClr val="0D1B30"/>
              </a:solidFill>
              <a:latin typeface="+mj-lt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" y="2075688"/>
            <a:ext cx="11247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dirty="0" err="1">
                <a:solidFill>
                  <a:srgbClr val="5E6D85"/>
                </a:solidFill>
                <a:latin typeface="Aptos"/>
              </a:rPr>
              <a:t>前面輪次已選牌不再使用</a:t>
            </a:r>
            <a:endParaRPr sz="850" b="0" dirty="0">
              <a:solidFill>
                <a:srgbClr val="5E6D85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788920" y="1755648"/>
            <a:ext cx="1691640" cy="69494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03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898648" y="1847088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7038FF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1800029"/>
            <a:ext cx="1124712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 err="1">
                <a:solidFill>
                  <a:srgbClr val="0D1B30"/>
                </a:solidFill>
                <a:latin typeface="+mj-lt"/>
              </a:rPr>
              <a:t>決定張數</a:t>
            </a:r>
            <a:endParaRPr sz="1200" b="1" dirty="0">
              <a:solidFill>
                <a:srgbClr val="0D1B30"/>
              </a:solidFill>
              <a:latin typeface="+mj-lt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246120" y="2075688"/>
            <a:ext cx="11247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 dirty="0">
                <a:solidFill>
                  <a:srgbClr val="5E6D85"/>
                </a:solidFill>
                <a:latin typeface="Aptos"/>
              </a:rPr>
              <a:t>第 1 輪 3 </a:t>
            </a:r>
            <a:r>
              <a:rPr sz="850" b="0" dirty="0" err="1">
                <a:solidFill>
                  <a:srgbClr val="5E6D85"/>
                </a:solidFill>
                <a:latin typeface="Aptos"/>
              </a:rPr>
              <a:t>張；第</a:t>
            </a:r>
            <a:r>
              <a:rPr sz="850" b="0" dirty="0">
                <a:solidFill>
                  <a:srgbClr val="5E6D85"/>
                </a:solidFill>
                <a:latin typeface="Aptos"/>
              </a:rPr>
              <a:t> 2/3 輪 5 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0" y="1755648"/>
            <a:ext cx="1691640" cy="69494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47488" y="1847088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Apto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94960" y="1800029"/>
            <a:ext cx="1124712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 err="1">
                <a:solidFill>
                  <a:srgbClr val="0D1B30"/>
                </a:solidFill>
                <a:latin typeface="+mj-lt"/>
              </a:rPr>
              <a:t>列舉組合</a:t>
            </a:r>
            <a:endParaRPr sz="1200" b="1" dirty="0">
              <a:solidFill>
                <a:srgbClr val="0D1B30"/>
              </a:solidFill>
              <a:latin typeface="+mj-lt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394960" y="2075688"/>
            <a:ext cx="11247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E6D85"/>
                </a:solidFill>
                <a:latin typeface="Aptos"/>
              </a:rPr>
              <a:t>從剩餘手牌取 C(n,k)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86600" y="1755648"/>
            <a:ext cx="1691640" cy="69494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49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196328" y="1847088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049B71"/>
                </a:solidFill>
                <a:latin typeface="Aptos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800029"/>
            <a:ext cx="1124712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 err="1">
                <a:solidFill>
                  <a:srgbClr val="0D1B30"/>
                </a:solidFill>
                <a:latin typeface="+mj-lt"/>
              </a:rPr>
              <a:t>計算分數</a:t>
            </a:r>
            <a:endParaRPr sz="1200" b="1" dirty="0">
              <a:solidFill>
                <a:srgbClr val="0D1B30"/>
              </a:solidFill>
              <a:latin typeface="+mj-lt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2075688"/>
            <a:ext cx="11247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E6D85"/>
                </a:solidFill>
                <a:latin typeface="Aptos"/>
              </a:rPr>
              <a:t>score() → hand_strength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35440" y="1755648"/>
            <a:ext cx="1691640" cy="69494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45167" y="1847088"/>
            <a:ext cx="34747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F59E0B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1800029"/>
            <a:ext cx="1124712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 err="1">
                <a:solidFill>
                  <a:srgbClr val="0D1B30"/>
                </a:solidFill>
                <a:latin typeface="+mj-lt"/>
              </a:rPr>
              <a:t>保留最高</a:t>
            </a:r>
            <a:endParaRPr sz="1200" b="1" dirty="0">
              <a:solidFill>
                <a:srgbClr val="0D1B30"/>
              </a:solidFill>
              <a:latin typeface="+mj-lt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692640" y="2075688"/>
            <a:ext cx="1124712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50" b="0">
                <a:solidFill>
                  <a:srgbClr val="5E6D85"/>
                </a:solidFill>
                <a:latin typeface="Aptos"/>
              </a:rPr>
              <a:t>更新 best_score 與 best[]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2907792"/>
            <a:ext cx="5166360" cy="2176272"/>
          </a:xfrm>
          <a:prstGeom prst="roundRect">
            <a:avLst/>
          </a:prstGeom>
          <a:solidFill>
            <a:srgbClr val="0A1324"/>
          </a:solidFill>
          <a:ln w="15875">
            <a:solidFill>
              <a:srgbClr val="703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32688" y="3090672"/>
            <a:ext cx="452628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Aptos"/>
              </a:rPr>
              <a:t>find_best_cards() 核心概念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" y="3474720"/>
            <a:ext cx="455371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2E8F0"/>
                </a:solidFill>
                <a:latin typeface="Consolas"/>
              </a:rPr>
              <a:t>best_score = -1</a:t>
            </a:r>
            <a:r>
              <a:t/>
            </a:r>
            <a:br/>
            <a:r>
              <a:rPr sz="1300">
                <a:solidFill>
                  <a:srgbClr val="E2E8F0"/>
                </a:solidFill>
                <a:latin typeface="Consolas"/>
              </a:rPr>
              <a:t>for each combination C(n, k):</a:t>
            </a:r>
            <a:r>
              <a:t/>
            </a:r>
            <a:br/>
            <a:r>
              <a:rPr sz="1300">
                <a:solidFill>
                  <a:srgbClr val="E2E8F0"/>
                </a:solidFill>
                <a:latin typeface="Consolas"/>
              </a:rPr>
              <a:t>    score = score(current, count)</a:t>
            </a:r>
            <a:r>
              <a:t/>
            </a:r>
            <a:br/>
            <a:r>
              <a:rPr sz="1300">
                <a:solidFill>
                  <a:srgbClr val="E2E8F0"/>
                </a:solidFill>
                <a:latin typeface="Consolas"/>
              </a:rPr>
              <a:t>    if score &gt; best_score:</a:t>
            </a:r>
            <a:r>
              <a:t/>
            </a:r>
            <a:br/>
            <a:r>
              <a:rPr sz="1300">
                <a:solidFill>
                  <a:srgbClr val="E2E8F0"/>
                </a:solidFill>
                <a:latin typeface="Consolas"/>
              </a:rPr>
              <a:t>        best_score = score</a:t>
            </a:r>
            <a:r>
              <a:t/>
            </a:r>
            <a:br/>
            <a:r>
              <a:rPr sz="1300">
                <a:solidFill>
                  <a:srgbClr val="E2E8F0"/>
                </a:solidFill>
                <a:latin typeface="Consolas"/>
              </a:rPr>
              <a:t>        best = current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26480" y="2907792"/>
            <a:ext cx="493776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71C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6208" y="3042273"/>
            <a:ext cx="1143000" cy="2769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 err="1">
                <a:solidFill>
                  <a:srgbClr val="E71C52"/>
                </a:solidFill>
                <a:latin typeface="+mj-lt"/>
              </a:rPr>
              <a:t>回合策略</a:t>
            </a:r>
            <a:endParaRPr sz="1200" b="1" dirty="0">
              <a:solidFill>
                <a:srgbClr val="E71C52"/>
              </a:solidFill>
              <a:latin typeface="+mj-lt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543800" y="2936337"/>
            <a:ext cx="333756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dirty="0" err="1">
                <a:solidFill>
                  <a:srgbClr val="5E6D85"/>
                </a:solidFill>
                <a:latin typeface="Aptos"/>
              </a:rPr>
              <a:t>依目前流程先選第</a:t>
            </a:r>
            <a:r>
              <a:rPr sz="1000" b="0" dirty="0">
                <a:solidFill>
                  <a:srgbClr val="0D1B30"/>
                </a:solidFill>
                <a:latin typeface="Aptos"/>
              </a:rPr>
              <a:t> </a:t>
            </a:r>
            <a:r>
              <a:rPr sz="1000" dirty="0">
                <a:solidFill>
                  <a:srgbClr val="5E6D85"/>
                </a:solidFill>
                <a:latin typeface="Aptos"/>
              </a:rPr>
              <a:t>3 輪 5 </a:t>
            </a:r>
            <a:r>
              <a:rPr sz="1000" dirty="0" err="1">
                <a:solidFill>
                  <a:srgbClr val="5E6D85"/>
                </a:solidFill>
                <a:latin typeface="Aptos"/>
              </a:rPr>
              <a:t>張，再選第</a:t>
            </a:r>
            <a:r>
              <a:rPr sz="1000" dirty="0">
                <a:solidFill>
                  <a:srgbClr val="5E6D85"/>
                </a:solidFill>
                <a:latin typeface="Aptos"/>
              </a:rPr>
              <a:t> 2 </a:t>
            </a:r>
            <a:r>
              <a:rPr sz="1000" dirty="0" err="1">
                <a:solidFill>
                  <a:srgbClr val="5E6D85"/>
                </a:solidFill>
                <a:latin typeface="Aptos"/>
              </a:rPr>
              <a:t>輪，最後處理第</a:t>
            </a:r>
            <a:r>
              <a:rPr sz="1000" dirty="0">
                <a:solidFill>
                  <a:srgbClr val="5E6D85"/>
                </a:solidFill>
                <a:latin typeface="Aptos"/>
              </a:rPr>
              <a:t> 1 輪 3 張。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26480" y="3602736"/>
            <a:ext cx="493776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703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70937" y="3602736"/>
            <a:ext cx="832104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 err="1">
                <a:solidFill>
                  <a:srgbClr val="7038FF"/>
                </a:solidFill>
                <a:latin typeface="+mj-lt"/>
              </a:rPr>
              <a:t>目前輪次自動選牌</a:t>
            </a:r>
            <a:endParaRPr sz="1200" b="1" dirty="0">
              <a:solidFill>
                <a:srgbClr val="7038FF"/>
              </a:solidFill>
              <a:latin typeface="+mj-lt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543800" y="3631282"/>
            <a:ext cx="333756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dirty="0" err="1">
                <a:solidFill>
                  <a:srgbClr val="5E6D85"/>
                </a:solidFill>
                <a:latin typeface="Aptos"/>
              </a:rPr>
              <a:t>auto_choose_current_round</a:t>
            </a:r>
            <a:r>
              <a:rPr sz="1000" dirty="0">
                <a:solidFill>
                  <a:srgbClr val="5E6D85"/>
                </a:solidFill>
                <a:latin typeface="Aptos"/>
              </a:rPr>
              <a:t>() </a:t>
            </a:r>
            <a:r>
              <a:rPr sz="1000" dirty="0" err="1">
                <a:solidFill>
                  <a:srgbClr val="5E6D85"/>
                </a:solidFill>
                <a:latin typeface="Aptos"/>
              </a:rPr>
              <a:t>只重算目前輪次；已完成輪次保持鎖定</a:t>
            </a:r>
            <a:r>
              <a:rPr sz="1000" dirty="0">
                <a:solidFill>
                  <a:srgbClr val="5E6D85"/>
                </a:solidFill>
                <a:latin typeface="Aptos"/>
              </a:rPr>
              <a:t>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26480" y="4297680"/>
            <a:ext cx="4937760" cy="530352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49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72415" y="4297680"/>
            <a:ext cx="1143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dirty="0">
                <a:solidFill>
                  <a:srgbClr val="049B71"/>
                </a:solidFill>
                <a:latin typeface="+mj-lt"/>
              </a:rPr>
              <a:t>與 strength </a:t>
            </a:r>
            <a:r>
              <a:rPr sz="1200" b="1" dirty="0" err="1">
                <a:solidFill>
                  <a:srgbClr val="049B71"/>
                </a:solidFill>
                <a:latin typeface="+mj-lt"/>
              </a:rPr>
              <a:t>的關係</a:t>
            </a:r>
            <a:endParaRPr sz="1200" b="1" dirty="0">
              <a:solidFill>
                <a:srgbClr val="049B71"/>
              </a:solidFill>
              <a:latin typeface="+mj-lt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543800" y="4326226"/>
            <a:ext cx="333756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dirty="0" err="1">
                <a:solidFill>
                  <a:srgbClr val="5E6D85"/>
                </a:solidFill>
                <a:latin typeface="Aptos"/>
              </a:rPr>
              <a:t>每一組候選牌都交給</a:t>
            </a:r>
            <a:r>
              <a:rPr sz="1000" dirty="0">
                <a:solidFill>
                  <a:srgbClr val="5E6D85"/>
                </a:solidFill>
                <a:latin typeface="Aptos"/>
              </a:rPr>
              <a:t> score()，</a:t>
            </a:r>
            <a:r>
              <a:rPr sz="1000" dirty="0" err="1">
                <a:solidFill>
                  <a:srgbClr val="5E6D85"/>
                </a:solidFill>
                <a:latin typeface="Aptos"/>
              </a:rPr>
              <a:t>再由</a:t>
            </a:r>
            <a:r>
              <a:rPr sz="1000" dirty="0">
                <a:solidFill>
                  <a:srgbClr val="5E6D85"/>
                </a:solidFill>
                <a:latin typeface="Aptos"/>
              </a:rPr>
              <a:t> </a:t>
            </a:r>
            <a:r>
              <a:rPr sz="1000" dirty="0" err="1">
                <a:solidFill>
                  <a:srgbClr val="5E6D85"/>
                </a:solidFill>
                <a:latin typeface="Aptos"/>
              </a:rPr>
              <a:t>Round.determine_hand_strength</a:t>
            </a:r>
            <a:r>
              <a:rPr sz="1000" dirty="0">
                <a:solidFill>
                  <a:srgbClr val="5E6D85"/>
                </a:solidFill>
                <a:latin typeface="Aptos"/>
              </a:rPr>
              <a:t>() </a:t>
            </a:r>
            <a:r>
              <a:rPr sz="1000" dirty="0" err="1">
                <a:solidFill>
                  <a:srgbClr val="5E6D85"/>
                </a:solidFill>
                <a:latin typeface="Aptos"/>
              </a:rPr>
              <a:t>取得分數</a:t>
            </a:r>
            <a:r>
              <a:rPr sz="1000" dirty="0">
                <a:solidFill>
                  <a:srgbClr val="5E6D85"/>
                </a:solidFill>
                <a:latin typeface="Aptos"/>
              </a:rPr>
              <a:t>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5074920"/>
            <a:ext cx="493776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49B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27648" y="5146008"/>
            <a:ext cx="4526280" cy="2693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dirty="0" err="1">
                <a:solidFill>
                  <a:srgbClr val="0D1B30"/>
                </a:solidFill>
                <a:latin typeface="+mj-lt"/>
              </a:rPr>
              <a:t>重點：比牌規則只維護一份，自動選牌只需要反覆比較</a:t>
            </a:r>
            <a:r>
              <a:rPr sz="1150" b="1" dirty="0">
                <a:solidFill>
                  <a:srgbClr val="0D1B30"/>
                </a:solidFill>
                <a:latin typeface="+mj-lt"/>
              </a:rPr>
              <a:t> strength。</a:t>
            </a:r>
          </a:p>
        </p:txBody>
      </p:sp>
      <p:sp>
        <p:nvSpPr>
          <p:cNvPr id="49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441060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altLang="zh-TW" sz="950" b="1" dirty="0" smtClean="0">
                <a:solidFill>
                  <a:srgbClr val="007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QUIZ</a:t>
            </a:r>
            <a:r>
              <a:rPr lang="en-US" sz="950" b="1" dirty="0" smtClean="0">
                <a:solidFill>
                  <a:srgbClr val="007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950" b="1" dirty="0">
                <a:solidFill>
                  <a:srgbClr val="007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</a:t>
            </a:r>
            <a:endParaRPr lang="en-US" sz="950" dirty="0">
              <a:solidFill>
                <a:srgbClr val="0070C0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TW" altLang="en-US" sz="240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限時問答挑戰 </a:t>
            </a:r>
            <a:r>
              <a:rPr lang="en-US" altLang="zh-TW" sz="240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:</a:t>
            </a:r>
            <a:r>
              <a:rPr lang="zh-TW" altLang="en-US" sz="240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可以挑戰、並提供檢討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TW" altLang="en-US" sz="1250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現時</a:t>
            </a:r>
            <a:r>
              <a:rPr lang="en-US" altLang="zh-TW" sz="1250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</a:t>
            </a:r>
            <a:r>
              <a:rPr lang="zh-TW" altLang="en-US" sz="1250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秒答題挑戰，考驗玩家對</a:t>
            </a:r>
            <a:r>
              <a:rPr lang="en-US" altLang="zh-TW" sz="1250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</a:t>
            </a:r>
            <a:r>
              <a:rPr lang="zh-TW" altLang="en-US" sz="1250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程式基本概念的了解，並提供閱讀與維護的功能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3504" y="1847088"/>
            <a:ext cx="4937760" cy="3200400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12648" y="1865376"/>
            <a:ext cx="4919472" cy="292608"/>
          </a:xfrm>
          <a:prstGeom prst="rect">
            <a:avLst/>
          </a:prstGeom>
          <a:solidFill>
            <a:srgbClr val="F2F6FB"/>
          </a:solidFill>
          <a:ln w="635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04088" y="1956816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50392" y="195681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996696" y="1956816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0" descr="/mnt/data/ppt_build/screenshots/08-poker-auto-select.png"/>
          <p:cNvPicPr>
            <a:picLocks noChangeAspect="1"/>
          </p:cNvPicPr>
          <p:nvPr/>
        </p:nvPicPr>
        <p:blipFill>
          <a:blip r:embed="rId3"/>
          <a:srcRect l="1908" r="1908"/>
          <a:stretch/>
        </p:blipFill>
        <p:spPr>
          <a:xfrm>
            <a:off x="630936" y="2157984"/>
            <a:ext cx="4882896" cy="283464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236208" y="1847088"/>
            <a:ext cx="4937760" cy="3200400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6245352" y="1865376"/>
            <a:ext cx="4919472" cy="292608"/>
          </a:xfrm>
          <a:prstGeom prst="rect">
            <a:avLst/>
          </a:prstGeom>
          <a:solidFill>
            <a:srgbClr val="F2F6FB"/>
          </a:solidFill>
          <a:ln w="635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336792" y="1956816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6483096" y="1956816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629400" y="1956816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1" descr="/mnt/data/ppt_build/screenshots/09-poker-result.png"/>
          <p:cNvPicPr>
            <a:picLocks noChangeAspect="1"/>
          </p:cNvPicPr>
          <p:nvPr/>
        </p:nvPicPr>
        <p:blipFill>
          <a:blip r:embed="rId4"/>
          <a:srcRect l="1908" r="1908"/>
          <a:stretch/>
        </p:blipFill>
        <p:spPr>
          <a:xfrm>
            <a:off x="6263640" y="2157984"/>
            <a:ext cx="4882896" cy="283464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32044" y="1469413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0"/>
          <p:cNvSpPr txBox="1"/>
          <p:nvPr/>
        </p:nvSpPr>
        <p:spPr>
          <a:xfrm>
            <a:off x="705196" y="1537993"/>
            <a:ext cx="93268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TW" altLang="en-US" sz="950" b="1" dirty="0" smtClean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亂數排列產生答題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336792" y="1442258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6409944" y="1510838"/>
            <a:ext cx="93268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TW" altLang="en-US" sz="950" b="1" dirty="0" smtClean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得分與閱卷檢討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069848" y="5522976"/>
            <a:ext cx="4206240" cy="438912"/>
          </a:xfrm>
          <a:prstGeom prst="roundRect">
            <a:avLst>
              <a:gd name="adj" fmla="val 25000"/>
            </a:avLst>
          </a:prstGeom>
          <a:solidFill>
            <a:srgbClr val="FBFDFF"/>
          </a:solidFill>
          <a:ln w="1397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1069848" y="5522976"/>
            <a:ext cx="73152" cy="4389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1298448" y="5650992"/>
            <a:ext cx="38404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1250" b="1" dirty="0" err="1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玩家身分</a:t>
            </a:r>
            <a:r>
              <a:rPr 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zh-TW" alt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加入挑戰</a:t>
            </a:r>
            <a:r>
              <a:rPr lang="zh-TW" alt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，並顯示剩餘時間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592824" y="5522976"/>
            <a:ext cx="4251960" cy="438912"/>
          </a:xfrm>
          <a:prstGeom prst="roundRect">
            <a:avLst>
              <a:gd name="adj" fmla="val 25000"/>
            </a:avLst>
          </a:prstGeom>
          <a:solidFill>
            <a:srgbClr val="FBFDFF"/>
          </a:solidFill>
          <a:ln w="1397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6592824" y="5522976"/>
            <a:ext cx="73152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6821424" y="5650992"/>
            <a:ext cx="388620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 err="1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</a:t>
            </a:r>
            <a:r>
              <a:rPr lang="zh-TW" altLang="en-US" sz="125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挑戰</a:t>
            </a:r>
            <a:r>
              <a:rPr lang="zh-TW" alt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分數，並提供答案對比的檢討結果</a:t>
            </a:r>
            <a:endParaRPr lang="en-US" sz="1250" dirty="0"/>
          </a:p>
        </p:txBody>
      </p:sp>
      <p:pic>
        <p:nvPicPr>
          <p:cNvPr id="33" name="圖片 32"/>
          <p:cNvPicPr>
            <a:picLocks noChangeAspect="1"/>
          </p:cNvPicPr>
          <p:nvPr/>
        </p:nvPicPr>
        <p:blipFill rotWithShape="1">
          <a:blip r:embed="rId5"/>
          <a:srcRect b="17310"/>
          <a:stretch/>
        </p:blipFill>
        <p:spPr>
          <a:xfrm>
            <a:off x="6409944" y="2231136"/>
            <a:ext cx="4736592" cy="2761488"/>
          </a:xfrm>
          <a:prstGeom prst="rect">
            <a:avLst/>
          </a:prstGeom>
        </p:spPr>
      </p:pic>
      <p:pic>
        <p:nvPicPr>
          <p:cNvPr id="34" name="圖片 33"/>
          <p:cNvPicPr>
            <a:picLocks noChangeAspect="1"/>
          </p:cNvPicPr>
          <p:nvPr/>
        </p:nvPicPr>
        <p:blipFill rotWithShape="1">
          <a:blip r:embed="rId6"/>
          <a:srcRect b="6260"/>
          <a:stretch/>
        </p:blipFill>
        <p:spPr>
          <a:xfrm>
            <a:off x="704088" y="2227812"/>
            <a:ext cx="4830581" cy="2763150"/>
          </a:xfrm>
          <a:prstGeom prst="rect">
            <a:avLst/>
          </a:prstGeom>
        </p:spPr>
      </p:pic>
      <p:sp>
        <p:nvSpPr>
          <p:cNvPr id="35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8511208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12680" y="0"/>
            <a:ext cx="2176272" cy="6858000"/>
          </a:xfrm>
          <a:prstGeom prst="rect">
            <a:avLst/>
          </a:prstGeom>
          <a:solidFill>
            <a:srgbClr val="EEF4FF"/>
          </a:solidFill>
          <a:ln w="12700">
            <a:solidFill>
              <a:srgbClr val="EEF4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533888" y="0"/>
            <a:ext cx="1655064" cy="6858000"/>
          </a:xfrm>
          <a:prstGeom prst="rect">
            <a:avLst/>
          </a:prstGeom>
          <a:solidFill>
            <a:srgbClr val="E8FAFF">
              <a:alpha val="90000"/>
            </a:srgbClr>
          </a:solidFill>
          <a:ln w="12700">
            <a:solidFill>
              <a:srgbClr val="E8FA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Text 2"/>
          <p:cNvSpPr txBox="1"/>
          <p:nvPr/>
        </p:nvSpPr>
        <p:spPr>
          <a:xfrm>
            <a:off x="603504" y="34747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altLang="zh-TW" sz="950" b="1" dirty="0" smtClean="0">
                <a:solidFill>
                  <a:srgbClr val="007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QUIZ</a:t>
            </a:r>
            <a:r>
              <a:rPr lang="en-US" sz="950" b="1" dirty="0" smtClean="0">
                <a:solidFill>
                  <a:srgbClr val="007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950" b="1" dirty="0">
                <a:solidFill>
                  <a:srgbClr val="007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</a:t>
            </a:r>
            <a:endParaRPr lang="en-US" sz="950" dirty="0">
              <a:solidFill>
                <a:srgbClr val="0070C0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603504" y="640080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TW" altLang="en-US" sz="240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限時問答挑戰 </a:t>
            </a:r>
            <a:r>
              <a:rPr lang="en-US" altLang="zh-TW" sz="240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:</a:t>
            </a:r>
            <a:r>
              <a:rPr lang="zh-TW" altLang="en-US" sz="240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題目維護與排行榜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12648" y="1143000"/>
            <a:ext cx="101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TW" altLang="en-US" sz="12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</a:rPr>
              <a:t>提供</a:t>
            </a:r>
            <a:r>
              <a:rPr lang="zh-TW" altLang="en-US" sz="1250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</a:rPr>
              <a:t>題目新增、修改、刪除等維護功能，並將玩家成績做成排行榜以資鼓勵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03504" y="2099610"/>
            <a:ext cx="4937760" cy="3200400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12648" y="2117898"/>
            <a:ext cx="4919472" cy="292608"/>
          </a:xfrm>
          <a:prstGeom prst="rect">
            <a:avLst/>
          </a:prstGeom>
          <a:solidFill>
            <a:srgbClr val="F2F6FB"/>
          </a:solidFill>
          <a:ln w="635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704088" y="2209338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50392" y="220933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996696" y="2209338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0" descr="/mnt/data/ppt_build/screenshots/08-poker-auto-select.png"/>
          <p:cNvPicPr>
            <a:picLocks noChangeAspect="1"/>
          </p:cNvPicPr>
          <p:nvPr/>
        </p:nvPicPr>
        <p:blipFill>
          <a:blip r:embed="rId3"/>
          <a:srcRect l="1908" r="1908"/>
          <a:stretch/>
        </p:blipFill>
        <p:spPr>
          <a:xfrm>
            <a:off x="630936" y="2410506"/>
            <a:ext cx="4882896" cy="283464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6236208" y="2099610"/>
            <a:ext cx="4937760" cy="3200400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6245352" y="2117898"/>
            <a:ext cx="4919472" cy="292608"/>
          </a:xfrm>
          <a:prstGeom prst="rect">
            <a:avLst/>
          </a:prstGeom>
          <a:solidFill>
            <a:srgbClr val="F2F6FB"/>
          </a:solidFill>
          <a:ln w="6350">
            <a:solidFill>
              <a:srgbClr val="D7E0E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336792" y="2209338"/>
            <a:ext cx="73152" cy="7315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/>
          <p:cNvSpPr/>
          <p:nvPr/>
        </p:nvSpPr>
        <p:spPr>
          <a:xfrm>
            <a:off x="6483096" y="2209338"/>
            <a:ext cx="73152" cy="7315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629400" y="2209338"/>
            <a:ext cx="73152" cy="7315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2" name="Image 1" descr="/mnt/data/ppt_build/screenshots/09-poker-result.png"/>
          <p:cNvPicPr>
            <a:picLocks noChangeAspect="1"/>
          </p:cNvPicPr>
          <p:nvPr/>
        </p:nvPicPr>
        <p:blipFill>
          <a:blip r:embed="rId4"/>
          <a:srcRect l="1908" r="1908"/>
          <a:stretch/>
        </p:blipFill>
        <p:spPr>
          <a:xfrm>
            <a:off x="6263640" y="2410506"/>
            <a:ext cx="4882896" cy="283464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30937" y="1642226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0"/>
          <p:cNvSpPr txBox="1"/>
          <p:nvPr/>
        </p:nvSpPr>
        <p:spPr>
          <a:xfrm>
            <a:off x="704089" y="1710806"/>
            <a:ext cx="93268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TW" altLang="en-US" sz="950" b="1" dirty="0" smtClean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題目維護頁面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236208" y="1613223"/>
            <a:ext cx="1078992" cy="32918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 txBox="1"/>
          <p:nvPr/>
        </p:nvSpPr>
        <p:spPr>
          <a:xfrm>
            <a:off x="6309360" y="1681803"/>
            <a:ext cx="93268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zh-TW" altLang="en-US" sz="950" b="1" dirty="0" smtClean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玩家分數排行榜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1069848" y="5775498"/>
            <a:ext cx="4206240" cy="438912"/>
          </a:xfrm>
          <a:prstGeom prst="roundRect">
            <a:avLst>
              <a:gd name="adj" fmla="val 25000"/>
            </a:avLst>
          </a:prstGeom>
          <a:solidFill>
            <a:srgbClr val="FBFDFF"/>
          </a:solidFill>
          <a:ln w="1397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4"/>
          <p:cNvSpPr/>
          <p:nvPr/>
        </p:nvSpPr>
        <p:spPr>
          <a:xfrm>
            <a:off x="1069848" y="5775498"/>
            <a:ext cx="73152" cy="438912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 txBox="1"/>
          <p:nvPr/>
        </p:nvSpPr>
        <p:spPr>
          <a:xfrm>
            <a:off x="1298448" y="5903514"/>
            <a:ext cx="38404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zh-TW" alt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玩家登入即可維護問答題目</a:t>
            </a:r>
            <a:endParaRPr lang="en-US" sz="1250" dirty="0"/>
          </a:p>
        </p:txBody>
      </p:sp>
      <p:sp>
        <p:nvSpPr>
          <p:cNvPr id="30" name="Shape 26"/>
          <p:cNvSpPr/>
          <p:nvPr/>
        </p:nvSpPr>
        <p:spPr>
          <a:xfrm>
            <a:off x="6592824" y="5775498"/>
            <a:ext cx="4251960" cy="438912"/>
          </a:xfrm>
          <a:prstGeom prst="roundRect">
            <a:avLst>
              <a:gd name="adj" fmla="val 25000"/>
            </a:avLst>
          </a:prstGeom>
          <a:solidFill>
            <a:srgbClr val="FBFDFF"/>
          </a:solidFill>
          <a:ln w="1397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6592824" y="5775498"/>
            <a:ext cx="73152" cy="43891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 txBox="1"/>
          <p:nvPr/>
        </p:nvSpPr>
        <p:spPr>
          <a:xfrm>
            <a:off x="6821424" y="5903514"/>
            <a:ext cx="388620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TW" altLang="en-US" sz="1250" b="1" dirty="0" smtClean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會記錄玩家分數，依照高低排行成績</a:t>
            </a:r>
            <a:endParaRPr lang="en-US" sz="1250" dirty="0"/>
          </a:p>
        </p:txBody>
      </p:sp>
      <p:pic>
        <p:nvPicPr>
          <p:cNvPr id="34" name="圖片 33"/>
          <p:cNvPicPr>
            <a:picLocks noChangeAspect="1"/>
          </p:cNvPicPr>
          <p:nvPr/>
        </p:nvPicPr>
        <p:blipFill rotWithShape="1">
          <a:blip r:embed="rId5"/>
          <a:srcRect b="6260"/>
          <a:stretch/>
        </p:blipFill>
        <p:spPr>
          <a:xfrm>
            <a:off x="704088" y="2480334"/>
            <a:ext cx="4830581" cy="2763150"/>
          </a:xfrm>
          <a:prstGeom prst="rect">
            <a:avLst/>
          </a:prstGeom>
        </p:spPr>
      </p:pic>
      <p:pic>
        <p:nvPicPr>
          <p:cNvPr id="101" name="圖片 100"/>
          <p:cNvPicPr>
            <a:picLocks noChangeAspect="1"/>
          </p:cNvPicPr>
          <p:nvPr/>
        </p:nvPicPr>
        <p:blipFill rotWithShape="1">
          <a:blip r:embed="rId6"/>
          <a:srcRect b="12330"/>
          <a:stretch/>
        </p:blipFill>
        <p:spPr>
          <a:xfrm>
            <a:off x="704089" y="2483659"/>
            <a:ext cx="4809744" cy="2751512"/>
          </a:xfrm>
          <a:prstGeom prst="rect">
            <a:avLst/>
          </a:prstGeom>
        </p:spPr>
      </p:pic>
      <p:pic>
        <p:nvPicPr>
          <p:cNvPr id="102" name="圖片 101"/>
          <p:cNvPicPr>
            <a:picLocks noChangeAspect="1"/>
          </p:cNvPicPr>
          <p:nvPr/>
        </p:nvPicPr>
        <p:blipFill rotWithShape="1">
          <a:blip r:embed="rId7"/>
          <a:srcRect b="10934"/>
          <a:stretch/>
        </p:blipFill>
        <p:spPr>
          <a:xfrm>
            <a:off x="6409945" y="2494992"/>
            <a:ext cx="4736592" cy="2750154"/>
          </a:xfrm>
          <a:prstGeom prst="rect">
            <a:avLst/>
          </a:prstGeom>
        </p:spPr>
      </p:pic>
      <p:sp>
        <p:nvSpPr>
          <p:cNvPr id="35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30861945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280160"/>
            <a:ext cx="1024128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1220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從會員到遊戲，平台已形成可展示的完整流程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102352" y="2066544"/>
            <a:ext cx="1993392" cy="2377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0891B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975104" y="2468880"/>
            <a:ext cx="8229600" cy="347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5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共用登入、遊戲目錄、組隊與房間流程，再由個別遊戲處理自己的規則。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1828800" y="3383280"/>
            <a:ext cx="27889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2563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011680" y="3621024"/>
            <a:ext cx="24231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端到端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2011680" y="4069080"/>
            <a:ext cx="242316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8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 → 房間 → 遊戲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074920" y="3383280"/>
            <a:ext cx="27889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57800" y="3621024"/>
            <a:ext cx="24231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4F46E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模組化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4069080"/>
            <a:ext cx="242316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8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共同平台 + 獨立遊戲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8321040" y="3383280"/>
            <a:ext cx="278892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03920" y="3621024"/>
            <a:ext cx="24231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05966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可驗證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069080"/>
            <a:ext cx="242316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80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58 項測試 + 實機流程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4544568" y="5394960"/>
            <a:ext cx="310896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4F46E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· Q&amp;A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603504" y="6419088"/>
            <a:ext cx="10991088" cy="0"/>
          </a:xfrm>
          <a:prstGeom prst="line">
            <a:avLst/>
          </a:prstGeom>
          <a:noFill/>
          <a:ln w="8890">
            <a:solidFill>
              <a:srgbClr val="E7EDF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" y="6519672"/>
            <a:ext cx="41148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GAMEPLATFORM · 小組專題成果報告</a:t>
            </a:r>
            <a:endParaRPr lang="en-US" sz="850" dirty="0"/>
          </a:p>
        </p:txBody>
      </p:sp>
      <p:sp>
        <p:nvSpPr>
          <p:cNvPr id="20" name="Text 8"/>
          <p:cNvSpPr txBox="1"/>
          <p:nvPr/>
        </p:nvSpPr>
        <p:spPr>
          <a:xfrm>
            <a:off x="11201400" y="649224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900" b="1" dirty="0" smtClean="0">
                <a:solidFill>
                  <a:srgbClr val="5C6B8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1155</Words>
  <Application>Microsoft Office PowerPoint</Application>
  <PresentationFormat>寬螢幕</PresentationFormat>
  <Paragraphs>398</Paragraphs>
  <Slides>20</Slides>
  <Notes>18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7" baseType="lpstr">
      <vt:lpstr>Aptos</vt:lpstr>
      <vt:lpstr>Microsoft JhengHei</vt:lpstr>
      <vt:lpstr>新細明體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Java 全端職訓小組專題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遊戲對戰平台 GamePlatform</dc:title>
  <dc:subject>簡易遊戲平台小組專題成果報告</dc:subject>
  <dc:creator>OpenAI</dc:creator>
  <cp:lastModifiedBy>student</cp:lastModifiedBy>
  <cp:revision>13</cp:revision>
  <cp:lastPrinted>2026-09-04T09:28:26Z</cp:lastPrinted>
  <dcterms:created xsi:type="dcterms:W3CDTF">2026-09-03T07:23:02Z</dcterms:created>
  <dcterms:modified xsi:type="dcterms:W3CDTF">2026-09-04T09:31:45Z</dcterms:modified>
</cp:coreProperties>
</file>