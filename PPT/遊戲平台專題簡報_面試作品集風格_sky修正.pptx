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72" r:id="rId15"/>
    <p:sldId id="268" r:id="rId16"/>
    <p:sldId id="271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28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89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83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4425696" cy="68580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510528" y="832104"/>
            <a:ext cx="5038344" cy="3639312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19672" y="850392"/>
            <a:ext cx="5020056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11112" y="941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757416" y="941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903720" y="941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a3ee7892-e793-4869-8dfe-8b6687969b4e.png"/>
          <p:cNvPicPr>
            <a:picLocks noChangeAspect="1"/>
          </p:cNvPicPr>
          <p:nvPr/>
        </p:nvPicPr>
        <p:blipFill>
          <a:blip r:embed="rId3"/>
          <a:srcRect l="12258" r="12258"/>
          <a:stretch/>
        </p:blipFill>
        <p:spPr>
          <a:xfrm>
            <a:off x="6537960" y="1143000"/>
            <a:ext cx="4983480" cy="32735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37960" y="3950208"/>
            <a:ext cx="4983480" cy="46634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94944" y="96012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1353312"/>
            <a:ext cx="5303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遊戲對戰平台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176272"/>
            <a:ext cx="4800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從會員登入、遊戲大廳、組隊與房間，</a:t>
            </a:r>
            <a:endParaRPr lang="en-US" sz="1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到進入遊戲的一體化平台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" y="3182112"/>
            <a:ext cx="658368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713232" y="3401568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全端工程師職訓 · 小組專題成果報告</a:t>
            </a:r>
            <a:endParaRPr lang="en-US" sz="1330" dirty="0"/>
          </a:p>
        </p:txBody>
      </p:sp>
      <p:sp>
        <p:nvSpPr>
          <p:cNvPr id="16" name="Shape 13"/>
          <p:cNvSpPr/>
          <p:nvPr/>
        </p:nvSpPr>
        <p:spPr>
          <a:xfrm>
            <a:off x="71323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78638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1051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188366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0779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298094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0507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407822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863072" y="6144768"/>
            <a:ext cx="713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GOAL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我們做的不是單一遊戲，而是一條完整的遊玩流程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玩家真正需要的，是從登入、找到遊戲，到和其他玩家一起開始遊戲都能順暢銜接。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77824" y="244144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77824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集中顯示遊戲與模式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0048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980944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45536" y="24414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145536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尋找玩家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大廳與組隊公告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248656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13248" y="2441448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13248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742432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依模式驗證人數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516368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680960" y="244144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8096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10144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等待同步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10144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房主與玩家名單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73184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948672" y="2441448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9948672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277856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帶入房號與身分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25880" y="4251960"/>
            <a:ext cx="955548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325880" y="4251960"/>
            <a:ext cx="73152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554480" y="4379976"/>
            <a:ext cx="9189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共用會員、遊戲目錄與房間流程，個別遊戲只專注自己的規則與對局。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MODULES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六個模組共同組成遊戲平台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這一頁只看「系統責任」，不是組員分工。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2944368" cy="960120"/>
          </a:xfrm>
          <a:prstGeom prst="roundRect">
            <a:avLst>
              <a:gd name="adj" fmla="val 11429"/>
            </a:avLst>
          </a:prstGeom>
          <a:solidFill>
            <a:srgbClr val="F0F6FF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864608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724912"/>
            <a:ext cx="2441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共用身分、目錄與流程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4124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33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JWT · 會員管理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4944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841248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33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 · 模式 · 入口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03580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18211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33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建房 · 入房 · 等待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87628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702259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</a:t>
            </a:r>
            <a:endParaRPr lang="en-US" sz="133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 · 申請 · 通知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162288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308592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</a:t>
            </a:r>
            <a:endParaRPr lang="en-US" sz="1330" dirty="0"/>
          </a:p>
        </p:txBody>
      </p:sp>
      <p:sp>
        <p:nvSpPr>
          <p:cNvPr id="28" name="Text 26"/>
          <p:cNvSpPr txBox="1"/>
          <p:nvPr/>
        </p:nvSpPr>
        <p:spPr>
          <a:xfrm>
            <a:off x="9308592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聊天室即時訊息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162288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9308592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330" dirty="0"/>
          </a:p>
        </p:txBody>
      </p:sp>
      <p:sp>
        <p:nvSpPr>
          <p:cNvPr id="31" name="Text 29"/>
          <p:cNvSpPr txBox="1"/>
          <p:nvPr/>
        </p:nvSpPr>
        <p:spPr>
          <a:xfrm>
            <a:off x="9308592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· Quiz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2962656" y="2587752"/>
            <a:ext cx="13716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7616952" y="2587752"/>
            <a:ext cx="135331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089904" y="3182112"/>
            <a:ext cx="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6089904" y="3182112"/>
            <a:ext cx="0" cy="123444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187952" y="4416552"/>
            <a:ext cx="377647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前端、Spring Boot 與 SQLite 串起所有模組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正式專題主要採用 HTML、CSS、JavaScript 與 jQuery，後端由 Spring Boot 提供 API。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2688" y="187452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70432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09397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· CSS · JavaScript · jQuery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211226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畫面、表單與操作狀態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78892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32688" y="320040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1170432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 · WebSocket · JWT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343814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→ Service → 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411480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32688" y="452628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170432" y="468172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474573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76402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JPA／Hibernate + JDBC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74520" y="5669280"/>
            <a:ext cx="8412480" cy="384048"/>
          </a:xfrm>
          <a:prstGeom prst="roundRect">
            <a:avLst>
              <a:gd name="adj" fmla="val 28571"/>
            </a:avLst>
          </a:prstGeom>
          <a:solidFill>
            <a:srgbClr val="EEF7FF"/>
          </a:solidFill>
          <a:ln w="10160">
            <a:solidFill>
              <a:srgbClr val="D9EA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2048256" y="5760720"/>
            <a:ext cx="8065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Game Management · Lobby · Board · Chat · Poker · Quiz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網頁使用流程：從登入到進入遊戲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同一個平台身分貫穿所有步驟，遊戲頁不需要再次建立獨立帳號。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2144" y="2130552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521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JWT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7510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026664" y="21305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302666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5973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245973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4962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901184" y="213055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90118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3425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選模式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433425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GameMode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72414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775704" y="2130552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677570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組隊／建房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620877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驗證人數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59866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650224" y="213055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865022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同步玩家名單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47318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524744" y="213055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105247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578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99578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 room ID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188720" y="4315968"/>
            <a:ext cx="9802368" cy="777240"/>
          </a:xfrm>
          <a:prstGeom prst="roundRect">
            <a:avLst>
              <a:gd name="adj" fmla="val 14118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188720" y="4315968"/>
            <a:ext cx="73152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417320" y="4443984"/>
            <a:ext cx="94366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 決定要開啟哪個遊戲頁面；room ID 讓遊戲取得本次房間、模式與玩家資訊。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/ MODE / ROOM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Game、GameMode 與 Room 把遊戲設定從房間邏輯中抽離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保存遊戲入口，GameMode 保存模式限制，Room 保存一次等待中的對局。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04672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6968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77824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/ QUIZ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 · 入口路徑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 · 啟用狀態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980944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474720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3621024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GameMode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694176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 / COMPUTER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minPlayers · maxPlayers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computerPlayers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797296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291072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437376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9672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510528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gameId + modeId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hostAccount · players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613648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107424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9253728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36024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9326880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poker_client.html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?room=XXXXXXXX</a:t>
            </a:r>
            <a:endParaRPr lang="en-US" sz="102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依房間資料啟動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828800" y="5074920"/>
            <a:ext cx="854964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828800" y="5074920"/>
            <a:ext cx="73152" cy="71323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2057400" y="5202936"/>
            <a:ext cx="8183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房間只依 gameId / modeId 查規則，不需要把 Poker 或 Quiz 的特殊玩法寫死在通用房間模組。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ER Model：會員、遊戲目錄與房間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先看會直接影響「登入 → 選遊戲 → 建房 → 進遊戲」的資料表。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938528"/>
            <a:ext cx="12801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58952" y="20208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377440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28016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2801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58952" y="392277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279392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status_name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87168" y="2423160"/>
            <a:ext cx="18288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487168" y="2423160"/>
            <a:ext cx="182880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606040" y="2505456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15184" y="2862072"/>
            <a:ext cx="1572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role_id · status_id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1938528"/>
            <a:ext cx="15727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892040" y="1938528"/>
            <a:ext cx="157276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010912" y="202082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0056" y="2377440"/>
            <a:ext cx="1316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game_code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frontend_path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backend_path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3840480"/>
            <a:ext cx="175564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892040" y="3840480"/>
            <a:ext cx="175564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5010912" y="392277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game_modes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020056" y="4279392"/>
            <a:ext cx="1499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mode_code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min/max players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16368" y="2331720"/>
            <a:ext cx="196596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516368" y="2331720"/>
            <a:ext cx="196596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7635240" y="241401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644384" y="2770632"/>
            <a:ext cx="17099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 (8碼)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host_account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012680" y="2596896"/>
            <a:ext cx="1481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012680" y="2596896"/>
            <a:ext cx="1481328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10131552" y="267919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room_players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140696" y="30358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player_account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56816" y="2560320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956816" y="4142232"/>
            <a:ext cx="38404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656832" y="2578608"/>
            <a:ext cx="59436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839712" y="4315968"/>
            <a:ext cx="512064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564624" y="3118104"/>
            <a:ext cx="320040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984248" y="2139696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2057400" y="2208276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84248" y="371246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2057400" y="378104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693408" y="214884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6766560" y="221742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76288" y="3886200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6949440" y="3954780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37192" y="2706624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9610344" y="2775204"/>
            <a:ext cx="3566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: 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0" y="5623560"/>
            <a:ext cx="6263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 同時保存 game_id 與 mode_id；room_players 是 Room.players 的 ElementCollection 關聯表。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BOARD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ER Model：組隊公告如何連到會員、遊戲與房間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有自己的 Entity，但透過 platform_user_id、game_id、mode_id、room_id 與其他模組銜接。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15087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2148840"/>
            <a:ext cx="15087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77240" y="223113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587752"/>
            <a:ext cx="12527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2148840"/>
            <a:ext cx="175564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560320" y="2148840"/>
            <a:ext cx="1755648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679192" y="223113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88336" y="2587752"/>
            <a:ext cx="14996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platform_user_id (UQ)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· nickname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194767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1947672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873752" y="204825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team_posts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82896" y="2404872"/>
            <a:ext cx="1691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· mode_id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 · 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42048" y="1572768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242048" y="1572768"/>
            <a:ext cx="1883664" cy="32918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7360920" y="1655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join_requests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20116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post_id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42048" y="3858768"/>
            <a:ext cx="1883664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242048" y="3858768"/>
            <a:ext cx="1883664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360920" y="39410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4297680"/>
            <a:ext cx="16276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member_id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post_id · message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784080" y="2450592"/>
            <a:ext cx="14173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784080" y="2450592"/>
            <a:ext cx="14173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9902952" y="253288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 / modes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912096" y="2889504"/>
            <a:ext cx="1161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</a:t>
            </a:r>
            <a:endParaRPr lang="en-US" sz="8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mode_id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21992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4389120" y="2651760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766560" y="243230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766560" y="4352544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208008" y="2907792"/>
            <a:ext cx="40233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463040" y="5440680"/>
            <a:ext cx="9372600" cy="475488"/>
          </a:xfrm>
          <a:prstGeom prst="roundRect">
            <a:avLst>
              <a:gd name="adj" fmla="val 23077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463040" y="5440680"/>
            <a:ext cx="7315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691640" y="5568696"/>
            <a:ext cx="9006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重點：組隊模組不直接取代會員／房間資料表，而是保存必要的識別資訊與自己的流程狀態。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讓不同頁面共享同一個登入身分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前端保存登入結果；每次受保護請求仍由後端重新驗證 token 與帳號狀態。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307592" y="21762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30759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24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+ password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487168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871216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557016" y="217627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557016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80944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2980944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userId · account · role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36592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120640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806440" y="217627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064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24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Bearer token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986016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70064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055864" y="217627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8055864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Filter</a:t>
            </a:r>
            <a:endParaRPr lang="en-US" sz="1240" dirty="0"/>
          </a:p>
        </p:txBody>
      </p:sp>
      <p:sp>
        <p:nvSpPr>
          <p:cNvPr id="33" name="Text 31"/>
          <p:cNvSpPr txBox="1"/>
          <p:nvPr/>
        </p:nvSpPr>
        <p:spPr>
          <a:xfrm>
            <a:off x="7479792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驗簽 · 到期 · 狀態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235440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619488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305288" y="2176272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1030528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Modules</a:t>
            </a:r>
            <a:endParaRPr lang="en-US" sz="124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Board · Lobby · Games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591056" y="4526280"/>
            <a:ext cx="9006840" cy="731520"/>
          </a:xfrm>
          <a:prstGeom prst="roundRect">
            <a:avLst>
              <a:gd name="adj" fmla="val 15000"/>
            </a:avLst>
          </a:prstGeom>
          <a:solidFill>
            <a:srgbClr val="FBFDFF"/>
          </a:solidFill>
          <a:ln w="1397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591056" y="4526280"/>
            <a:ext cx="73152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1819656" y="4654296"/>
            <a:ext cx="8641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只保存資料；真正能不能操作，仍以後端驗證結果為準。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CROSS-MODULE SEQUENCE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核心功能資料流：組隊完成後建立房間並導向遊戲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用一次核心流程說明前端、Controller、Service、Game Management、Lobby 與 DB 如何串接。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303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UI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選遊戲／模式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送出組隊資料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02996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37744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245059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接收請求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取得登入身分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5020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29768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7083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Service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申請／核准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判斷人數到齊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87044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21792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629107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gameId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modeId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79068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3816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821131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加入玩家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71092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584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101315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</a:t>
            </a:r>
            <a:endParaRPr lang="en-US" sz="86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6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room ID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71032" y="3675888"/>
            <a:ext cx="274320" cy="457200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840480" y="4434840"/>
            <a:ext cx="4535424" cy="685800"/>
          </a:xfrm>
          <a:prstGeom prst="roundRect">
            <a:avLst>
              <a:gd name="adj" fmla="val 16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3840480" y="4434840"/>
            <a:ext cx="73152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4069080" y="4562856"/>
            <a:ext cx="4169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+ WebSocket：資料交易成功後才保存／推送玩家名單、通知與房間狀態。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 PRODUCT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實際畫面把平台流程連成一致體驗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遊戲大廳 → 組隊設定 → 房間等待，畫面都使用同一個登入身分。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3310128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7782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2412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a3ee7892-e793-4869-8dfe-8b6687969b4e.png"/>
          <p:cNvPicPr>
            <a:picLocks noChangeAspect="1"/>
          </p:cNvPicPr>
          <p:nvPr/>
        </p:nvPicPr>
        <p:blipFill>
          <a:blip r:embed="rId3"/>
          <a:srcRect l="8135" r="8135"/>
          <a:stretch/>
        </p:blipFill>
        <p:spPr>
          <a:xfrm>
            <a:off x="658368" y="1847088"/>
            <a:ext cx="3273552" cy="19385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407408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4416552" y="1554480"/>
            <a:ext cx="3310128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507992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4654296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4800600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4-board-create-team.png"/>
          <p:cNvPicPr>
            <a:picLocks noChangeAspect="1"/>
          </p:cNvPicPr>
          <p:nvPr/>
        </p:nvPicPr>
        <p:blipFill>
          <a:blip r:embed="rId4"/>
          <a:srcRect l="2854" r="2854"/>
          <a:stretch/>
        </p:blipFill>
        <p:spPr>
          <a:xfrm>
            <a:off x="4434840" y="1847088"/>
            <a:ext cx="3273552" cy="193852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83880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8193024" y="1554480"/>
            <a:ext cx="3310128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8284464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8430768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8577072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2" descr="/mnt/data/ppt_build/screenshots/06-waiting-room.png"/>
          <p:cNvPicPr>
            <a:picLocks noChangeAspect="1"/>
          </p:cNvPicPr>
          <p:nvPr/>
        </p:nvPicPr>
        <p:blipFill>
          <a:blip r:embed="rId5"/>
          <a:srcRect l="2854" r="2854"/>
          <a:stretch/>
        </p:blipFill>
        <p:spPr>
          <a:xfrm>
            <a:off x="8211312" y="1847088"/>
            <a:ext cx="3273552" cy="193852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58368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5"/>
          <p:cNvSpPr/>
          <p:nvPr/>
        </p:nvSpPr>
        <p:spPr>
          <a:xfrm>
            <a:off x="822960" y="445312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6"/>
          <p:cNvSpPr txBox="1"/>
          <p:nvPr/>
        </p:nvSpPr>
        <p:spPr>
          <a:xfrm>
            <a:off x="822960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1152144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遊戲清單由 Game Management 提供。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434840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0"/>
          <p:cNvSpPr/>
          <p:nvPr/>
        </p:nvSpPr>
        <p:spPr>
          <a:xfrm>
            <a:off x="4599432" y="445312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1"/>
          <p:cNvSpPr txBox="1"/>
          <p:nvPr/>
        </p:nvSpPr>
        <p:spPr>
          <a:xfrm>
            <a:off x="4599432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928616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設定隊伍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4928616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模式與人數依資料動態產生。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211312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5"/>
          <p:cNvSpPr/>
          <p:nvPr/>
        </p:nvSpPr>
        <p:spPr>
          <a:xfrm>
            <a:off x="8375904" y="445312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 txBox="1"/>
          <p:nvPr/>
        </p:nvSpPr>
        <p:spPr>
          <a:xfrm>
            <a:off x="8375904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705088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8705088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房號、房主與玩家名單同步顯示。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GAME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田忌撲克完成選牌、比牌與三輪結果呈現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同一頁完成玩家資訊、目前輪次、選牌區、結果區與三輪戰績呈現。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8096" y="1554480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59536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05840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52144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ppt_build/screenshots/08-poker-auto-select.png"/>
          <p:cNvPicPr>
            <a:picLocks noChangeAspect="1"/>
          </p:cNvPicPr>
          <p:nvPr/>
        </p:nvPicPr>
        <p:blipFill>
          <a:blip r:embed="rId3"/>
          <a:srcRect l="1908" r="1908"/>
          <a:stretch/>
        </p:blipFill>
        <p:spPr>
          <a:xfrm>
            <a:off x="786384" y="1847088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91656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400800" y="1554480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49224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63854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78484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9-poker-result.png"/>
          <p:cNvPicPr>
            <a:picLocks noChangeAspect="1"/>
          </p:cNvPicPr>
          <p:nvPr/>
        </p:nvPicPr>
        <p:blipFill>
          <a:blip r:embed="rId4"/>
          <a:srcRect l="1908" r="1908"/>
          <a:stretch/>
        </p:blipFill>
        <p:spPr>
          <a:xfrm>
            <a:off x="6419088" y="1847088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005840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1078992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38544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6711696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三輪結果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225296" y="5212080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1225296" y="5212080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1453896" y="5340096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房間資訊 + 玩家身分 + 手牌 + 本輪結果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748272" y="5212080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6748272" y="5212080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6976872" y="5340096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同一頁顯示三輪戰績與對局結果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TW" sz="950" b="1" dirty="0" smtClean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</a:t>
            </a:r>
            <a:r>
              <a:rPr lang="en-US" sz="950" b="1" dirty="0" smtClean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950" b="1" dirty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950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限時問答挑戰 </a:t>
            </a:r>
            <a:r>
              <a:rPr lang="en-US" altLang="zh-TW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可以挑戰、並提供檢討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現時</a:t>
            </a:r>
            <a:r>
              <a:rPr lang="en-US" altLang="zh-TW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r>
              <a:rPr lang="zh-TW" alt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秒答題挑戰，考驗玩家對</a:t>
            </a:r>
            <a:r>
              <a:rPr lang="en-US" altLang="zh-TW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</a:t>
            </a:r>
            <a:r>
              <a:rPr lang="zh-TW" alt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程式基本概念的了解，並提供閱讀與維護的功能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8096" y="1554480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59536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05840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52144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ppt_build/screenshots/08-poker-auto-select.png"/>
          <p:cNvPicPr>
            <a:picLocks noChangeAspect="1"/>
          </p:cNvPicPr>
          <p:nvPr/>
        </p:nvPicPr>
        <p:blipFill>
          <a:blip r:embed="rId3"/>
          <a:srcRect l="1908" r="1908"/>
          <a:stretch/>
        </p:blipFill>
        <p:spPr>
          <a:xfrm>
            <a:off x="786384" y="1847088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91656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400800" y="1554480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49224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63854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78484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9-poker-result.png"/>
          <p:cNvPicPr>
            <a:picLocks noChangeAspect="1"/>
          </p:cNvPicPr>
          <p:nvPr/>
        </p:nvPicPr>
        <p:blipFill>
          <a:blip r:embed="rId4"/>
          <a:srcRect l="1908" r="1908"/>
          <a:stretch/>
        </p:blipFill>
        <p:spPr>
          <a:xfrm>
            <a:off x="6419088" y="1847088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005840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1078992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TW" altLang="en-US" sz="9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亂數排列產生答題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38544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6711696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TW" altLang="en-US" sz="9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得分與閱卷檢討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225296" y="5212080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1225296" y="5212080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1453896" y="5340096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250" b="1" dirty="0" err="1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玩家身分</a:t>
            </a: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zh-TW" alt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加入挑戰</a:t>
            </a: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，並顯示剩餘時間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748272" y="5212080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6748272" y="5212080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6976872" y="5340096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 err="1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</a:t>
            </a:r>
            <a:r>
              <a:rPr lang="zh-TW" alt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</a:t>
            </a: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分數，並提供答案對比的檢討結果</a:t>
            </a:r>
            <a:endParaRPr lang="en-US" sz="1250" dirty="0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 rotWithShape="1">
          <a:blip r:embed="rId5"/>
          <a:srcRect b="17310"/>
          <a:stretch/>
        </p:blipFill>
        <p:spPr>
          <a:xfrm>
            <a:off x="6565392" y="1920240"/>
            <a:ext cx="4736592" cy="2761488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 rotWithShape="1">
          <a:blip r:embed="rId6"/>
          <a:srcRect b="6260"/>
          <a:stretch/>
        </p:blipFill>
        <p:spPr>
          <a:xfrm>
            <a:off x="859536" y="1916916"/>
            <a:ext cx="4830581" cy="276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7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TW" sz="950" b="1" dirty="0" smtClean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</a:t>
            </a:r>
            <a:r>
              <a:rPr lang="en-US" sz="950" b="1" dirty="0" smtClean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950" b="1" dirty="0">
                <a:solidFill>
                  <a:srgbClr val="007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950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限時問答挑戰 </a:t>
            </a:r>
            <a:r>
              <a:rPr lang="en-US" altLang="zh-TW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240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題目維護與排行榜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</a:rPr>
              <a:t>提供</a:t>
            </a:r>
            <a:r>
              <a:rPr lang="zh-TW" altLang="en-US" sz="1250" dirty="0" smtClean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</a:rPr>
              <a:t>題目新增、修改、刪除等維護功能，並將玩家成績做成排行榜以資鼓勵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8096" y="1554480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59536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05840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152144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mnt/data/ppt_build/screenshots/08-poker-auto-select.png"/>
          <p:cNvPicPr>
            <a:picLocks noChangeAspect="1"/>
          </p:cNvPicPr>
          <p:nvPr/>
        </p:nvPicPr>
        <p:blipFill>
          <a:blip r:embed="rId3"/>
          <a:srcRect l="1908" r="1908"/>
          <a:stretch/>
        </p:blipFill>
        <p:spPr>
          <a:xfrm>
            <a:off x="786384" y="1847088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91656" y="1536192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400800" y="1554480"/>
            <a:ext cx="4919472" cy="292608"/>
          </a:xfrm>
          <a:prstGeom prst="rect">
            <a:avLst/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49224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63854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78484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mnt/data/ppt_build/screenshots/09-poker-result.png"/>
          <p:cNvPicPr>
            <a:picLocks noChangeAspect="1"/>
          </p:cNvPicPr>
          <p:nvPr/>
        </p:nvPicPr>
        <p:blipFill>
          <a:blip r:embed="rId4"/>
          <a:srcRect l="1908" r="1908"/>
          <a:stretch/>
        </p:blipFill>
        <p:spPr>
          <a:xfrm>
            <a:off x="6419088" y="1847088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005840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1078992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TW" altLang="en-US" sz="9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題目維護頁面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38544" y="148132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6711696" y="1549908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TW" altLang="en-US" sz="950" b="1" dirty="0" smtClean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玩家分數排行榜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225296" y="5212080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1225296" y="5212080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5"/>
          <p:cNvSpPr txBox="1"/>
          <p:nvPr/>
        </p:nvSpPr>
        <p:spPr>
          <a:xfrm>
            <a:off x="1453896" y="5340096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玩家登入即可維護問答題目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748272" y="5212080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6748272" y="5212080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6976872" y="5340096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TW" altLang="en-US" sz="1250" b="1" dirty="0" smtClean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會記錄玩家分數，依照高低排行成績</a:t>
            </a:r>
            <a:endParaRPr lang="en-US" sz="1250" dirty="0"/>
          </a:p>
        </p:txBody>
      </p:sp>
      <p:pic>
        <p:nvPicPr>
          <p:cNvPr id="34" name="圖片 33"/>
          <p:cNvPicPr>
            <a:picLocks noChangeAspect="1"/>
          </p:cNvPicPr>
          <p:nvPr/>
        </p:nvPicPr>
        <p:blipFill rotWithShape="1">
          <a:blip r:embed="rId5"/>
          <a:srcRect b="6260"/>
          <a:stretch/>
        </p:blipFill>
        <p:spPr>
          <a:xfrm>
            <a:off x="859536" y="1916916"/>
            <a:ext cx="4830581" cy="2763150"/>
          </a:xfrm>
          <a:prstGeom prst="rect">
            <a:avLst/>
          </a:prstGeom>
        </p:spPr>
      </p:pic>
      <p:pic>
        <p:nvPicPr>
          <p:cNvPr id="101" name="圖片 100"/>
          <p:cNvPicPr>
            <a:picLocks noChangeAspect="1"/>
          </p:cNvPicPr>
          <p:nvPr/>
        </p:nvPicPr>
        <p:blipFill rotWithShape="1">
          <a:blip r:embed="rId6"/>
          <a:srcRect b="12330"/>
          <a:stretch/>
        </p:blipFill>
        <p:spPr>
          <a:xfrm>
            <a:off x="859537" y="1920241"/>
            <a:ext cx="4809744" cy="2751512"/>
          </a:xfrm>
          <a:prstGeom prst="rect">
            <a:avLst/>
          </a:prstGeom>
        </p:spPr>
      </p:pic>
      <p:pic>
        <p:nvPicPr>
          <p:cNvPr id="102" name="圖片 101"/>
          <p:cNvPicPr>
            <a:picLocks noChangeAspect="1"/>
          </p:cNvPicPr>
          <p:nvPr/>
        </p:nvPicPr>
        <p:blipFill rotWithShape="1">
          <a:blip r:embed="rId7"/>
          <a:srcRect b="10934"/>
          <a:stretch/>
        </p:blipFill>
        <p:spPr>
          <a:xfrm>
            <a:off x="6565393" y="1931574"/>
            <a:ext cx="4736592" cy="275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8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0">
                <a:solidFill>
                  <a:srgbClr val="0B1D31"/>
                </a:solidFill>
                <a:latin typeface="Microsoft JhengHei"/>
              </a:rPr>
              <a:t>Poker 演算法：把牌型轉成可直接比較的 strength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>
                <a:solidFill>
                  <a:srgbClr val="5E6D85"/>
                </a:solidFill>
                <a:latin typeface="Aptos"/>
              </a:rPr>
              <a:t>以 ♦2、♦6、♦8、♦9、♦K 同花為例，將牌型、點數與花色編碼成單一 long 值。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13</a:t>
            </a:r>
            <a:endParaRPr lang="en-US" sz="900" dirty="0"/>
          </a:p>
        </p:txBody>
      </p:sp>
      <p:pic>
        <p:nvPicPr>
          <p:cNvPr id="11" name="Picture 10" descr="card_a_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55648"/>
            <a:ext cx="448056" cy="650577"/>
          </a:xfrm>
          <a:prstGeom prst="rect">
            <a:avLst/>
          </a:prstGeom>
        </p:spPr>
      </p:pic>
      <p:pic>
        <p:nvPicPr>
          <p:cNvPr id="12" name="Picture 11" descr="card_a_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755648"/>
            <a:ext cx="448056" cy="650577"/>
          </a:xfrm>
          <a:prstGeom prst="rect">
            <a:avLst/>
          </a:prstGeom>
        </p:spPr>
      </p:pic>
      <p:pic>
        <p:nvPicPr>
          <p:cNvPr id="13" name="Picture 12" descr="card_a_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1755648"/>
            <a:ext cx="448056" cy="650577"/>
          </a:xfrm>
          <a:prstGeom prst="rect">
            <a:avLst/>
          </a:prstGeom>
        </p:spPr>
      </p:pic>
      <p:pic>
        <p:nvPicPr>
          <p:cNvPr id="14" name="Picture 13" descr="card_a_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39" y="1755648"/>
            <a:ext cx="448056" cy="650577"/>
          </a:xfrm>
          <a:prstGeom prst="rect">
            <a:avLst/>
          </a:prstGeom>
        </p:spPr>
      </p:pic>
      <p:pic>
        <p:nvPicPr>
          <p:cNvPr id="15" name="Picture 14" descr="card_a_d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91" y="1755648"/>
            <a:ext cx="448056" cy="6505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999232"/>
            <a:ext cx="36576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1100" b="0">
                <a:solidFill>
                  <a:srgbClr val="0B1D31"/>
                </a:solidFill>
                <a:latin typeface="Microsoft JhengHei"/>
              </a:rPr>
              <a:t>範例：♦2、♦6、♦8、♦9、♦K ＝ 同花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627632"/>
            <a:ext cx="5806440" cy="1389888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1975104"/>
            <a:ext cx="2240280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JhengHei"/>
              </a:rPr>
              <a:t>513090806021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029968"/>
            <a:ext cx="2926080" cy="310896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1400" b="1">
                <a:solidFill>
                  <a:srgbClr val="FFDCE2"/>
                </a:solidFill>
                <a:latin typeface="Microsoft JhengHei"/>
              </a:rPr>
              <a:t>=  5  |  13  |  09  |  08  |  06  |  02  | 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32888"/>
            <a:ext cx="4800600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950" b="0">
                <a:solidFill>
                  <a:srgbClr val="DEE5F1"/>
                </a:solidFill>
                <a:latin typeface="Microsoft JhengHei"/>
              </a:rPr>
              <a:t>牌型  同花        最大K        9        8        6        2       花色♦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0392" y="4005072"/>
            <a:ext cx="2788920" cy="310896"/>
          </a:xfrm>
          <a:prstGeom prst="rect">
            <a:avLst/>
          </a:prstGeom>
          <a:solidFill>
            <a:srgbClr val="E71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1"/>
            <a:ext cx="2569463" cy="201168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強度編碼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443983"/>
            <a:ext cx="2514600" cy="786384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牌型放在最高位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點數由大到小排列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kicker／花色放在低位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比較時只看 long 大小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31920" y="4005072"/>
            <a:ext cx="2788920" cy="310896"/>
          </a:xfrm>
          <a:prstGeom prst="rect">
            <a:avLst/>
          </a:prstGeom>
          <a:solidFill>
            <a:srgbClr val="703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41648" y="4050791"/>
            <a:ext cx="2569463" cy="201168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規則集中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443983"/>
            <a:ext cx="2514600" cy="786384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牌型規則集中維護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牌組統一轉成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避免大量 if / else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13448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13448" y="4005072"/>
            <a:ext cx="2788920" cy="310896"/>
          </a:xfrm>
          <a:prstGeom prst="rect">
            <a:avLst/>
          </a:prstGeom>
          <a:solidFill>
            <a:srgbClr val="049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23176" y="4050791"/>
            <a:ext cx="2569463" cy="201168"/>
          </a:xfrm>
          <a:prstGeom prst="rect">
            <a:avLst/>
          </a:prstGeom>
          <a:noFill/>
        </p:spPr>
        <p:txBody>
          <a:bodyPr wrap="square" tIns="36576" rIns="73152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自動選牌基礎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4443983"/>
            <a:ext cx="2514600" cy="786384"/>
          </a:xfrm>
          <a:prstGeom prst="rect">
            <a:avLst/>
          </a:prstGeom>
          <a:noFill/>
        </p:spPr>
        <p:txBody>
          <a:bodyPr wrap="square" lIns="128016" tIns="73152" rIns="109728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find_best_cards() 列舉組合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每組計算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保留最高分牌組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050" b="1">
                <a:solidFill>
                  <a:srgbClr val="049B71"/>
                </a:solidFill>
                <a:latin typeface="Aptos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700" b="0">
                <a:solidFill>
                  <a:srgbClr val="0D1B30"/>
                </a:solidFill>
                <a:latin typeface="Aptos"/>
              </a:rPr>
              <a:t>自動選牌：find_best_cards() 找出本輪最強手牌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>
                <a:solidFill>
                  <a:srgbClr val="5E6D85"/>
                </a:solidFill>
                <a:latin typeface="Aptos"/>
              </a:rPr>
              <a:t>列舉本輪可用牌的候選組合，將每一組轉成 strength，比較後保留分數最高的牌組。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14</a:t>
            </a:r>
            <a:endParaRPr lang="en-US" sz="900" dirty="0"/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5371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255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5139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71C52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扣除已用牌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前面輪次已選牌不再使用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9864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038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決定張數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第 1 輪 3 張；第 2/3 輪 5 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列舉組合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從剩餘手牌取 C(n,k)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9632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49B71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計算分數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score() → hand_strength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45167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保留最高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E6D85"/>
                </a:solidFill>
                <a:latin typeface="Aptos"/>
              </a:rPr>
              <a:t>更新 best_score 與 best[]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2907792"/>
            <a:ext cx="5166360" cy="2176272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3090672"/>
            <a:ext cx="4526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find_best_cards() 核心概念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474720"/>
            <a:ext cx="45537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  <a:latin typeface="Consolas"/>
              </a:rPr>
              <a:t>best_score = -1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for each combination C(n, k):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score = score(current, count)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if score &gt; best_score: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best_score = score</a:t>
            </a:r>
            <a:r>
              <a:t/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 = current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907792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2980944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1C52"/>
                </a:solidFill>
                <a:latin typeface="Aptos"/>
              </a:rPr>
              <a:t>回合策略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2980944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依目前流程先選第 3 輪 5 張，再選第 2 輪，最後處理第 1 輪 3 張。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602736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91072" y="3675888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038FF"/>
                </a:solidFill>
                <a:latin typeface="Aptos"/>
              </a:rPr>
              <a:t>目前輪次自動選牌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675888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auto_choose_current_round() 只重算目前輪次；已完成輪次保持鎖定。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297680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91072" y="437083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49B71"/>
                </a:solidFill>
                <a:latin typeface="Aptos"/>
              </a:rPr>
              <a:t>與 strength 的關係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4370832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每一組候選牌都交給 score()，再由 Round.determine_hand_strength() 取得分數。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5074920"/>
            <a:ext cx="493776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27648" y="5175504"/>
            <a:ext cx="45262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0D1B30"/>
                </a:solidFill>
                <a:latin typeface="Aptos"/>
              </a:rPr>
              <a:t>重點：比牌規則只維護一份，自動選牌只需要反覆比較 strength。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/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0">
                <a:solidFill>
                  <a:srgbClr val="0B1D31"/>
                </a:solidFill>
                <a:latin typeface="Microsoft JhengHei"/>
              </a:rPr>
              <a:t>自動化測試與主要流程驗證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 b="0">
                <a:solidFill>
                  <a:srgbClr val="5E6F86"/>
                </a:solidFill>
                <a:latin typeface="Microsoft JhengHei"/>
              </a:rPr>
              <a:t>測試結果用於支撐目前成果，並搭配實機操作確認主要展示流程。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6012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後端測試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Spring、Board、Poker</a:t>
            </a:r>
            <a:endParaRPr lang="en-US" sz="8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JWT、Game Management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48056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466344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前端測試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登入、分頁、即時連線</a:t>
            </a:r>
            <a:endParaRPr lang="en-US" sz="8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與重新連線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8388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36676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31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合計通過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failure · 0 error</a:t>
            </a:r>
            <a:endParaRPr lang="en-US" sz="8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skipped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手動流程驗證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1248" y="38862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841248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3904488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大廳 → 建房 → 等待 → Poker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904488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已完成實機流程。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41248" y="44165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841248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自動選牌與三輪結果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4434840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已完成操作驗證。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41248" y="4946904"/>
            <a:ext cx="292608" cy="29260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841248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4965192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sz="1200" b="0">
                <a:solidFill>
                  <a:srgbClr val="0B1D31"/>
                </a:solidFill>
                <a:latin typeface="Microsoft JhengHei"/>
              </a:rPr>
              <a:t>組隊公告 → 申請 → 通知 → 建立房間</a:t>
            </a:r>
          </a:p>
        </p:txBody>
      </p:sp>
      <p:sp>
        <p:nvSpPr>
          <p:cNvPr id="35" name="Text 33"/>
          <p:cNvSpPr txBox="1"/>
          <p:nvPr/>
        </p:nvSpPr>
        <p:spPr>
          <a:xfrm>
            <a:off x="4297680" y="4965192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100" b="0">
                <a:solidFill>
                  <a:srgbClr val="5E6F86"/>
                </a:solidFill>
                <a:latin typeface="Microsoft JhengHei"/>
              </a:rPr>
              <a:t>完成主要展示流程驗證。</a:t>
            </a:r>
          </a:p>
        </p:txBody>
      </p:sp>
      <p:sp>
        <p:nvSpPr>
          <p:cNvPr id="36" name="Shape 34"/>
          <p:cNvSpPr/>
          <p:nvPr/>
        </p:nvSpPr>
        <p:spPr>
          <a:xfrm>
            <a:off x="7086600" y="5669280"/>
            <a:ext cx="40233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086600" y="5669280"/>
            <a:ext cx="73152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315200" y="5797296"/>
            <a:ext cx="36576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 b="1">
                <a:solidFill>
                  <a:srgbClr val="0B1D31"/>
                </a:solidFill>
                <a:latin typeface="Microsoft JhengHei"/>
              </a:rPr>
              <a:t>以已完成流程作為 Demo 主軸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60120" y="1280160"/>
            <a:ext cx="10241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從會員到遊戲，平台已形成可展示的完整流程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02352" y="2066544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975104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共用登入、遊戲目錄、組隊與房間流程，再由個別遊戲處理自己的規則。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82880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201168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房間 → 遊戲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7492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525780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共同平台 + 獨立遊戲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32104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50392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項測試 + 實機流程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5394960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· Q&amp;A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1081</Words>
  <Application>Microsoft Office PowerPoint</Application>
  <PresentationFormat>寬螢幕</PresentationFormat>
  <Paragraphs>376</Paragraphs>
  <Slides>18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Aptos</vt:lpstr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Java 全端職訓小組專題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遊戲對戰平台 GamePlatform</dc:title>
  <dc:subject>簡易遊戲平台小組專題成果報告</dc:subject>
  <dc:creator>OpenAI</dc:creator>
  <cp:lastModifiedBy>student</cp:lastModifiedBy>
  <cp:revision>4</cp:revision>
  <dcterms:created xsi:type="dcterms:W3CDTF">2026-09-03T07:23:02Z</dcterms:created>
  <dcterms:modified xsi:type="dcterms:W3CDTF">2026-09-04T08:20:52Z</dcterms:modified>
</cp:coreProperties>
</file>