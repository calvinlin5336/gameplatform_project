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封面使用實際登入頁，強調這是一個網頁平台作品，而不是單一遊戲畫面。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以端到端流程開場，避免讓報告看起來像只有 Poker 單一遊戲。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本頁直接使用素材資料夾中的完整 UI 使用者流程圖。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此頁對應素材建議：主流程更明顯、補上組隊自動建立房間，並區分兩種開房方式。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根據素材中的「瀏覽器→Spring Boot→SQLite」與專案樹說明重繪成架構頁。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強調模組化架構與責任邊界，不呈現分工。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依修改建議將 Authentication Flow 提前，因為登入身分是後續大廳、房間與遊戲的共同基礎。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以中文欄位說明替代資料庫欄位名，降低聽眾閱讀負擔。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加入 Lobby 說明，並將 Game/GameMode/Room/RoomPlayers 關聯集中呈現。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呈現 Board/Chat 與 Room 的資料銜接，保留必要關係，不塞完整欄位。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修正「Working Product 應為雙向」的表述：使用者操作與後端狀態同步是雙向資料流。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這頁保留實際畫面，但排版改為三連畫面，直接對應使用流程。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使用 Poker 結果頁作為主要證據，說明已完成遊戲核心流程。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 Round.java 的牌型編號、點數排序與花色權重拆解 handStrength 範例。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依使用者建議，避免把非展示焦點寫成問題，只呈現驗證成果與展示範圍。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結尾不做未來擴充，聚焦已完成成果與現場展示。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p3/gammPlatform/PPT/screenshots/01-login.png">    </p:cNvPr>
          <p:cNvPicPr>
            <a:picLocks noChangeAspect="1"/>
          </p:cNvPicPr>
          <p:nvPr/>
        </p:nvPicPr>
        <p:blipFill>
          <a:blip r:embed="rId1"/>
          <a:srcRect l="24575" r="24575" t="0" b="0"/>
          <a:stretch/>
        </p:blipFill>
        <p:spPr>
          <a:xfrm>
            <a:off x="5989320" y="0"/>
            <a:ext cx="61996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6035040" y="0"/>
            <a:ext cx="365760" cy="6858000"/>
          </a:xfrm>
          <a:prstGeom prst="rect">
            <a:avLst/>
          </a:prstGeom>
          <a:solidFill>
            <a:srgbClr val="0B1220">
              <a:alpha val="90000"/>
            </a:srgbClr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1097280"/>
            <a:ext cx="25603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731520" y="1481328"/>
            <a:ext cx="44805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遊戲對戰平台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731520" y="2240280"/>
            <a:ext cx="4297680" cy="685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從會員登入、遊戲大廳、組隊與房間，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到進入遊戲的一體化平台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731520" y="3255264"/>
            <a:ext cx="804672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3456432"/>
            <a:ext cx="4389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 全端工程師職訓 · 小組專題成果報告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731520" y="5715000"/>
            <a:ext cx="1097280" cy="256032"/>
          </a:xfrm>
          <a:prstGeom prst="roundRect">
            <a:avLst>
              <a:gd name="adj" fmla="val 32143"/>
            </a:avLst>
          </a:prstGeom>
          <a:solidFill>
            <a:srgbClr val="06B6D4">
              <a:alpha val="92000"/>
            </a:srgbClr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68096" y="5765292"/>
            <a:ext cx="10241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</a:t>
            </a:r>
            <a:endParaRPr lang="en-US" sz="720" dirty="0"/>
          </a:p>
        </p:txBody>
      </p:sp>
      <p:sp>
        <p:nvSpPr>
          <p:cNvPr id="12" name="Shape 9"/>
          <p:cNvSpPr/>
          <p:nvPr/>
        </p:nvSpPr>
        <p:spPr>
          <a:xfrm>
            <a:off x="1920240" y="5715000"/>
            <a:ext cx="731520" cy="256032"/>
          </a:xfrm>
          <a:prstGeom prst="roundRect">
            <a:avLst>
              <a:gd name="adj" fmla="val 32143"/>
            </a:avLst>
          </a:prstGeom>
          <a:solidFill>
            <a:srgbClr val="059669">
              <a:alpha val="92000"/>
            </a:srgbClr>
          </a:solidFill>
          <a:ln w="8890">
            <a:solidFill>
              <a:srgbClr val="0596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956816" y="5765292"/>
            <a:ext cx="65836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2743200" y="5715000"/>
            <a:ext cx="914400" cy="256032"/>
          </a:xfrm>
          <a:prstGeom prst="roundRect">
            <a:avLst>
              <a:gd name="adj" fmla="val 32143"/>
            </a:avLst>
          </a:prstGeom>
          <a:solidFill>
            <a:srgbClr val="2563EB">
              <a:alpha val="92000"/>
            </a:srgbClr>
          </a:solidFill>
          <a:ln w="889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79776" y="5765292"/>
            <a:ext cx="84124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REST API</a:t>
            </a:r>
            <a:endParaRPr lang="en-US" sz="720" dirty="0"/>
          </a:p>
        </p:txBody>
      </p:sp>
      <p:sp>
        <p:nvSpPr>
          <p:cNvPr id="16" name="Shape 13"/>
          <p:cNvSpPr/>
          <p:nvPr/>
        </p:nvSpPr>
        <p:spPr>
          <a:xfrm>
            <a:off x="3749040" y="5715000"/>
            <a:ext cx="1005840" cy="256032"/>
          </a:xfrm>
          <a:prstGeom prst="roundRect">
            <a:avLst>
              <a:gd name="adj" fmla="val 32143"/>
            </a:avLst>
          </a:prstGeom>
          <a:solidFill>
            <a:srgbClr val="7C3AED">
              <a:alpha val="92000"/>
            </a:srgbClr>
          </a:solidFill>
          <a:ln w="8890">
            <a:solidFill>
              <a:srgbClr val="7C3AE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785616" y="5765292"/>
            <a:ext cx="93268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</a:t>
            </a:r>
            <a:endParaRPr lang="en-US" sz="720" dirty="0"/>
          </a:p>
        </p:txBody>
      </p:sp>
      <p:sp>
        <p:nvSpPr>
          <p:cNvPr id="18" name="Shape 15"/>
          <p:cNvSpPr/>
          <p:nvPr/>
        </p:nvSpPr>
        <p:spPr>
          <a:xfrm>
            <a:off x="4846320" y="5715000"/>
            <a:ext cx="640080" cy="256032"/>
          </a:xfrm>
          <a:prstGeom prst="roundRect">
            <a:avLst>
              <a:gd name="adj" fmla="val 32143"/>
            </a:avLst>
          </a:prstGeom>
          <a:solidFill>
            <a:srgbClr val="D97706">
              <a:alpha val="92000"/>
            </a:srgbClr>
          </a:solidFill>
          <a:ln w="8890">
            <a:solidFill>
              <a:srgbClr val="D9770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82896" y="5765292"/>
            <a:ext cx="566928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PROJECT GOAL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我們做的不是單一遊戲，而是一條完整遊玩流程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417320"/>
            <a:ext cx="10515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本專題把登入、遊戲目錄、組隊公告、房間等待與實際遊戲串成同一條體驗。個別遊戲只需要專注自己的規則。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87552" y="2148840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87552" y="22539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41248" y="267919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登入身分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31520" y="2916936"/>
            <a:ext cx="932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與會員資料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1664208" y="2258568"/>
            <a:ext cx="1005840" cy="201168"/>
          </a:xfrm>
          <a:prstGeom prst="chevron">
            <a:avLst/>
          </a:prstGeom>
          <a:solidFill>
            <a:srgbClr val="2563EB">
              <a:alpha val="90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4952" y="2148840"/>
            <a:ext cx="420624" cy="42062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4952" y="22539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898648" y="267919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2788920" y="2916936"/>
            <a:ext cx="932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目錄</a:t>
            </a:r>
            <a:endParaRPr lang="en-US" sz="650" dirty="0"/>
          </a:p>
        </p:txBody>
      </p:sp>
      <p:sp>
        <p:nvSpPr>
          <p:cNvPr id="21" name="Shape 19"/>
          <p:cNvSpPr/>
          <p:nvPr/>
        </p:nvSpPr>
        <p:spPr>
          <a:xfrm>
            <a:off x="3721608" y="2258568"/>
            <a:ext cx="1005840" cy="201168"/>
          </a:xfrm>
          <a:prstGeom prst="chevron">
            <a:avLst/>
          </a:prstGeom>
          <a:solidFill>
            <a:srgbClr val="7C3AED">
              <a:alpha val="90000"/>
            </a:srgbClr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02352" y="2148840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2539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956048" y="267919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建立／加入房間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46320" y="2916936"/>
            <a:ext cx="932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 Room</a:t>
            </a:r>
            <a:endParaRPr lang="en-US" sz="650" dirty="0"/>
          </a:p>
        </p:txBody>
      </p:sp>
      <p:sp>
        <p:nvSpPr>
          <p:cNvPr id="26" name="Shape 24"/>
          <p:cNvSpPr/>
          <p:nvPr/>
        </p:nvSpPr>
        <p:spPr>
          <a:xfrm>
            <a:off x="5779008" y="2258568"/>
            <a:ext cx="1005840" cy="201168"/>
          </a:xfrm>
          <a:prstGeom prst="chevron">
            <a:avLst/>
          </a:prstGeom>
          <a:solidFill>
            <a:srgbClr val="06B6D4">
              <a:alpha val="90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59752" y="2148840"/>
            <a:ext cx="420624" cy="420624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9752" y="22539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013448" y="267919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等待同步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903720" y="2916936"/>
            <a:ext cx="932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7836408" y="2258568"/>
            <a:ext cx="1005840" cy="201168"/>
          </a:xfrm>
          <a:prstGeom prst="chevron">
            <a:avLst/>
          </a:prstGeom>
          <a:solidFill>
            <a:srgbClr val="059669">
              <a:alpha val="90000"/>
            </a:srgbClr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17152" y="2148840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17152" y="2253996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070848" y="2679192"/>
            <a:ext cx="713232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開始遊戲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961120" y="2916936"/>
            <a:ext cx="932688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帶入 roomId</a:t>
            </a:r>
            <a:endParaRPr lang="en-US" sz="650" dirty="0"/>
          </a:p>
        </p:txBody>
      </p:sp>
      <p:sp>
        <p:nvSpPr>
          <p:cNvPr id="36" name="Shape 34"/>
          <p:cNvSpPr/>
          <p:nvPr/>
        </p:nvSpPr>
        <p:spPr>
          <a:xfrm>
            <a:off x="1325880" y="4133088"/>
            <a:ext cx="9509760" cy="941832"/>
          </a:xfrm>
          <a:prstGeom prst="roundRect">
            <a:avLst>
              <a:gd name="adj" fmla="val 11650"/>
            </a:avLst>
          </a:prstGeom>
          <a:solidFill>
            <a:srgbClr val="0B1220"/>
          </a:solidFill>
          <a:ln w="10160">
            <a:solidFill>
              <a:srgbClr val="0B122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1600200" y="4416552"/>
            <a:ext cx="10972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平台價值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834640" y="4370832"/>
            <a:ext cx="7223760" cy="31089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共用會員、遊戲目錄與房間流程；不同遊戲沿用同一套入口，不需要各自重做登入與建房。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 USER 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 UI 使用者流程圖：實際專案畫面串接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298448"/>
            <a:ext cx="1005840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素材中的 V6 流程圖已把玩家、隊長、管理員與主要畫面串起來；報告時可用本頁快速總覽全站功能。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03504" y="1664208"/>
            <a:ext cx="10817352" cy="4233672"/>
          </a:xfrm>
          <a:prstGeom prst="roundRect">
            <a:avLst>
              <a:gd name="adj" fmla="val 2592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/mnt/data/material_ui_flow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3764" y="1700784"/>
            <a:ext cx="6656832" cy="416052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" y="6035040"/>
            <a:ext cx="786384" cy="219456"/>
          </a:xfrm>
          <a:prstGeom prst="roundRect">
            <a:avLst>
              <a:gd name="adj" fmla="val 29167"/>
            </a:avLst>
          </a:prstGeom>
          <a:solidFill>
            <a:srgbClr val="2563EB">
              <a:alpha val="12000"/>
            </a:srgbClr>
          </a:solidFill>
          <a:ln w="10160">
            <a:solidFill>
              <a:srgbClr val="2563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59536" y="6076188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主流程</a:t>
            </a:r>
            <a:endParaRPr lang="en-US" sz="630" dirty="0"/>
          </a:p>
        </p:txBody>
      </p:sp>
      <p:sp>
        <p:nvSpPr>
          <p:cNvPr id="16" name="Text 13"/>
          <p:cNvSpPr/>
          <p:nvPr/>
        </p:nvSpPr>
        <p:spPr>
          <a:xfrm>
            <a:off x="1691640" y="6044184"/>
            <a:ext cx="6766560" cy="155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登入／註冊 → 平台主頁 → 遊戲大廳 → 建立房間 → 等待室 → 進入遊戲</a:t>
            </a:r>
            <a:endParaRPr lang="en-US" sz="760" dirty="0"/>
          </a:p>
        </p:txBody>
      </p:sp>
      <p:sp>
        <p:nvSpPr>
          <p:cNvPr id="17" name="Shape 14"/>
          <p:cNvSpPr/>
          <p:nvPr/>
        </p:nvSpPr>
        <p:spPr>
          <a:xfrm>
            <a:off x="8641080" y="6035040"/>
            <a:ext cx="786384" cy="219456"/>
          </a:xfrm>
          <a:prstGeom prst="roundRect">
            <a:avLst>
              <a:gd name="adj" fmla="val 29167"/>
            </a:avLst>
          </a:prstGeom>
          <a:solidFill>
            <a:srgbClr val="059669">
              <a:alpha val="12000"/>
            </a:srgbClr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677656" y="6076188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組隊流程</a:t>
            </a:r>
            <a:endParaRPr lang="en-US" sz="630" dirty="0"/>
          </a:p>
        </p:txBody>
      </p:sp>
      <p:sp>
        <p:nvSpPr>
          <p:cNvPr id="19" name="Text 16"/>
          <p:cNvSpPr/>
          <p:nvPr/>
        </p:nvSpPr>
        <p:spPr>
          <a:xfrm>
            <a:off x="9509760" y="6044184"/>
            <a:ext cx="1783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1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 → 申請加入 → 隊長審核 → 隊伍額滿 → 自動建房</a:t>
            </a:r>
            <a:endParaRPr lang="en-US" sz="7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MAIN 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主要流程拆解：兩種方式最後都進入等待室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04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1498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依修改建議補上雙路徑：一般玩家從大廳直接建房；組隊玩家由公告流程滿員後自動建立房間。</a:t>
            </a:r>
            <a:endParaRPr lang="en-US" sz="1110" dirty="0"/>
          </a:p>
        </p:txBody>
      </p:sp>
      <p:sp>
        <p:nvSpPr>
          <p:cNvPr id="12" name="Text 10"/>
          <p:cNvSpPr/>
          <p:nvPr/>
        </p:nvSpPr>
        <p:spPr>
          <a:xfrm>
            <a:off x="82296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一般玩家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4400" y="2194560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60704" y="2313432"/>
            <a:ext cx="1033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登入／註冊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060704" y="2578608"/>
            <a:ext cx="1033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取得會員身分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2240280" y="2551176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2697480" y="2194560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843784" y="2313432"/>
            <a:ext cx="1033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遊戲大廳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843784" y="2578608"/>
            <a:ext cx="1033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選遊戲與模式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4023360" y="2551176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480560" y="2194560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26864" y="2313432"/>
            <a:ext cx="1033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建立房間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626864" y="2578608"/>
            <a:ext cx="1033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設定人數／名稱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5806440" y="2551176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6263640" y="2194560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09944" y="2313432"/>
            <a:ext cx="1033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房間等待室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09944" y="2578608"/>
            <a:ext cx="1033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玩家名單同步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7589520" y="2551176"/>
            <a:ext cx="45720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046720" y="2194560"/>
            <a:ext cx="132588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193024" y="2313432"/>
            <a:ext cx="10332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進入遊戲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193024" y="2578608"/>
            <a:ext cx="103327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 roomId 啟動</a:t>
            </a:r>
            <a:endParaRPr lang="en-US" sz="770" dirty="0"/>
          </a:p>
        </p:txBody>
      </p:sp>
      <p:sp>
        <p:nvSpPr>
          <p:cNvPr id="32" name="Text 30"/>
          <p:cNvSpPr/>
          <p:nvPr/>
        </p:nvSpPr>
        <p:spPr>
          <a:xfrm>
            <a:off x="822960" y="3657600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組隊玩家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91440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6070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發公告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06070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建立招募需求</a:t>
            </a:r>
            <a:endParaRPr lang="en-US" sz="770" dirty="0"/>
          </a:p>
        </p:txBody>
      </p:sp>
      <p:sp>
        <p:nvSpPr>
          <p:cNvPr id="36" name="Shape 34"/>
          <p:cNvSpPr/>
          <p:nvPr/>
        </p:nvSpPr>
        <p:spPr>
          <a:xfrm>
            <a:off x="1993392" y="4315968"/>
            <a:ext cx="33832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233172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7802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申請加入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247802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玩家送出請求</a:t>
            </a:r>
            <a:endParaRPr lang="en-US" sz="770" dirty="0"/>
          </a:p>
        </p:txBody>
      </p:sp>
      <p:sp>
        <p:nvSpPr>
          <p:cNvPr id="40" name="Shape 38"/>
          <p:cNvSpPr/>
          <p:nvPr/>
        </p:nvSpPr>
        <p:spPr>
          <a:xfrm>
            <a:off x="3410712" y="4315968"/>
            <a:ext cx="33832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374904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9534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隊長審核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89534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核准隊員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4828032" y="4315968"/>
            <a:ext cx="33832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516636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31266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隊伍額滿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531266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符合人數</a:t>
            </a:r>
            <a:endParaRPr lang="en-US" sz="770" dirty="0"/>
          </a:p>
        </p:txBody>
      </p:sp>
      <p:sp>
        <p:nvSpPr>
          <p:cNvPr id="48" name="Shape 46"/>
          <p:cNvSpPr/>
          <p:nvPr/>
        </p:nvSpPr>
        <p:spPr>
          <a:xfrm>
            <a:off x="6245352" y="4315968"/>
            <a:ext cx="33832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658368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2998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自動建房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72998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Room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7662672" y="4315968"/>
            <a:ext cx="384048" cy="0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8046720" y="3977640"/>
            <a:ext cx="1078992" cy="676656"/>
          </a:xfrm>
          <a:prstGeom prst="roundRect">
            <a:avLst>
              <a:gd name="adj" fmla="val 16216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193024" y="4096512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房間等待室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8193024" y="4361688"/>
            <a:ext cx="78638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同步名單</a:t>
            </a:r>
            <a:endParaRPr lang="en-US" sz="770" dirty="0"/>
          </a:p>
        </p:txBody>
      </p:sp>
      <p:sp>
        <p:nvSpPr>
          <p:cNvPr id="56" name="Shape 54"/>
          <p:cNvSpPr/>
          <p:nvPr/>
        </p:nvSpPr>
        <p:spPr>
          <a:xfrm>
            <a:off x="8586216" y="4654296"/>
            <a:ext cx="109728" cy="-1746504"/>
          </a:xfrm>
          <a:prstGeom prst="line">
            <a:avLst/>
          </a:prstGeom>
          <a:noFill/>
          <a:ln w="15240">
            <a:solidFill>
              <a:srgbClr val="059669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7955280" y="3246120"/>
            <a:ext cx="118872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  <a:headEnd type="triangle"/>
            <a:tailEnd type="triangle"/>
          </a:ln>
        </p:spPr>
      </p:sp>
      <p:sp>
        <p:nvSpPr>
          <p:cNvPr id="58" name="Text 56"/>
          <p:cNvSpPr/>
          <p:nvPr/>
        </p:nvSpPr>
        <p:spPr>
          <a:xfrm>
            <a:off x="6080760" y="3273552"/>
            <a:ext cx="3566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等待室與遊戲頁可雙向返回／同步狀態</a:t>
            </a:r>
            <a:endParaRPr lang="en-US" sz="86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ARCHITECTURE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 Spring Boot 專案：前端靜態頁、API、WebSocket 同源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05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正式專案已把實際使用的前端移到後端 static，由 Spring Boot 同時提供頁面、API、WebSocket、JWT 驗證與 SQLite 存取。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2103120"/>
            <a:ext cx="201168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69264" y="2221992"/>
            <a:ext cx="171907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瀏覽器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9264" y="2487168"/>
            <a:ext cx="171907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同一個網址開啟網頁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HTML · CSS · JavaScript · jQuery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2834640" y="2578608"/>
            <a:ext cx="86868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03320" y="1755648"/>
            <a:ext cx="4343400" cy="2148840"/>
          </a:xfrm>
          <a:prstGeom prst="roundRect">
            <a:avLst>
              <a:gd name="adj" fmla="val 5106"/>
            </a:avLst>
          </a:prstGeom>
          <a:solidFill>
            <a:srgbClr val="0B1220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977640" y="1965960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Boot : 8080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977640" y="2331720"/>
            <a:ext cx="352044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DCE6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靜態前端頁面  ·  REST API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DCE6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WebSocket  ·  JWT 驗證</a:t>
            </a:r>
            <a:endParaRPr lang="en-US" sz="1040" dirty="0"/>
          </a:p>
          <a:p>
            <a:pPr algn="l" indent="0" marL="0">
              <a:buNone/>
            </a:pPr>
            <a:r>
              <a:rPr lang="en-US" sz="1040" dirty="0">
                <a:solidFill>
                  <a:srgbClr val="DCE6F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 → Service → Repository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6565392" y="1956816"/>
            <a:ext cx="786384" cy="219456"/>
          </a:xfrm>
          <a:prstGeom prst="roundRect">
            <a:avLst>
              <a:gd name="adj" fmla="val 29167"/>
            </a:avLst>
          </a:prstGeom>
          <a:solidFill>
            <a:srgbClr val="06B6D4">
              <a:alpha val="12000"/>
            </a:srgbClr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1997964"/>
            <a:ext cx="71323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3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同源整合</a:t>
            </a:r>
            <a:endParaRPr lang="en-US" sz="630" dirty="0"/>
          </a:p>
        </p:txBody>
      </p:sp>
      <p:sp>
        <p:nvSpPr>
          <p:cNvPr id="21" name="Text 19"/>
          <p:cNvSpPr/>
          <p:nvPr/>
        </p:nvSpPr>
        <p:spPr>
          <a:xfrm>
            <a:off x="6537960" y="2267712"/>
            <a:ext cx="11430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減少 CORS 與部署設定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046720" y="2578608"/>
            <a:ext cx="86868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915400" y="210312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061704" y="2221992"/>
            <a:ext cx="18562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SQLite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061704" y="2487168"/>
            <a:ext cx="1856232" cy="4846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JPA / Hibernate + JDBC</a:t>
            </a:r>
            <a:endParaRPr lang="en-US" sz="770" dirty="0"/>
          </a:p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會員、遊戲、模式、房間、公告、題庫</a:t>
            </a:r>
            <a:endParaRPr lang="en-US" sz="770" dirty="0"/>
          </a:p>
        </p:txBody>
      </p:sp>
      <p:sp>
        <p:nvSpPr>
          <p:cNvPr id="26" name="Shape 24"/>
          <p:cNvSpPr/>
          <p:nvPr/>
        </p:nvSpPr>
        <p:spPr>
          <a:xfrm>
            <a:off x="1005840" y="4663440"/>
            <a:ext cx="987552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234440" y="4892040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專案結構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4828032"/>
            <a:ext cx="80467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java/com/example/demo/modules：User · Lobby · Chat · Board · Game Management · Poker · Quiz · TJ Poker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48840" y="5120640"/>
            <a:ext cx="6035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resources/static：實際前端頁面、圖片與遊戲素材</a:t>
            </a:r>
            <a:endParaRPr lang="en-US" sz="9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SYSTEM MODULES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模組責任：共用平台功能 + 個別遊戲模組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06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25880"/>
            <a:ext cx="96926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這一頁只說系統責任，不是組員分工。平台模組提供共同能力，遊戲模組只處理自己的規則與對局。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240280"/>
            <a:ext cx="2743200" cy="1097280"/>
          </a:xfrm>
          <a:prstGeom prst="roundRect">
            <a:avLst>
              <a:gd name="adj" fmla="val 10000"/>
            </a:avLst>
          </a:prstGeom>
          <a:solidFill>
            <a:srgbClr val="0B1220"/>
          </a:solidFill>
          <a:ln w="1016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74920" y="2532888"/>
            <a:ext cx="2011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74920" y="2871216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CBD5E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共用身分 · 目錄 · 房間流程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868680" y="182880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14984" y="1947672"/>
            <a:ext cx="18562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014984" y="2212848"/>
            <a:ext cx="18562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登入、JWT、會員資料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868680" y="365760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014984" y="3776472"/>
            <a:ext cx="18562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014984" y="4041648"/>
            <a:ext cx="18562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遊戲與模式目錄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3657600" y="4434840"/>
            <a:ext cx="21488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803904" y="4553712"/>
            <a:ext cx="18562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803904" y="4818888"/>
            <a:ext cx="18562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建房、入房、等待、生命週期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8229600" y="3657600"/>
            <a:ext cx="1691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75904" y="3776472"/>
            <a:ext cx="13990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375904" y="4041648"/>
            <a:ext cx="1399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組隊公告、申請、通知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9646920" y="1828800"/>
            <a:ext cx="1691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793224" y="1947672"/>
            <a:ext cx="13990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793224" y="2212848"/>
            <a:ext cx="1399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大廳與房間即時訊息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7452360" y="1828800"/>
            <a:ext cx="1691640" cy="749808"/>
          </a:xfrm>
          <a:prstGeom prst="roundRect">
            <a:avLst>
              <a:gd name="adj" fmla="val 14634"/>
            </a:avLst>
          </a:prstGeom>
          <a:solidFill>
            <a:srgbClr val="FFFFFF"/>
          </a:solidFill>
          <a:ln w="1397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598664" y="1947672"/>
            <a:ext cx="139903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598664" y="2212848"/>
            <a:ext cx="1399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Poker、Quiz、TJ Poker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3017520" y="2203704"/>
            <a:ext cx="1691640" cy="475488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017520" y="4032504"/>
            <a:ext cx="1691640" cy="-969264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727448" y="4434840"/>
            <a:ext cx="758952" cy="-109728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52360" y="2788920"/>
            <a:ext cx="365760" cy="-585216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7452360" y="2907792"/>
            <a:ext cx="1737360" cy="-704088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7452360" y="3072384"/>
            <a:ext cx="365760" cy="96012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AUTHENTICATION FLOW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身分流程：不同頁面共用同一個登入狀態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07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1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登入結果可存在前端，但真正能否操作仍由後端 Security Filter 驗證 token、期限與帳號狀態。</a:t>
            </a:r>
            <a:endParaRPr lang="en-US" sz="1110" dirty="0"/>
          </a:p>
        </p:txBody>
      </p:sp>
      <p:sp>
        <p:nvSpPr>
          <p:cNvPr id="12" name="Shape 10"/>
          <p:cNvSpPr/>
          <p:nvPr/>
        </p:nvSpPr>
        <p:spPr>
          <a:xfrm>
            <a:off x="731520" y="2148840"/>
            <a:ext cx="16642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77824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Login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77824" y="2532888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account + password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868680" y="1965960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0436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395728" y="2633472"/>
            <a:ext cx="54864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999232" y="2148840"/>
            <a:ext cx="16642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145536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145536" y="2532888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userId · account · role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3136392" y="1965960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6392" y="20436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663440" y="2633472"/>
            <a:ext cx="548640" cy="0"/>
          </a:xfrm>
          <a:prstGeom prst="line">
            <a:avLst/>
          </a:prstGeom>
          <a:noFill/>
          <a:ln w="15240">
            <a:solidFill>
              <a:srgbClr val="7C3AED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266944" y="2148840"/>
            <a:ext cx="16642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413248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Authorization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13248" y="2532888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Bearer token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5404104" y="1965960"/>
            <a:ext cx="310896" cy="31089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04104" y="20436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931152" y="2633472"/>
            <a:ext cx="548640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534656" y="2148840"/>
            <a:ext cx="16642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680960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Security Filter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680960" y="2532888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驗簽 · 到期 · 狀態</a:t>
            </a:r>
            <a:endParaRPr lang="en-US" sz="770" dirty="0"/>
          </a:p>
        </p:txBody>
      </p:sp>
      <p:sp>
        <p:nvSpPr>
          <p:cNvPr id="33" name="Shape 31"/>
          <p:cNvSpPr/>
          <p:nvPr/>
        </p:nvSpPr>
        <p:spPr>
          <a:xfrm>
            <a:off x="7671816" y="1965960"/>
            <a:ext cx="310896" cy="31089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71816" y="20436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198864" y="2633472"/>
            <a:ext cx="548640" cy="0"/>
          </a:xfrm>
          <a:prstGeom prst="line">
            <a:avLst/>
          </a:prstGeom>
          <a:noFill/>
          <a:ln w="15240">
            <a:solidFill>
              <a:srgbClr val="D97706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802368" y="2148840"/>
            <a:ext cx="1664208" cy="987552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948672" y="2267712"/>
            <a:ext cx="1371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 Modules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948672" y="2532888"/>
            <a:ext cx="1371600" cy="5120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 · Board · Lobby · Games</a:t>
            </a:r>
            <a:endParaRPr lang="en-US" sz="770" dirty="0"/>
          </a:p>
        </p:txBody>
      </p:sp>
      <p:sp>
        <p:nvSpPr>
          <p:cNvPr id="39" name="Shape 37"/>
          <p:cNvSpPr/>
          <p:nvPr/>
        </p:nvSpPr>
        <p:spPr>
          <a:xfrm>
            <a:off x="9939528" y="1965960"/>
            <a:ext cx="310896" cy="31089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39528" y="2043684"/>
            <a:ext cx="31089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1143000" y="4160520"/>
            <a:ext cx="9921240" cy="1051560"/>
          </a:xfrm>
          <a:prstGeom prst="roundRect">
            <a:avLst>
              <a:gd name="adj" fmla="val 10435"/>
            </a:avLst>
          </a:prstGeom>
          <a:solidFill>
            <a:srgbClr val="0B1220"/>
          </a:solidFill>
          <a:ln w="1016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1417320" y="4434840"/>
            <a:ext cx="16459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登入狀態修正重點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2926080" y="4407408"/>
            <a:ext cx="70408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 UI 不能只看 localStorage 的 account；受保護功能必須用後端驗證過的 JWT 狀態作為依據。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CATALOG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Game、GameMode、Room：用資料控制遊戲入口與房間規則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依修改要求，欄位用中文說明；重點是讓房間不必寫死每款遊戲的玩家數、入口與模式。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1847088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1847088"/>
            <a:ext cx="233172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1920240"/>
            <a:ext cx="21488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遊戲資料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86968" y="2249424"/>
            <a:ext cx="211226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遊戲編號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遊戲代碼／遊戲名稱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遊戲說明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前端入口路徑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 API 路徑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圖示路徑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是否啟用</a:t>
            </a:r>
            <a:endParaRPr lang="en-US" sz="670" dirty="0"/>
          </a:p>
        </p:txBody>
      </p:sp>
      <p:sp>
        <p:nvSpPr>
          <p:cNvPr id="16" name="Shape 14"/>
          <p:cNvSpPr/>
          <p:nvPr/>
        </p:nvSpPr>
        <p:spPr>
          <a:xfrm>
            <a:off x="3611880" y="1847088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11880" y="1847088"/>
            <a:ext cx="233172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03320" y="1920240"/>
            <a:ext cx="21488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GameMode 遊戲模式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721608" y="2249424"/>
            <a:ext cx="211226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模式編號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所屬遊戲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模式代碼／模式名稱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最小玩家數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最大玩家數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電腦玩家數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是否啟用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6446520" y="1847088"/>
            <a:ext cx="233172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46520" y="1847088"/>
            <a:ext cx="233172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1920240"/>
            <a:ext cx="21488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 房間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556248" y="2249424"/>
            <a:ext cx="211226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房間 ID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遊戲／模式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房主帳號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玩家名單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目前狀態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開始／結束／過期時間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結束原因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9281160" y="1847088"/>
            <a:ext cx="2057400" cy="214884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281160" y="1847088"/>
            <a:ext cx="205740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72600" y="1920240"/>
            <a:ext cx="1874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 遊戲頁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390888" y="2249424"/>
            <a:ext cx="1837944" cy="16367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poker_client.html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quiz_client.html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?room=房間ID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依房間資料啟動對局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3108960" y="2926080"/>
            <a:ext cx="50292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43600" y="2926080"/>
            <a:ext cx="50292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778240" y="2926080"/>
            <a:ext cx="50292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188720" y="4754880"/>
            <a:ext cx="9326880" cy="868680"/>
          </a:xfrm>
          <a:prstGeom prst="roundRect">
            <a:avLst>
              <a:gd name="adj" fmla="val 12632"/>
            </a:avLst>
          </a:prstGeom>
          <a:solidFill>
            <a:srgbClr val="E0F2F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5010912"/>
            <a:ext cx="10972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例：田忌撲克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97480" y="4974336"/>
            <a:ext cx="6995160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遊戲資料提供 Poker 入口；GameMode 決定「玩家對戰／對戰電腦」與人數限制；Room 保存本次對局的房號、玩家與狀態。</a:t>
            </a:r>
            <a:endParaRPr lang="en-US" sz="10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Core / Lobby：會員、遊戲目錄與房間生命週期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09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 是遊戲大廳與房間系統，負責建房、等待、開始遊戲，以及遊戲結束後的房間狀態收斂。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286000" y="2450592"/>
            <a:ext cx="59436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709160" y="2450592"/>
            <a:ext cx="59436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132320" y="2450592"/>
            <a:ext cx="59436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869680" y="3703320"/>
            <a:ext cx="0" cy="521208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31520" y="1874520"/>
            <a:ext cx="1554480" cy="12344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1874520"/>
            <a:ext cx="155448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1947672"/>
            <a:ext cx="13716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roles / statuses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841248" y="2276856"/>
            <a:ext cx="1335024" cy="7223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角色名稱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狀態名稱</a:t>
            </a:r>
            <a:endParaRPr lang="en-US" sz="670" dirty="0"/>
          </a:p>
        </p:txBody>
      </p:sp>
      <p:sp>
        <p:nvSpPr>
          <p:cNvPr id="20" name="Shape 18"/>
          <p:cNvSpPr/>
          <p:nvPr/>
        </p:nvSpPr>
        <p:spPr>
          <a:xfrm>
            <a:off x="2880360" y="1691640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880360" y="1691640"/>
            <a:ext cx="182880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71800" y="176479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users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990088" y="2093976"/>
            <a:ext cx="16093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會員編號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帳號／暱稱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密碼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role_id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status_id</a:t>
            </a:r>
            <a:endParaRPr lang="en-US" sz="670" dirty="0"/>
          </a:p>
        </p:txBody>
      </p:sp>
      <p:sp>
        <p:nvSpPr>
          <p:cNvPr id="24" name="Shape 22"/>
          <p:cNvSpPr/>
          <p:nvPr/>
        </p:nvSpPr>
        <p:spPr>
          <a:xfrm>
            <a:off x="5303520" y="1691640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303520" y="1691640"/>
            <a:ext cx="18288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94960" y="176479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13248" y="2093976"/>
            <a:ext cx="16093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遊戲編號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遊戲代碼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遊戲名稱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前端／後端入口</a:t>
            </a:r>
            <a:endParaRPr lang="en-US" sz="670" dirty="0"/>
          </a:p>
        </p:txBody>
      </p:sp>
      <p:sp>
        <p:nvSpPr>
          <p:cNvPr id="28" name="Shape 26"/>
          <p:cNvSpPr/>
          <p:nvPr/>
        </p:nvSpPr>
        <p:spPr>
          <a:xfrm>
            <a:off x="7726680" y="1691640"/>
            <a:ext cx="182880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26680" y="1691640"/>
            <a:ext cx="18288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76479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game_modes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7836408" y="2093976"/>
            <a:ext cx="160934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模式編號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遊戲編號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模式代碼／名稱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玩家數限制</a:t>
            </a:r>
            <a:endParaRPr lang="en-US" sz="670" dirty="0"/>
          </a:p>
        </p:txBody>
      </p:sp>
      <p:sp>
        <p:nvSpPr>
          <p:cNvPr id="32" name="Shape 30"/>
          <p:cNvSpPr/>
          <p:nvPr/>
        </p:nvSpPr>
        <p:spPr>
          <a:xfrm>
            <a:off x="7726680" y="4224528"/>
            <a:ext cx="1920240" cy="1444752"/>
          </a:xfrm>
          <a:prstGeom prst="roundRect">
            <a:avLst>
              <a:gd name="adj" fmla="val 7595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7726680" y="4224528"/>
            <a:ext cx="192024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18120" y="4297680"/>
            <a:ext cx="17373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36408" y="4626864"/>
            <a:ext cx="1700784" cy="9326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房間ID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遊戲／模式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房主帳號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開始／結束／過期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5349240" y="4315968"/>
            <a:ext cx="1828800" cy="1170432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49240" y="4315968"/>
            <a:ext cx="182880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40680" y="4389120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room_players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458968" y="4718304"/>
            <a:ext cx="1609344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房間ID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玩家帳號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ElementCollection</a:t>
            </a:r>
            <a:endParaRPr lang="en-US" sz="670" dirty="0"/>
          </a:p>
        </p:txBody>
      </p:sp>
      <p:sp>
        <p:nvSpPr>
          <p:cNvPr id="40" name="Shape 38"/>
          <p:cNvSpPr/>
          <p:nvPr/>
        </p:nvSpPr>
        <p:spPr>
          <a:xfrm>
            <a:off x="7726680" y="4946904"/>
            <a:ext cx="-548640" cy="-4572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6537960" y="3319272"/>
            <a:ext cx="1600200" cy="905256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794760" y="3319272"/>
            <a:ext cx="1874520" cy="996696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914400" y="4663440"/>
            <a:ext cx="3246120" cy="850392"/>
          </a:xfrm>
          <a:prstGeom prst="roundRect">
            <a:avLst>
              <a:gd name="adj" fmla="val 12903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43000" y="4800600"/>
            <a:ext cx="2468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 關鍵角色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1143000" y="5084064"/>
            <a:ext cx="269748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把等待中的房間從遊戲本身抽離，讓 Poker、Quiz 等遊戲共用同一套建房與結束流程。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ER Model · Board / Chat：組隊公告連到房間與即時頻道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D9770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0584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管理招募與申請；Chat 依 roomId 建立房間頻道，並在 RoomFinishedEvent 後清理房間頻道。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606040" y="2651760"/>
            <a:ext cx="64008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5257800" y="2651760"/>
            <a:ext cx="64008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09560" y="2651760"/>
            <a:ext cx="64008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12280" y="3749040"/>
            <a:ext cx="0" cy="59436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611880" y="3749040"/>
            <a:ext cx="0" cy="59436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31520" y="196596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1965960"/>
            <a:ext cx="1874520" cy="30175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2039112"/>
            <a:ext cx="1691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members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841248" y="2368296"/>
            <a:ext cx="1655064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成員編號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platform_user_id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帳號／暱稱</a:t>
            </a:r>
            <a:endParaRPr lang="en-US" sz="670" dirty="0"/>
          </a:p>
        </p:txBody>
      </p:sp>
      <p:sp>
        <p:nvSpPr>
          <p:cNvPr id="21" name="Shape 19"/>
          <p:cNvSpPr/>
          <p:nvPr/>
        </p:nvSpPr>
        <p:spPr>
          <a:xfrm>
            <a:off x="3246120" y="1874520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46120" y="1874520"/>
            <a:ext cx="201168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947672"/>
            <a:ext cx="1828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team_posts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55848" y="2276856"/>
            <a:ext cx="179222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公告編號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發文者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game_id / mode_id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</a:t>
            </a:r>
            <a:endParaRPr lang="en-US" sz="670" dirty="0"/>
          </a:p>
        </p:txBody>
      </p:sp>
      <p:sp>
        <p:nvSpPr>
          <p:cNvPr id="25" name="Shape 23"/>
          <p:cNvSpPr/>
          <p:nvPr/>
        </p:nvSpPr>
        <p:spPr>
          <a:xfrm>
            <a:off x="5897880" y="1874520"/>
            <a:ext cx="2011680" cy="1627632"/>
          </a:xfrm>
          <a:prstGeom prst="roundRect">
            <a:avLst>
              <a:gd name="adj" fmla="val 6742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897880" y="1874520"/>
            <a:ext cx="201168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89320" y="1947672"/>
            <a:ext cx="182880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join_requests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007608" y="2276856"/>
            <a:ext cx="1792224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申請編號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公告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FK 申請者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狀態／訊息</a:t>
            </a:r>
            <a:endParaRPr lang="en-US" sz="670" dirty="0"/>
          </a:p>
        </p:txBody>
      </p:sp>
      <p:sp>
        <p:nvSpPr>
          <p:cNvPr id="29" name="Shape 27"/>
          <p:cNvSpPr/>
          <p:nvPr/>
        </p:nvSpPr>
        <p:spPr>
          <a:xfrm>
            <a:off x="8549640" y="1965960"/>
            <a:ext cx="18745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549640" y="1965960"/>
            <a:ext cx="1874520" cy="3017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41080" y="2039112"/>
            <a:ext cx="1691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notifications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659368" y="2368296"/>
            <a:ext cx="1655064" cy="9052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 通知編號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接收者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分類／內容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是否已讀</a:t>
            </a:r>
            <a:endParaRPr lang="en-US" sz="670" dirty="0"/>
          </a:p>
        </p:txBody>
      </p:sp>
      <p:sp>
        <p:nvSpPr>
          <p:cNvPr id="33" name="Shape 31"/>
          <p:cNvSpPr/>
          <p:nvPr/>
        </p:nvSpPr>
        <p:spPr>
          <a:xfrm>
            <a:off x="5897880" y="434340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897880" y="4343400"/>
            <a:ext cx="182880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89320" y="441655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rooms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007608" y="4745736"/>
            <a:ext cx="16093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room_id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WAITING / PLAYING / FINISHED</a:t>
            </a:r>
            <a:endParaRPr lang="en-US" sz="670" dirty="0"/>
          </a:p>
        </p:txBody>
      </p:sp>
      <p:sp>
        <p:nvSpPr>
          <p:cNvPr id="37" name="Shape 35"/>
          <p:cNvSpPr/>
          <p:nvPr/>
        </p:nvSpPr>
        <p:spPr>
          <a:xfrm>
            <a:off x="2697480" y="4343400"/>
            <a:ext cx="182880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524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697480" y="4343400"/>
            <a:ext cx="1828800" cy="30175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88920" y="4416552"/>
            <a:ext cx="16459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Chat Channel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807208" y="4745736"/>
            <a:ext cx="1609344" cy="4480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roomId → WebSocket sessions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ROOM_FINISHED 後關閉</a:t>
            </a:r>
            <a:endParaRPr lang="en-US" sz="670" dirty="0"/>
          </a:p>
        </p:txBody>
      </p:sp>
      <p:sp>
        <p:nvSpPr>
          <p:cNvPr id="41" name="Shape 39"/>
          <p:cNvSpPr/>
          <p:nvPr/>
        </p:nvSpPr>
        <p:spPr>
          <a:xfrm>
            <a:off x="8321040" y="4407408"/>
            <a:ext cx="2468880" cy="877824"/>
          </a:xfrm>
          <a:prstGeom prst="roundRect">
            <a:avLst>
              <a:gd name="adj" fmla="val 12500"/>
            </a:avLst>
          </a:prstGeom>
          <a:solidFill>
            <a:srgbClr val="FFFBEB"/>
          </a:solidFill>
          <a:ln w="1016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9640" y="4572000"/>
            <a:ext cx="2011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事件串接</a:t>
            </a:r>
            <a:endParaRPr lang="en-US" sz="940" dirty="0"/>
          </a:p>
        </p:txBody>
      </p:sp>
      <p:sp>
        <p:nvSpPr>
          <p:cNvPr id="43" name="Text 41"/>
          <p:cNvSpPr/>
          <p:nvPr/>
        </p:nvSpPr>
        <p:spPr>
          <a:xfrm>
            <a:off x="8549640" y="4846320"/>
            <a:ext cx="19202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RoomFinishedEvent 讓 Chat 不必理解 Poker 規則。</a:t>
            </a:r>
            <a:endParaRPr lang="en-US" sz="76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CROSS-MODULE SEQUENCE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核心資料流：組隊完成後建立房間，並由 WebSocket 同步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以一次組隊成功流程說明多模組合作：資料先寫入 SQLite，再透過 WebSocket 推送最新房間與通知。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9436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066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UI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4066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公告／申請操作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2011680" y="2322576"/>
            <a:ext cx="4572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46888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1518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Controller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61518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接收請求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3886200" y="2322576"/>
            <a:ext cx="4572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34340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970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Board Service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48970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審核與滿員判斷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5760720" y="2322576"/>
            <a:ext cx="4572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21792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6422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Management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6422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驗證遊戲與模式</a:t>
            </a:r>
            <a:endParaRPr lang="en-US" sz="770" dirty="0"/>
          </a:p>
        </p:txBody>
      </p:sp>
      <p:sp>
        <p:nvSpPr>
          <p:cNvPr id="27" name="Shape 25"/>
          <p:cNvSpPr/>
          <p:nvPr/>
        </p:nvSpPr>
        <p:spPr>
          <a:xfrm>
            <a:off x="7635240" y="2322576"/>
            <a:ext cx="4572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09244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3874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Lobby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23874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 Room</a:t>
            </a:r>
            <a:endParaRPr lang="en-US" sz="770" dirty="0"/>
          </a:p>
        </p:txBody>
      </p:sp>
      <p:sp>
        <p:nvSpPr>
          <p:cNvPr id="31" name="Shape 29"/>
          <p:cNvSpPr/>
          <p:nvPr/>
        </p:nvSpPr>
        <p:spPr>
          <a:xfrm>
            <a:off x="9509760" y="2322576"/>
            <a:ext cx="457200" cy="0"/>
          </a:xfrm>
          <a:prstGeom prst="line">
            <a:avLst/>
          </a:prstGeom>
          <a:noFill/>
          <a:ln w="15240">
            <a:solidFill>
              <a:srgbClr val="D7E0E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966960" y="1965960"/>
            <a:ext cx="141732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397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113264" y="2084832"/>
            <a:ext cx="1124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 Page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0113264" y="2350008"/>
            <a:ext cx="1124712" cy="237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開啟 frontendPath</a:t>
            </a:r>
            <a:endParaRPr lang="en-US" sz="770" dirty="0"/>
          </a:p>
        </p:txBody>
      </p:sp>
      <p:sp>
        <p:nvSpPr>
          <p:cNvPr id="35" name="Shape 33"/>
          <p:cNvSpPr/>
          <p:nvPr/>
        </p:nvSpPr>
        <p:spPr>
          <a:xfrm>
            <a:off x="868680" y="3675888"/>
            <a:ext cx="4983480" cy="1005840"/>
          </a:xfrm>
          <a:prstGeom prst="roundRect">
            <a:avLst>
              <a:gd name="adj" fmla="val 10909"/>
            </a:avLst>
          </a:prstGeom>
          <a:solidFill>
            <a:srgbClr val="E0F2FE"/>
          </a:solidFill>
          <a:ln w="1016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43000" y="397764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資料交易</a:t>
            </a:r>
            <a:endParaRPr lang="en-US" sz="960" dirty="0"/>
          </a:p>
        </p:txBody>
      </p:sp>
      <p:sp>
        <p:nvSpPr>
          <p:cNvPr id="37" name="Text 35"/>
          <p:cNvSpPr/>
          <p:nvPr/>
        </p:nvSpPr>
        <p:spPr>
          <a:xfrm>
            <a:off x="2011680" y="3931920"/>
            <a:ext cx="3291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審核成功 → 建立 Room → 保存 roomId、players、status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355080" y="3675888"/>
            <a:ext cx="4480560" cy="1005840"/>
          </a:xfrm>
          <a:prstGeom prst="roundRect">
            <a:avLst>
              <a:gd name="adj" fmla="val 10909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29400" y="3977640"/>
            <a:ext cx="9144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即時同步</a:t>
            </a:r>
            <a:endParaRPr lang="en-US" sz="960" dirty="0"/>
          </a:p>
        </p:txBody>
      </p:sp>
      <p:sp>
        <p:nvSpPr>
          <p:cNvPr id="40" name="Text 38"/>
          <p:cNvSpPr/>
          <p:nvPr/>
        </p:nvSpPr>
        <p:spPr>
          <a:xfrm>
            <a:off x="7479792" y="3931920"/>
            <a:ext cx="28346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Room WebSocket 推送玩家名單、等待室狀態與房間結束事件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1051560" y="5376672"/>
            <a:ext cx="9875520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  <a:headEnd type="triangl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3154680" y="5266944"/>
            <a:ext cx="56692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雙向狀態：使用者操作寫回後端；後端事件再推回前端畫面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WORKING PRODUCT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實際產品畫面：從遊戲大廳到房間等待，再進入對局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6B6D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所有畫面均由目前專案實際執行後擷取；同一個登入帳號貫穿大廳、房間與遊戲。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49224" y="1792224"/>
            <a:ext cx="327355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/mnt/data/gp3/gammPlatform/PPT/screenshots/02-game-lobby.png">    </p:cNvPr>
          <p:cNvPicPr>
            <a:picLocks noChangeAspect="1"/>
          </p:cNvPicPr>
          <p:nvPr/>
        </p:nvPicPr>
        <p:blipFill>
          <a:blip r:embed="rId1"/>
          <a:srcRect l="32" r="32" t="0" b="0"/>
          <a:stretch/>
        </p:blipFill>
        <p:spPr>
          <a:xfrm>
            <a:off x="685800" y="1828800"/>
            <a:ext cx="3200400" cy="180136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98264" y="1792224"/>
            <a:ext cx="327355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1" descr="/mnt/data/gp3/gammPlatform/PPT/screenshots/05-lobby-create-room.png">    </p:cNvPr>
          <p:cNvPicPr>
            <a:picLocks noChangeAspect="1"/>
          </p:cNvPicPr>
          <p:nvPr/>
        </p:nvPicPr>
        <p:blipFill>
          <a:blip r:embed="rId2"/>
          <a:srcRect l="32" r="32" t="0" b="0"/>
          <a:stretch/>
        </p:blipFill>
        <p:spPr>
          <a:xfrm>
            <a:off x="4434840" y="1828800"/>
            <a:ext cx="3200400" cy="1801368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147304" y="1792224"/>
            <a:ext cx="327355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pic>
        <p:nvPicPr>
          <p:cNvPr id="17" name="Image 2" descr="/mnt/data/gp3/gammPlatform/PPT/screenshots/06-waiting-room.png">    </p:cNvPr>
          <p:cNvPicPr>
            <a:picLocks noChangeAspect="1"/>
          </p:cNvPicPr>
          <p:nvPr/>
        </p:nvPicPr>
        <p:blipFill>
          <a:blip r:embed="rId3"/>
          <a:srcRect l="32" r="32" t="0" b="0"/>
          <a:stretch/>
        </p:blipFill>
        <p:spPr>
          <a:xfrm>
            <a:off x="8183880" y="1828800"/>
            <a:ext cx="3200400" cy="180136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3858768"/>
            <a:ext cx="1463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 遊戲大廳</a:t>
            </a:r>
            <a:endParaRPr lang="en-US" sz="940" dirty="0"/>
          </a:p>
        </p:txBody>
      </p:sp>
      <p:sp>
        <p:nvSpPr>
          <p:cNvPr id="19" name="Text 14"/>
          <p:cNvSpPr/>
          <p:nvPr/>
        </p:nvSpPr>
        <p:spPr>
          <a:xfrm>
            <a:off x="914400" y="4096512"/>
            <a:ext cx="2011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選擇遊戲與模式入口</a:t>
            </a:r>
            <a:endParaRPr lang="en-US" sz="750" dirty="0"/>
          </a:p>
        </p:txBody>
      </p:sp>
      <p:sp>
        <p:nvSpPr>
          <p:cNvPr id="20" name="Text 15"/>
          <p:cNvSpPr/>
          <p:nvPr/>
        </p:nvSpPr>
        <p:spPr>
          <a:xfrm>
            <a:off x="4663440" y="3858768"/>
            <a:ext cx="1463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02 建立房間</a:t>
            </a:r>
            <a:endParaRPr lang="en-US" sz="940" dirty="0"/>
          </a:p>
        </p:txBody>
      </p:sp>
      <p:sp>
        <p:nvSpPr>
          <p:cNvPr id="21" name="Text 16"/>
          <p:cNvSpPr/>
          <p:nvPr/>
        </p:nvSpPr>
        <p:spPr>
          <a:xfrm>
            <a:off x="4663440" y="4096512"/>
            <a:ext cx="201168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設定名稱與玩家人數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8412480" y="3858768"/>
            <a:ext cx="14630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03 房間等待</a:t>
            </a:r>
            <a:endParaRPr lang="en-US" sz="940" dirty="0"/>
          </a:p>
        </p:txBody>
      </p:sp>
      <p:sp>
        <p:nvSpPr>
          <p:cNvPr id="23" name="Text 18"/>
          <p:cNvSpPr/>
          <p:nvPr/>
        </p:nvSpPr>
        <p:spPr>
          <a:xfrm>
            <a:off x="8412480" y="4096512"/>
            <a:ext cx="219456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房號、房主、玩家名單同步</a:t>
            </a:r>
            <a:endParaRPr lang="en-US" sz="750" dirty="0"/>
          </a:p>
        </p:txBody>
      </p:sp>
      <p:sp>
        <p:nvSpPr>
          <p:cNvPr id="24" name="Shape 19"/>
          <p:cNvSpPr/>
          <p:nvPr/>
        </p:nvSpPr>
        <p:spPr>
          <a:xfrm>
            <a:off x="2011680" y="4983480"/>
            <a:ext cx="8183880" cy="548640"/>
          </a:xfrm>
          <a:prstGeom prst="roundRect">
            <a:avLst>
              <a:gd name="adj" fmla="val 20000"/>
            </a:avLst>
          </a:prstGeom>
          <a:solidFill>
            <a:srgbClr val="0B1220"/>
          </a:solidFill>
          <a:ln w="10160">
            <a:solidFill>
              <a:srgbClr val="0B1220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2240280" y="5148072"/>
            <a:ext cx="77266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E2E8F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大廳直接建立房間；組隊滿員也會自動建立房間，最後都進入同一個等待室流程。</a:t>
            </a:r>
            <a:endParaRPr lang="en-US" sz="97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GAME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田忌撲克：完成選牌、比牌與三輪結果呈現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頁集中呈現房間資訊、玩家身分、目前輪次、手牌選擇、對手狀態與三輪結果。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713232" y="1746504"/>
            <a:ext cx="7022592" cy="3986784"/>
          </a:xfrm>
          <a:prstGeom prst="roundRect">
            <a:avLst>
              <a:gd name="adj" fmla="val 2752"/>
            </a:avLst>
          </a:prstGeom>
          <a:solidFill>
            <a:srgbClr val="FFFFFF"/>
          </a:solidFill>
          <a:ln w="10160">
            <a:solidFill>
              <a:srgbClr val="D7E0EA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/mnt/data/gp3/gammPlatform/PPT/screenshots/09-poker-result.png">    </p:cNvPr>
          <p:cNvPicPr>
            <a:picLocks noChangeAspect="1"/>
          </p:cNvPicPr>
          <p:nvPr/>
        </p:nvPicPr>
        <p:blipFill>
          <a:blip r:embed="rId1"/>
          <a:srcRect l="34" r="34" t="0" b="0"/>
          <a:stretch/>
        </p:blipFill>
        <p:spPr>
          <a:xfrm>
            <a:off x="749808" y="1783080"/>
            <a:ext cx="6949440" cy="39136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229600" y="187452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8375904" y="1993392"/>
            <a:ext cx="2267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三輪對戰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375904" y="2258568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1 輪 3 張牌；第 2、3 輪各 5 張牌。</a:t>
            </a:r>
            <a:endParaRPr lang="en-US" sz="770" dirty="0"/>
          </a:p>
        </p:txBody>
      </p:sp>
      <p:sp>
        <p:nvSpPr>
          <p:cNvPr id="17" name="Shape 14"/>
          <p:cNvSpPr/>
          <p:nvPr/>
        </p:nvSpPr>
        <p:spPr>
          <a:xfrm>
            <a:off x="8229600" y="288036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3970">
            <a:solidFill>
              <a:srgbClr val="06B6D4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375904" y="2999232"/>
            <a:ext cx="2267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即時狀態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375904" y="3264408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房號、連線狀態與玩家名單在畫面中同步。</a:t>
            </a:r>
            <a:endParaRPr lang="en-US" sz="770" dirty="0"/>
          </a:p>
        </p:txBody>
      </p:sp>
      <p:sp>
        <p:nvSpPr>
          <p:cNvPr id="20" name="Shape 17"/>
          <p:cNvSpPr/>
          <p:nvPr/>
        </p:nvSpPr>
        <p:spPr>
          <a:xfrm>
            <a:off x="8229600" y="388620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8375904" y="4005072"/>
            <a:ext cx="2267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自動選牌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8375904" y="4270248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依目前可用手牌計算候選組合，選出最高強度。</a:t>
            </a:r>
            <a:endParaRPr lang="en-US" sz="770" dirty="0"/>
          </a:p>
        </p:txBody>
      </p:sp>
      <p:sp>
        <p:nvSpPr>
          <p:cNvPr id="23" name="Shape 20"/>
          <p:cNvSpPr/>
          <p:nvPr/>
        </p:nvSpPr>
        <p:spPr>
          <a:xfrm>
            <a:off x="8229600" y="4892040"/>
            <a:ext cx="25603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3970">
            <a:solidFill>
              <a:srgbClr val="D97706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8375904" y="5010912"/>
            <a:ext cx="226771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結果呈現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375904" y="5276088"/>
            <a:ext cx="2267712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逐輪比較後顯示勝負與最後總結。</a:t>
            </a:r>
            <a:endParaRPr lang="en-US" sz="77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E11D4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ALGORITHM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Poker 演算法：把牌型轉成可直接比較的 strength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E11D4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14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298448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修改建議要求恢復撲克牌範例，並直接拆解強度編碼。下例依目前 Round.java：同花 = 5。</a:t>
            </a:r>
            <a:endParaRPr lang="en-US" sz="1060" dirty="0"/>
          </a:p>
        </p:txBody>
      </p:sp>
      <p:pic>
        <p:nvPicPr>
          <p:cNvPr id="12" name="Image 0" descr="/mnt/data/gp3/gammPlatform/backend/src/main/resources/static/assets/Games/poker/cards/card_a_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675" y="1901952"/>
            <a:ext cx="503802" cy="731520"/>
          </a:xfrm>
          <a:prstGeom prst="rect">
            <a:avLst/>
          </a:prstGeom>
        </p:spPr>
      </p:pic>
      <p:pic>
        <p:nvPicPr>
          <p:cNvPr id="13" name="Image 1" descr="/mnt/data/gp3/gammPlatform/backend/src/main/resources/static/assets/Games/poker/cards/card_a_d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1179" y="1901952"/>
            <a:ext cx="503802" cy="731520"/>
          </a:xfrm>
          <a:prstGeom prst="rect">
            <a:avLst/>
          </a:prstGeom>
        </p:spPr>
      </p:pic>
      <p:pic>
        <p:nvPicPr>
          <p:cNvPr id="14" name="Image 2" descr="/mnt/data/gp3/gammPlatform/backend/src/main/resources/static/assets/Games/poker/cards/card_a_d8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4683" y="1901952"/>
            <a:ext cx="503802" cy="731520"/>
          </a:xfrm>
          <a:prstGeom prst="rect">
            <a:avLst/>
          </a:prstGeom>
        </p:spPr>
      </p:pic>
      <p:pic>
        <p:nvPicPr>
          <p:cNvPr id="15" name="Image 3" descr="/mnt/data/gp3/gammPlatform/backend/src/main/resources/static/assets/Games/poker/cards/card_a_d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8187" y="1901952"/>
            <a:ext cx="503802" cy="731520"/>
          </a:xfrm>
          <a:prstGeom prst="rect">
            <a:avLst/>
          </a:prstGeom>
        </p:spPr>
      </p:pic>
      <p:pic>
        <p:nvPicPr>
          <p:cNvPr id="16" name="Image 4" descr="/mnt/data/gp3/gammPlatform/backend/src/main/resources/static/assets/Games/poker/cards/card_a_d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1691" y="1901952"/>
            <a:ext cx="503802" cy="7315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914400" y="2770632"/>
            <a:ext cx="35661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範例：♦2、♦6、♦8、♦9、♦K = 同花</a:t>
            </a:r>
            <a:endParaRPr lang="en-US" sz="920" dirty="0"/>
          </a:p>
        </p:txBody>
      </p:sp>
      <p:sp>
        <p:nvSpPr>
          <p:cNvPr id="18" name="Shape 11"/>
          <p:cNvSpPr/>
          <p:nvPr/>
        </p:nvSpPr>
        <p:spPr>
          <a:xfrm>
            <a:off x="4709160" y="1783080"/>
            <a:ext cx="6263640" cy="1207008"/>
          </a:xfrm>
          <a:prstGeom prst="roundRect">
            <a:avLst>
              <a:gd name="adj" fmla="val 9091"/>
            </a:avLst>
          </a:prstGeom>
          <a:solidFill>
            <a:srgbClr val="0B1220"/>
          </a:solidFill>
          <a:ln w="1016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2"/>
          <p:cNvSpPr/>
          <p:nvPr/>
        </p:nvSpPr>
        <p:spPr>
          <a:xfrm>
            <a:off x="4983480" y="205740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513090806021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7360920" y="212140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ECA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5｜13｜09｜08｜06｜02｜1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7443216" y="2514600"/>
            <a:ext cx="28346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牌型  K   9   8   6   2  花色</a:t>
            </a:r>
            <a:endParaRPr lang="en-US" sz="750" dirty="0"/>
          </a:p>
        </p:txBody>
      </p:sp>
      <p:sp>
        <p:nvSpPr>
          <p:cNvPr id="22" name="Shape 15"/>
          <p:cNvSpPr/>
          <p:nvPr/>
        </p:nvSpPr>
        <p:spPr>
          <a:xfrm>
            <a:off x="868680" y="374904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E11D48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868680" y="3749040"/>
            <a:ext cx="2834640" cy="301752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>
                <a:alpha val="0"/>
              </a:srgbClr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960120" y="3822192"/>
            <a:ext cx="26517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強度編碼</a:t>
            </a:r>
            <a:endParaRPr lang="en-US" sz="850" dirty="0"/>
          </a:p>
        </p:txBody>
      </p:sp>
      <p:sp>
        <p:nvSpPr>
          <p:cNvPr id="25" name="Text 18"/>
          <p:cNvSpPr/>
          <p:nvPr/>
        </p:nvSpPr>
        <p:spPr>
          <a:xfrm>
            <a:off x="978408" y="4151376"/>
            <a:ext cx="261518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牌型編號 × 10^11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主要點數 × 10^9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次要點數依序往後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最後加入花色強度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比較時只需比 long 大小</a:t>
            </a:r>
            <a:endParaRPr lang="en-US" sz="670" dirty="0"/>
          </a:p>
        </p:txBody>
      </p:sp>
      <p:sp>
        <p:nvSpPr>
          <p:cNvPr id="26" name="Shape 19"/>
          <p:cNvSpPr/>
          <p:nvPr/>
        </p:nvSpPr>
        <p:spPr>
          <a:xfrm>
            <a:off x="4069080" y="374904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4069080" y="3749040"/>
            <a:ext cx="2834640" cy="3017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28" name="Text 21"/>
          <p:cNvSpPr/>
          <p:nvPr/>
        </p:nvSpPr>
        <p:spPr>
          <a:xfrm>
            <a:off x="4160520" y="3822192"/>
            <a:ext cx="26517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組合搜尋</a:t>
            </a:r>
            <a:endParaRPr lang="en-US" sz="850" dirty="0"/>
          </a:p>
        </p:txBody>
      </p:sp>
      <p:sp>
        <p:nvSpPr>
          <p:cNvPr id="29" name="Text 22"/>
          <p:cNvSpPr/>
          <p:nvPr/>
        </p:nvSpPr>
        <p:spPr>
          <a:xfrm>
            <a:off x="4178808" y="4151376"/>
            <a:ext cx="261518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從未使用手牌中列舉 C(n,k)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每組呼叫 strength(cards)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保留最高分組合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依第 3 → 第 2 → 第 1 輪選牌</a:t>
            </a:r>
            <a:endParaRPr lang="en-US" sz="670" dirty="0"/>
          </a:p>
        </p:txBody>
      </p:sp>
      <p:sp>
        <p:nvSpPr>
          <p:cNvPr id="30" name="Shape 23"/>
          <p:cNvSpPr/>
          <p:nvPr/>
        </p:nvSpPr>
        <p:spPr>
          <a:xfrm>
            <a:off x="7269480" y="3749040"/>
            <a:ext cx="28346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7269480" y="3749040"/>
            <a:ext cx="2834640" cy="3017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360920" y="3822192"/>
            <a:ext cx="26517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設計優點</a:t>
            </a:r>
            <a:endParaRPr lang="en-US" sz="850" dirty="0"/>
          </a:p>
        </p:txBody>
      </p:sp>
      <p:sp>
        <p:nvSpPr>
          <p:cNvPr id="33" name="Text 26"/>
          <p:cNvSpPr/>
          <p:nvPr/>
        </p:nvSpPr>
        <p:spPr>
          <a:xfrm>
            <a:off x="7379208" y="4151376"/>
            <a:ext cx="2615184" cy="1088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比大量 if/else 更集中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牌型規則只在一處維護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自動選牌可直接最大化分數</a:t>
            </a:r>
            <a:endParaRPr lang="en-US" sz="670" dirty="0"/>
          </a:p>
          <a:p>
            <a:pPr algn="l" indent="0" marL="0">
              <a:buNone/>
            </a:pPr>
            <a:r>
              <a:rPr lang="en-US" sz="67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比較邏輯簡單且可測試</a:t>
            </a:r>
            <a:endParaRPr lang="en-US" sz="67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VERIFICATION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驗證結果：核心流程與測試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0596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731520" y="1316736"/>
            <a:ext cx="10241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測試數字用來支撐目前可展示成果；現場展示聚焦於已確認的核心流程與操作結果。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960120" y="1874520"/>
            <a:ext cx="2880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170432" y="2212848"/>
            <a:ext cx="7498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874520" y="2148840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後端測試</a:t>
            </a:r>
            <a:endParaRPr lang="en-US" sz="1040" dirty="0"/>
          </a:p>
        </p:txBody>
      </p:sp>
      <p:sp>
        <p:nvSpPr>
          <p:cNvPr id="15" name="Text 13"/>
          <p:cNvSpPr/>
          <p:nvPr/>
        </p:nvSpPr>
        <p:spPr>
          <a:xfrm>
            <a:off x="187452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Spring · Board · Poker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JWT · Game Management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4663440" y="1874520"/>
            <a:ext cx="2880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73752" y="2212848"/>
            <a:ext cx="7498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77840" y="2148840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前端測試</a:t>
            </a:r>
            <a:endParaRPr lang="en-US" sz="1040" dirty="0"/>
          </a:p>
        </p:txBody>
      </p:sp>
      <p:sp>
        <p:nvSpPr>
          <p:cNvPr id="19" name="Text 17"/>
          <p:cNvSpPr/>
          <p:nvPr/>
        </p:nvSpPr>
        <p:spPr>
          <a:xfrm>
            <a:off x="557784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· 分頁 · 即時連線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重新連線</a:t>
            </a:r>
            <a:endParaRPr lang="en-US" sz="720" dirty="0"/>
          </a:p>
        </p:txBody>
      </p:sp>
      <p:sp>
        <p:nvSpPr>
          <p:cNvPr id="20" name="Shape 18"/>
          <p:cNvSpPr/>
          <p:nvPr/>
        </p:nvSpPr>
        <p:spPr>
          <a:xfrm>
            <a:off x="8366760" y="1874520"/>
            <a:ext cx="288036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 w="1016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577072" y="2212848"/>
            <a:ext cx="749808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281160" y="2148840"/>
            <a:ext cx="10058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合計通過</a:t>
            </a:r>
            <a:endParaRPr lang="en-US" sz="1040" dirty="0"/>
          </a:p>
        </p:txBody>
      </p:sp>
      <p:sp>
        <p:nvSpPr>
          <p:cNvPr id="23" name="Text 21"/>
          <p:cNvSpPr/>
          <p:nvPr/>
        </p:nvSpPr>
        <p:spPr>
          <a:xfrm>
            <a:off x="9281160" y="2423160"/>
            <a:ext cx="1645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failure · 0 error</a:t>
            </a:r>
            <a:endParaRPr lang="en-US" sz="720" dirty="0"/>
          </a:p>
          <a:p>
            <a:pPr algn="l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 skipped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914400" y="3886200"/>
            <a:ext cx="10241280" cy="1143000"/>
          </a:xfrm>
          <a:prstGeom prst="roundRect">
            <a:avLst>
              <a:gd name="adj" fmla="val 9600"/>
            </a:avLst>
          </a:prstGeom>
          <a:solidFill>
            <a:srgbClr val="ECFDF5"/>
          </a:solidFill>
          <a:ln w="1016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34440" y="4187952"/>
            <a:ext cx="1417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已驗證展示路線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560320" y="4160520"/>
            <a:ext cx="60350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1220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遊戲大廳 → 建立房間 → 等待室 → Poker → 自動選牌 → 三輪結果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2560320" y="4498848"/>
            <a:ext cx="63093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展示焦點聚焦於會員登入、遊戲大廳、建房等待室與 Poker 對局；其他入口以平台目錄項目呈現。</a:t>
            </a:r>
            <a:endParaRPr lang="en-US" sz="870" dirty="0"/>
          </a:p>
        </p:txBody>
      </p:sp>
      <p:sp>
        <p:nvSpPr>
          <p:cNvPr id="28" name="Text 26"/>
          <p:cNvSpPr/>
          <p:nvPr/>
        </p:nvSpPr>
        <p:spPr>
          <a:xfrm>
            <a:off x="1920240" y="5715000"/>
            <a:ext cx="83210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D9770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自動測試支撐功能穩定度；現場展示以已確認路線為主。</a:t>
            </a:r>
            <a:endParaRPr lang="en-US" sz="9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92840" y="0"/>
            <a:ext cx="896112" cy="6858000"/>
          </a:xfrm>
          <a:prstGeom prst="rect">
            <a:avLst/>
          </a:prstGeom>
          <a:solidFill>
            <a:srgbClr val="EAF7FB">
              <a:alpha val="85000"/>
            </a:srgbClr>
          </a:solidFill>
          <a:ln w="12700">
            <a:solidFill>
              <a:srgbClr val="EAF7FB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4048"/>
            <a:ext cx="310896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94360" y="640080"/>
            <a:ext cx="978408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02A4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從會員到遊戲：平台已形成可展示的端到端流程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94360" y="1170432"/>
            <a:ext cx="960120" cy="0"/>
          </a:xfrm>
          <a:prstGeom prst="line">
            <a:avLst/>
          </a:prstGeom>
          <a:noFill/>
          <a:ln w="2794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10528"/>
            <a:ext cx="10744200" cy="0"/>
          </a:xfrm>
          <a:prstGeom prst="line">
            <a:avLst/>
          </a:prstGeom>
          <a:noFill/>
          <a:ln w="6350">
            <a:solidFill>
              <a:srgbClr val="D7E0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6565392"/>
            <a:ext cx="2834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 · 小組專題成果報告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0927080" y="6565392"/>
            <a:ext cx="411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960120" y="1444752"/>
            <a:ext cx="98755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本次成果的重點，是把多個功能模組串成可以現場展示的完整使用路線。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600200" y="23317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2563EB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46504" y="2450592"/>
            <a:ext cx="19933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2563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端到端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746504" y="2715768"/>
            <a:ext cx="19933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登入 → 房間 → 遊戲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937760" y="23317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7C3AED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84064" y="2450592"/>
            <a:ext cx="19933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模組化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84064" y="2715768"/>
            <a:ext cx="19933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共用平台 + 獨立遊戲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8275320" y="2331720"/>
            <a:ext cx="228600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397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21624" y="2450592"/>
            <a:ext cx="1993392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5966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可驗證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421624" y="2715768"/>
            <a:ext cx="1993392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77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58 項測試 + 實機流程</a:t>
            </a:r>
            <a:endParaRPr lang="en-US" sz="770" dirty="0"/>
          </a:p>
        </p:txBody>
      </p:sp>
      <p:sp>
        <p:nvSpPr>
          <p:cNvPr id="21" name="Shape 19"/>
          <p:cNvSpPr/>
          <p:nvPr/>
        </p:nvSpPr>
        <p:spPr>
          <a:xfrm>
            <a:off x="2606040" y="4297680"/>
            <a:ext cx="6995160" cy="777240"/>
          </a:xfrm>
          <a:prstGeom prst="roundRect">
            <a:avLst>
              <a:gd name="adj" fmla="val 14118"/>
            </a:avLst>
          </a:prstGeom>
          <a:solidFill>
            <a:srgbClr val="0B1220"/>
          </a:solidFill>
          <a:ln w="10160">
            <a:solidFill>
              <a:srgbClr val="0B1220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606040" y="4572000"/>
            <a:ext cx="69951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· Q&amp;A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2606040" y="4370832"/>
            <a:ext cx="699516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6B6D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GamePlatform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遊戲對戰平台</dc:title>
  <dc:subject>GamePlatform project presentation</dc:subject>
  <dc:creator>OpenAI</dc:creator>
  <cp:lastModifiedBy>OpenAI</cp:lastModifiedBy>
  <cp:revision>1</cp:revision>
  <dcterms:created xsi:type="dcterms:W3CDTF">2026-09-04T04:30:33Z</dcterms:created>
  <dcterms:modified xsi:type="dcterms:W3CDTF">2026-09-04T04:30:33Z</dcterms:modified>
</cp:coreProperties>
</file>