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e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封面使用實際登入頁，強調這是一個網頁平台作品，而不是單一遊戲畫面。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以端到端流程開場，避免讓報告看起來像只有 Poker 單一遊戲。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本頁直接使用素材資料夾中的完整 UI 使用者流程圖。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此頁對應素材建議：主流程更明顯、補上組隊自動建立房間，並區分兩種開房方式。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根據素材中的「瀏覽器→Spring Boot→SQLite」與專案樹說明重繪成架構頁。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強調模組化架構與責任邊界，不呈現分工。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依修改建議將 Authentication Flow 提前，因為登入身分是後續大廳、房間與遊戲的共同基礎。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以中文欄位說明替代資料庫欄位名，降低聽眾閱讀負擔。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加入 Lobby 說明，並將 Game/GameMode/Room/RoomPlayers 關聯集中呈現。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呈現 Board/Chat 與 Room 的資料銜接，保留必要關係，不塞完整欄位。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修正「Working Product 應為雙向」的表述：使用者操作與後端狀態同步是雙向資料流。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這頁保留實際畫面，但排版改為三連畫面，直接對應使用流程。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使用 Poker 結果頁作為主要證據，說明已完成遊戲核心流程。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依 Round.java 的牌型編號、點數排序與花色權重拆解 handStrength 範例。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依使用者建議，避免把非展示焦點寫成問題，只呈現驗證成果與展示範圍。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結尾不做未來擴充，聚焦已完成成果與現場展示。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gp3/gammPlatform/PPT/screenshots/01-login.png">    </p:cNvPr>
          <p:cNvPicPr>
            <a:picLocks noChangeAspect="1"/>
          </p:cNvPicPr>
          <p:nvPr/>
        </p:nvPicPr>
        <p:blipFill>
          <a:blip r:embed="rId1"/>
          <a:srcRect l="24575" r="24575" t="0" b="0"/>
          <a:stretch/>
        </p:blipFill>
        <p:spPr>
          <a:xfrm>
            <a:off x="5989320" y="0"/>
            <a:ext cx="6199632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6446520" cy="6858000"/>
          </a:xfrm>
          <a:prstGeom prst="rect">
            <a:avLst/>
          </a:prstGeom>
          <a:solidFill>
            <a:srgbClr val="0B1220"/>
          </a:solidFill>
          <a:ln w="12700">
            <a:solidFill>
              <a:srgbClr val="0B1220">
                <a:alpha val="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6035040" y="0"/>
            <a:ext cx="365760" cy="6858000"/>
          </a:xfrm>
          <a:prstGeom prst="rect">
            <a:avLst/>
          </a:prstGeom>
          <a:solidFill>
            <a:srgbClr val="0B1220">
              <a:alpha val="90000"/>
            </a:srgbClr>
          </a:solidFill>
          <a:ln w="12700">
            <a:solidFill>
              <a:srgbClr val="0B1220">
                <a:alpha val="0"/>
              </a:srgbClr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731520" y="1097280"/>
            <a:ext cx="256032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6B6D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GAMEPLATFORM</a:t>
            </a:r>
            <a:endParaRPr lang="en-US" sz="950" dirty="0"/>
          </a:p>
        </p:txBody>
      </p:sp>
      <p:sp>
        <p:nvSpPr>
          <p:cNvPr id="6" name="Text 3"/>
          <p:cNvSpPr/>
          <p:nvPr/>
        </p:nvSpPr>
        <p:spPr>
          <a:xfrm>
            <a:off x="731520" y="1481328"/>
            <a:ext cx="4480560" cy="5669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遊戲對戰平台</a:t>
            </a:r>
            <a:endParaRPr lang="en-US" sz="3000" dirty="0"/>
          </a:p>
        </p:txBody>
      </p:sp>
      <p:sp>
        <p:nvSpPr>
          <p:cNvPr id="7" name="Text 4"/>
          <p:cNvSpPr/>
          <p:nvPr/>
        </p:nvSpPr>
        <p:spPr>
          <a:xfrm>
            <a:off x="731520" y="2240280"/>
            <a:ext cx="4297680" cy="6858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450" dirty="0">
                <a:solidFill>
                  <a:srgbClr val="CBD5E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從會員登入、遊戲大廳、組隊與房間，</a:t>
            </a:r>
            <a:endParaRPr lang="en-US" sz="1450" dirty="0"/>
          </a:p>
          <a:p>
            <a:pPr algn="l" indent="0" marL="0">
              <a:buNone/>
            </a:pPr>
            <a:r>
              <a:rPr lang="en-US" sz="1450" dirty="0">
                <a:solidFill>
                  <a:srgbClr val="CBD5E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到進入遊戲的一體化平台</a:t>
            </a:r>
            <a:endParaRPr lang="en-US" sz="1450" dirty="0"/>
          </a:p>
        </p:txBody>
      </p:sp>
      <p:sp>
        <p:nvSpPr>
          <p:cNvPr id="8" name="Shape 5"/>
          <p:cNvSpPr/>
          <p:nvPr/>
        </p:nvSpPr>
        <p:spPr>
          <a:xfrm>
            <a:off x="731520" y="3255264"/>
            <a:ext cx="804672" cy="0"/>
          </a:xfrm>
          <a:prstGeom prst="line">
            <a:avLst/>
          </a:prstGeom>
          <a:noFill/>
          <a:ln w="38100">
            <a:solidFill>
              <a:srgbClr val="7C3AED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31520" y="3456432"/>
            <a:ext cx="438912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06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Java 全端工程師職訓 · 小組專題成果報告</a:t>
            </a:r>
            <a:endParaRPr lang="en-US" sz="1060" dirty="0"/>
          </a:p>
        </p:txBody>
      </p:sp>
      <p:sp>
        <p:nvSpPr>
          <p:cNvPr id="10" name="Shape 7"/>
          <p:cNvSpPr/>
          <p:nvPr/>
        </p:nvSpPr>
        <p:spPr>
          <a:xfrm>
            <a:off x="731520" y="5715000"/>
            <a:ext cx="1097280" cy="256032"/>
          </a:xfrm>
          <a:prstGeom prst="roundRect">
            <a:avLst>
              <a:gd name="adj" fmla="val 32143"/>
            </a:avLst>
          </a:prstGeom>
          <a:solidFill>
            <a:srgbClr val="06B6D4">
              <a:alpha val="92000"/>
            </a:srgbClr>
          </a:solidFill>
          <a:ln w="8890">
            <a:solidFill>
              <a:srgbClr val="06B6D4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68096" y="5765292"/>
            <a:ext cx="1024128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06B6D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Spring Boot</a:t>
            </a:r>
            <a:endParaRPr lang="en-US" sz="720" dirty="0"/>
          </a:p>
        </p:txBody>
      </p:sp>
      <p:sp>
        <p:nvSpPr>
          <p:cNvPr id="12" name="Shape 9"/>
          <p:cNvSpPr/>
          <p:nvPr/>
        </p:nvSpPr>
        <p:spPr>
          <a:xfrm>
            <a:off x="1920240" y="5715000"/>
            <a:ext cx="731520" cy="256032"/>
          </a:xfrm>
          <a:prstGeom prst="roundRect">
            <a:avLst>
              <a:gd name="adj" fmla="val 32143"/>
            </a:avLst>
          </a:prstGeom>
          <a:solidFill>
            <a:srgbClr val="059669">
              <a:alpha val="92000"/>
            </a:srgbClr>
          </a:solidFill>
          <a:ln w="8890">
            <a:solidFill>
              <a:srgbClr val="059669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956816" y="5765292"/>
            <a:ext cx="658368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05966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SQLite</a:t>
            </a:r>
            <a:endParaRPr lang="en-US" sz="720" dirty="0"/>
          </a:p>
        </p:txBody>
      </p:sp>
      <p:sp>
        <p:nvSpPr>
          <p:cNvPr id="14" name="Shape 11"/>
          <p:cNvSpPr/>
          <p:nvPr/>
        </p:nvSpPr>
        <p:spPr>
          <a:xfrm>
            <a:off x="2743200" y="5715000"/>
            <a:ext cx="914400" cy="256032"/>
          </a:xfrm>
          <a:prstGeom prst="roundRect">
            <a:avLst>
              <a:gd name="adj" fmla="val 32143"/>
            </a:avLst>
          </a:prstGeom>
          <a:solidFill>
            <a:srgbClr val="2563EB">
              <a:alpha val="92000"/>
            </a:srgbClr>
          </a:solidFill>
          <a:ln w="8890">
            <a:solidFill>
              <a:srgbClr val="2563EB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2779776" y="5765292"/>
            <a:ext cx="841248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2563E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REST API</a:t>
            </a:r>
            <a:endParaRPr lang="en-US" sz="720" dirty="0"/>
          </a:p>
        </p:txBody>
      </p:sp>
      <p:sp>
        <p:nvSpPr>
          <p:cNvPr id="16" name="Shape 13"/>
          <p:cNvSpPr/>
          <p:nvPr/>
        </p:nvSpPr>
        <p:spPr>
          <a:xfrm>
            <a:off x="3749040" y="5715000"/>
            <a:ext cx="1005840" cy="256032"/>
          </a:xfrm>
          <a:prstGeom prst="roundRect">
            <a:avLst>
              <a:gd name="adj" fmla="val 32143"/>
            </a:avLst>
          </a:prstGeom>
          <a:solidFill>
            <a:srgbClr val="7C3AED">
              <a:alpha val="92000"/>
            </a:srgbClr>
          </a:solidFill>
          <a:ln w="8890">
            <a:solidFill>
              <a:srgbClr val="7C3AED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3785616" y="5765292"/>
            <a:ext cx="932688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7C3AE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WebSocket</a:t>
            </a:r>
            <a:endParaRPr lang="en-US" sz="720" dirty="0"/>
          </a:p>
        </p:txBody>
      </p:sp>
      <p:sp>
        <p:nvSpPr>
          <p:cNvPr id="18" name="Shape 15"/>
          <p:cNvSpPr/>
          <p:nvPr/>
        </p:nvSpPr>
        <p:spPr>
          <a:xfrm>
            <a:off x="4846320" y="5715000"/>
            <a:ext cx="640080" cy="256032"/>
          </a:xfrm>
          <a:prstGeom prst="roundRect">
            <a:avLst>
              <a:gd name="adj" fmla="val 32143"/>
            </a:avLst>
          </a:prstGeom>
          <a:solidFill>
            <a:srgbClr val="D97706">
              <a:alpha val="92000"/>
            </a:srgbClr>
          </a:solidFill>
          <a:ln w="8890">
            <a:solidFill>
              <a:srgbClr val="D97706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882896" y="5765292"/>
            <a:ext cx="566928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D9770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2026</a:t>
            </a:r>
            <a:endParaRPr lang="en-US" sz="72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 w="12700">
            <a:solidFill>
              <a:srgbClr val="F7FAFC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292840" y="0"/>
            <a:ext cx="896112" cy="6858000"/>
          </a:xfrm>
          <a:prstGeom prst="rect">
            <a:avLst/>
          </a:prstGeom>
          <a:solidFill>
            <a:srgbClr val="EAF7FB">
              <a:alpha val="85000"/>
            </a:srgbClr>
          </a:solidFill>
          <a:ln w="12700">
            <a:solidFill>
              <a:srgbClr val="EAF7FB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94360" y="384048"/>
            <a:ext cx="310896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6B6D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PROJECT GOAL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594360" y="640080"/>
            <a:ext cx="9784080" cy="4389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02A4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我們做的不是單一遊戲，而是一條完整遊玩流程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94360" y="1170432"/>
            <a:ext cx="960120" cy="0"/>
          </a:xfrm>
          <a:prstGeom prst="line">
            <a:avLst/>
          </a:prstGeom>
          <a:noFill/>
          <a:ln w="27940">
            <a:solidFill>
              <a:srgbClr val="06B6D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94360" y="6510528"/>
            <a:ext cx="10744200" cy="0"/>
          </a:xfrm>
          <a:prstGeom prst="line">
            <a:avLst/>
          </a:prstGeom>
          <a:noFill/>
          <a:ln w="6350">
            <a:solidFill>
              <a:srgbClr val="D7E0E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94360" y="6565392"/>
            <a:ext cx="283464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b="1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GAMEPLATFORM · 小組專題成果報告</a:t>
            </a:r>
            <a:endParaRPr lang="en-US" sz="680" dirty="0"/>
          </a:p>
        </p:txBody>
      </p:sp>
      <p:sp>
        <p:nvSpPr>
          <p:cNvPr id="10" name="Text 8"/>
          <p:cNvSpPr/>
          <p:nvPr/>
        </p:nvSpPr>
        <p:spPr>
          <a:xfrm>
            <a:off x="10927080" y="6565392"/>
            <a:ext cx="41148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02</a:t>
            </a:r>
            <a:endParaRPr lang="en-US" sz="680" dirty="0"/>
          </a:p>
        </p:txBody>
      </p:sp>
      <p:sp>
        <p:nvSpPr>
          <p:cNvPr id="11" name="Text 9"/>
          <p:cNvSpPr/>
          <p:nvPr/>
        </p:nvSpPr>
        <p:spPr>
          <a:xfrm>
            <a:off x="731520" y="1417320"/>
            <a:ext cx="10515600" cy="3840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2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本專題把登入、遊戲目錄、組隊公告、房間等待與實際遊戲串成同一條體驗。個別遊戲只需要專注自己的規則。</a:t>
            </a:r>
            <a:endParaRPr lang="en-US" sz="1220" dirty="0"/>
          </a:p>
        </p:txBody>
      </p:sp>
      <p:sp>
        <p:nvSpPr>
          <p:cNvPr id="12" name="Shape 10"/>
          <p:cNvSpPr/>
          <p:nvPr/>
        </p:nvSpPr>
        <p:spPr>
          <a:xfrm>
            <a:off x="987552" y="2148840"/>
            <a:ext cx="420624" cy="420624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87552" y="2253996"/>
            <a:ext cx="42062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841248" y="2679192"/>
            <a:ext cx="713232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220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登入身分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731520" y="2916936"/>
            <a:ext cx="932688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65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JWT 與會員資料</a:t>
            </a:r>
            <a:endParaRPr lang="en-US" sz="650" dirty="0"/>
          </a:p>
        </p:txBody>
      </p:sp>
      <p:sp>
        <p:nvSpPr>
          <p:cNvPr id="16" name="Shape 14"/>
          <p:cNvSpPr/>
          <p:nvPr/>
        </p:nvSpPr>
        <p:spPr>
          <a:xfrm>
            <a:off x="1664208" y="2258568"/>
            <a:ext cx="1005840" cy="201168"/>
          </a:xfrm>
          <a:prstGeom prst="chevron">
            <a:avLst/>
          </a:prstGeom>
          <a:solidFill>
            <a:srgbClr val="2563EB">
              <a:alpha val="90000"/>
            </a:srgbClr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044952" y="2148840"/>
            <a:ext cx="420624" cy="420624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>
                <a:alpha val="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044952" y="2253996"/>
            <a:ext cx="42062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2898648" y="2679192"/>
            <a:ext cx="713232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220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選擇遊戲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2788920" y="2916936"/>
            <a:ext cx="932688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65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Game 目錄</a:t>
            </a:r>
            <a:endParaRPr lang="en-US" sz="650" dirty="0"/>
          </a:p>
        </p:txBody>
      </p:sp>
      <p:sp>
        <p:nvSpPr>
          <p:cNvPr id="21" name="Shape 19"/>
          <p:cNvSpPr/>
          <p:nvPr/>
        </p:nvSpPr>
        <p:spPr>
          <a:xfrm>
            <a:off x="3721608" y="2258568"/>
            <a:ext cx="1005840" cy="201168"/>
          </a:xfrm>
          <a:prstGeom prst="chevron">
            <a:avLst/>
          </a:prstGeom>
          <a:solidFill>
            <a:srgbClr val="7C3AED">
              <a:alpha val="90000"/>
            </a:srgbClr>
          </a:solidFill>
          <a:ln w="12700">
            <a:solidFill>
              <a:srgbClr val="7C3AED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102352" y="2148840"/>
            <a:ext cx="420624" cy="420624"/>
          </a:xfrm>
          <a:prstGeom prst="ellipse">
            <a:avLst/>
          </a:prstGeom>
          <a:solidFill>
            <a:srgbClr val="06B6D4"/>
          </a:solidFill>
          <a:ln w="12700">
            <a:solidFill>
              <a:srgbClr val="06B6D4">
                <a:alpha val="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102352" y="2253996"/>
            <a:ext cx="42062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4956048" y="2679192"/>
            <a:ext cx="713232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220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建立／加入房間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4846320" y="2916936"/>
            <a:ext cx="932688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65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Lobby Room</a:t>
            </a:r>
            <a:endParaRPr lang="en-US" sz="650" dirty="0"/>
          </a:p>
        </p:txBody>
      </p:sp>
      <p:sp>
        <p:nvSpPr>
          <p:cNvPr id="26" name="Shape 24"/>
          <p:cNvSpPr/>
          <p:nvPr/>
        </p:nvSpPr>
        <p:spPr>
          <a:xfrm>
            <a:off x="5779008" y="2258568"/>
            <a:ext cx="1005840" cy="201168"/>
          </a:xfrm>
          <a:prstGeom prst="chevron">
            <a:avLst/>
          </a:prstGeom>
          <a:solidFill>
            <a:srgbClr val="06B6D4">
              <a:alpha val="90000"/>
            </a:srgbClr>
          </a:solidFill>
          <a:ln w="12700">
            <a:solidFill>
              <a:srgbClr val="06B6D4">
                <a:alpha val="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59752" y="2148840"/>
            <a:ext cx="420624" cy="420624"/>
          </a:xfrm>
          <a:prstGeom prst="ellipse">
            <a:avLst/>
          </a:prstGeom>
          <a:solidFill>
            <a:srgbClr val="059669"/>
          </a:solidFill>
          <a:ln w="12700">
            <a:solidFill>
              <a:srgbClr val="059669">
                <a:alpha val="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159752" y="2253996"/>
            <a:ext cx="42062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7013448" y="2679192"/>
            <a:ext cx="713232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220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等待同步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6903720" y="2916936"/>
            <a:ext cx="932688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65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WebSocket</a:t>
            </a:r>
            <a:endParaRPr lang="en-US" sz="650" dirty="0"/>
          </a:p>
        </p:txBody>
      </p:sp>
      <p:sp>
        <p:nvSpPr>
          <p:cNvPr id="31" name="Shape 29"/>
          <p:cNvSpPr/>
          <p:nvPr/>
        </p:nvSpPr>
        <p:spPr>
          <a:xfrm>
            <a:off x="7836408" y="2258568"/>
            <a:ext cx="1005840" cy="201168"/>
          </a:xfrm>
          <a:prstGeom prst="chevron">
            <a:avLst/>
          </a:prstGeom>
          <a:solidFill>
            <a:srgbClr val="059669">
              <a:alpha val="90000"/>
            </a:srgbClr>
          </a:solidFill>
          <a:ln w="12700">
            <a:solidFill>
              <a:srgbClr val="059669">
                <a:alpha val="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9217152" y="2148840"/>
            <a:ext cx="420624" cy="420624"/>
          </a:xfrm>
          <a:prstGeom prst="ellipse">
            <a:avLst/>
          </a:prstGeom>
          <a:solidFill>
            <a:srgbClr val="D97706"/>
          </a:solidFill>
          <a:ln w="12700">
            <a:solidFill>
              <a:srgbClr val="D97706">
                <a:alpha val="0"/>
              </a:srgbClr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217152" y="2253996"/>
            <a:ext cx="42062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9070848" y="2679192"/>
            <a:ext cx="713232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220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開始遊戲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8961120" y="2916936"/>
            <a:ext cx="932688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65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帶入 roomId</a:t>
            </a:r>
            <a:endParaRPr lang="en-US" sz="650" dirty="0"/>
          </a:p>
        </p:txBody>
      </p:sp>
      <p:sp>
        <p:nvSpPr>
          <p:cNvPr id="36" name="Shape 34"/>
          <p:cNvSpPr/>
          <p:nvPr/>
        </p:nvSpPr>
        <p:spPr>
          <a:xfrm>
            <a:off x="1325880" y="4133088"/>
            <a:ext cx="9509760" cy="941832"/>
          </a:xfrm>
          <a:prstGeom prst="roundRect">
            <a:avLst>
              <a:gd name="adj" fmla="val 11650"/>
            </a:avLst>
          </a:prstGeom>
          <a:solidFill>
            <a:srgbClr val="0B1220"/>
          </a:solidFill>
          <a:ln w="10160">
            <a:solidFill>
              <a:srgbClr val="0B1220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37" name="Text 35"/>
          <p:cNvSpPr/>
          <p:nvPr/>
        </p:nvSpPr>
        <p:spPr>
          <a:xfrm>
            <a:off x="1600200" y="4416552"/>
            <a:ext cx="109728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06B6D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平台價值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2834640" y="4370832"/>
            <a:ext cx="7223760" cy="31089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E2E8F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共用會員、遊戲目錄與房間流程；不同遊戲沿用同一套入口，不需要各自重做登入與建房。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 w="12700">
            <a:solidFill>
              <a:srgbClr val="F7FAFC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292840" y="0"/>
            <a:ext cx="896112" cy="6858000"/>
          </a:xfrm>
          <a:prstGeom prst="rect">
            <a:avLst/>
          </a:prstGeom>
          <a:solidFill>
            <a:srgbClr val="EAF7FB">
              <a:alpha val="85000"/>
            </a:srgbClr>
          </a:solidFill>
          <a:ln w="12700">
            <a:solidFill>
              <a:srgbClr val="EAF7FB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94360" y="384048"/>
            <a:ext cx="310896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2563E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WEB USER FLOW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594360" y="640080"/>
            <a:ext cx="9784080" cy="4389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02A4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完整 UI 使用者流程圖：實際專案畫面串接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94360" y="1170432"/>
            <a:ext cx="960120" cy="0"/>
          </a:xfrm>
          <a:prstGeom prst="line">
            <a:avLst/>
          </a:prstGeom>
          <a:noFill/>
          <a:ln w="27940">
            <a:solidFill>
              <a:srgbClr val="2563E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94360" y="6510528"/>
            <a:ext cx="10744200" cy="0"/>
          </a:xfrm>
          <a:prstGeom prst="line">
            <a:avLst/>
          </a:prstGeom>
          <a:noFill/>
          <a:ln w="6350">
            <a:solidFill>
              <a:srgbClr val="D7E0E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94360" y="6565392"/>
            <a:ext cx="283464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b="1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GAMEPLATFORM · 小組專題成果報告</a:t>
            </a:r>
            <a:endParaRPr lang="en-US" sz="680" dirty="0"/>
          </a:p>
        </p:txBody>
      </p:sp>
      <p:sp>
        <p:nvSpPr>
          <p:cNvPr id="10" name="Text 8"/>
          <p:cNvSpPr/>
          <p:nvPr/>
        </p:nvSpPr>
        <p:spPr>
          <a:xfrm>
            <a:off x="10927080" y="6565392"/>
            <a:ext cx="41148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03</a:t>
            </a:r>
            <a:endParaRPr lang="en-US" sz="680" dirty="0"/>
          </a:p>
        </p:txBody>
      </p:sp>
      <p:sp>
        <p:nvSpPr>
          <p:cNvPr id="11" name="Text 9"/>
          <p:cNvSpPr/>
          <p:nvPr/>
        </p:nvSpPr>
        <p:spPr>
          <a:xfrm>
            <a:off x="731520" y="1298448"/>
            <a:ext cx="10058400" cy="23774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08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素材中的 V6 流程圖已把玩家、隊長、管理員與主要畫面串起來；報告時可用本頁快速總覽全站功能。</a:t>
            </a:r>
            <a:endParaRPr lang="en-US" sz="1080" dirty="0"/>
          </a:p>
        </p:txBody>
      </p:sp>
      <p:sp>
        <p:nvSpPr>
          <p:cNvPr id="12" name="Shape 10"/>
          <p:cNvSpPr/>
          <p:nvPr/>
        </p:nvSpPr>
        <p:spPr>
          <a:xfrm>
            <a:off x="603504" y="1664208"/>
            <a:ext cx="10817352" cy="4233672"/>
          </a:xfrm>
          <a:prstGeom prst="roundRect">
            <a:avLst>
              <a:gd name="adj" fmla="val 2592"/>
            </a:avLst>
          </a:prstGeom>
          <a:solidFill>
            <a:srgbClr val="FFFFFF"/>
          </a:solidFill>
          <a:ln w="1016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pic>
        <p:nvPicPr>
          <p:cNvPr id="13" name="Image 0" descr="/mnt/data/material_ui_flow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83764" y="1700784"/>
            <a:ext cx="6656832" cy="4160520"/>
          </a:xfrm>
          <a:prstGeom prst="rect">
            <a:avLst/>
          </a:prstGeom>
        </p:spPr>
      </p:pic>
      <p:sp>
        <p:nvSpPr>
          <p:cNvPr id="14" name="Shape 11"/>
          <p:cNvSpPr/>
          <p:nvPr/>
        </p:nvSpPr>
        <p:spPr>
          <a:xfrm>
            <a:off x="822960" y="6035040"/>
            <a:ext cx="786384" cy="219456"/>
          </a:xfrm>
          <a:prstGeom prst="roundRect">
            <a:avLst>
              <a:gd name="adj" fmla="val 29167"/>
            </a:avLst>
          </a:prstGeom>
          <a:solidFill>
            <a:srgbClr val="2563EB">
              <a:alpha val="12000"/>
            </a:srgbClr>
          </a:solidFill>
          <a:ln w="10160">
            <a:solidFill>
              <a:srgbClr val="2563EB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59536" y="6076188"/>
            <a:ext cx="713232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30" b="1" dirty="0">
                <a:solidFill>
                  <a:srgbClr val="2563E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主流程</a:t>
            </a:r>
            <a:endParaRPr lang="en-US" sz="630" dirty="0"/>
          </a:p>
        </p:txBody>
      </p:sp>
      <p:sp>
        <p:nvSpPr>
          <p:cNvPr id="16" name="Text 13"/>
          <p:cNvSpPr/>
          <p:nvPr/>
        </p:nvSpPr>
        <p:spPr>
          <a:xfrm>
            <a:off x="1691640" y="6044184"/>
            <a:ext cx="6766560" cy="1554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760" dirty="0">
                <a:solidFill>
                  <a:srgbClr val="1220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登入／註冊 → 平台主頁 → 遊戲大廳 → 建立房間 → 等待室 → 進入遊戲</a:t>
            </a:r>
            <a:endParaRPr lang="en-US" sz="760" dirty="0"/>
          </a:p>
        </p:txBody>
      </p:sp>
      <p:sp>
        <p:nvSpPr>
          <p:cNvPr id="17" name="Shape 14"/>
          <p:cNvSpPr/>
          <p:nvPr/>
        </p:nvSpPr>
        <p:spPr>
          <a:xfrm>
            <a:off x="8641080" y="6035040"/>
            <a:ext cx="786384" cy="219456"/>
          </a:xfrm>
          <a:prstGeom prst="roundRect">
            <a:avLst>
              <a:gd name="adj" fmla="val 29167"/>
            </a:avLst>
          </a:prstGeom>
          <a:solidFill>
            <a:srgbClr val="059669">
              <a:alpha val="12000"/>
            </a:srgbClr>
          </a:solidFill>
          <a:ln w="10160">
            <a:solidFill>
              <a:srgbClr val="059669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677656" y="6076188"/>
            <a:ext cx="713232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30" b="1" dirty="0">
                <a:solidFill>
                  <a:srgbClr val="05966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組隊流程</a:t>
            </a:r>
            <a:endParaRPr lang="en-US" sz="630" dirty="0"/>
          </a:p>
        </p:txBody>
      </p:sp>
      <p:sp>
        <p:nvSpPr>
          <p:cNvPr id="19" name="Text 16"/>
          <p:cNvSpPr/>
          <p:nvPr/>
        </p:nvSpPr>
        <p:spPr>
          <a:xfrm>
            <a:off x="9509760" y="6044184"/>
            <a:ext cx="178308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710" dirty="0">
                <a:solidFill>
                  <a:srgbClr val="1220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公告 → 申請加入 → 隊長審核 → 隊伍額滿 → 自動建房</a:t>
            </a:r>
            <a:endParaRPr lang="en-US" sz="71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 w="12700">
            <a:solidFill>
              <a:srgbClr val="F7FAFC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292840" y="0"/>
            <a:ext cx="896112" cy="6858000"/>
          </a:xfrm>
          <a:prstGeom prst="rect">
            <a:avLst/>
          </a:prstGeom>
          <a:solidFill>
            <a:srgbClr val="EAF7FB">
              <a:alpha val="85000"/>
            </a:srgbClr>
          </a:solidFill>
          <a:ln w="12700">
            <a:solidFill>
              <a:srgbClr val="EAF7FB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94360" y="384048"/>
            <a:ext cx="310896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5966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MAIN FLOW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594360" y="640080"/>
            <a:ext cx="9784080" cy="4389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02A4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主要流程拆解：兩種方式最後都進入等待室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94360" y="1170432"/>
            <a:ext cx="960120" cy="0"/>
          </a:xfrm>
          <a:prstGeom prst="line">
            <a:avLst/>
          </a:prstGeom>
          <a:noFill/>
          <a:ln w="27940">
            <a:solidFill>
              <a:srgbClr val="05966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94360" y="6510528"/>
            <a:ext cx="10744200" cy="0"/>
          </a:xfrm>
          <a:prstGeom prst="line">
            <a:avLst/>
          </a:prstGeom>
          <a:noFill/>
          <a:ln w="6350">
            <a:solidFill>
              <a:srgbClr val="D7E0E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94360" y="6565392"/>
            <a:ext cx="283464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b="1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GAMEPLATFORM · 小組專題成果報告</a:t>
            </a:r>
            <a:endParaRPr lang="en-US" sz="680" dirty="0"/>
          </a:p>
        </p:txBody>
      </p:sp>
      <p:sp>
        <p:nvSpPr>
          <p:cNvPr id="10" name="Text 8"/>
          <p:cNvSpPr/>
          <p:nvPr/>
        </p:nvSpPr>
        <p:spPr>
          <a:xfrm>
            <a:off x="10927080" y="6565392"/>
            <a:ext cx="41148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04</a:t>
            </a:r>
            <a:endParaRPr lang="en-US" sz="680" dirty="0"/>
          </a:p>
        </p:txBody>
      </p:sp>
      <p:sp>
        <p:nvSpPr>
          <p:cNvPr id="11" name="Text 9"/>
          <p:cNvSpPr/>
          <p:nvPr/>
        </p:nvSpPr>
        <p:spPr>
          <a:xfrm>
            <a:off x="731520" y="1316736"/>
            <a:ext cx="1014984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11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依修改建議補上雙路徑：一般玩家從大廳直接建房；組隊玩家由公告流程滿員後自動建立房間。</a:t>
            </a:r>
            <a:endParaRPr lang="en-US" sz="1110" dirty="0"/>
          </a:p>
        </p:txBody>
      </p:sp>
      <p:sp>
        <p:nvSpPr>
          <p:cNvPr id="12" name="Text 10"/>
          <p:cNvSpPr/>
          <p:nvPr/>
        </p:nvSpPr>
        <p:spPr>
          <a:xfrm>
            <a:off x="822960" y="1874520"/>
            <a:ext cx="109728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2563E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一般玩家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914400" y="2194560"/>
            <a:ext cx="1325880" cy="713232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397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1060704" y="2313432"/>
            <a:ext cx="1033272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2563E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登入／註冊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1060704" y="2578608"/>
            <a:ext cx="1033272" cy="23774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77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取得會員身分</a:t>
            </a:r>
            <a:endParaRPr lang="en-US" sz="770" dirty="0"/>
          </a:p>
        </p:txBody>
      </p:sp>
      <p:sp>
        <p:nvSpPr>
          <p:cNvPr id="16" name="Shape 14"/>
          <p:cNvSpPr/>
          <p:nvPr/>
        </p:nvSpPr>
        <p:spPr>
          <a:xfrm>
            <a:off x="2240280" y="2551176"/>
            <a:ext cx="457200" cy="0"/>
          </a:xfrm>
          <a:prstGeom prst="line">
            <a:avLst/>
          </a:prstGeom>
          <a:noFill/>
          <a:ln w="15240">
            <a:solidFill>
              <a:srgbClr val="2563EB"/>
            </a:solidFill>
            <a:prstDash val="solid"/>
            <a:headEnd type="none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2697480" y="2194560"/>
            <a:ext cx="1325880" cy="713232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3970">
            <a:solidFill>
              <a:srgbClr val="06B6D4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2843784" y="2313432"/>
            <a:ext cx="1033272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06B6D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遊戲大廳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2843784" y="2578608"/>
            <a:ext cx="1033272" cy="23774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77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選遊戲與模式</a:t>
            </a:r>
            <a:endParaRPr lang="en-US" sz="770" dirty="0"/>
          </a:p>
        </p:txBody>
      </p:sp>
      <p:sp>
        <p:nvSpPr>
          <p:cNvPr id="20" name="Shape 18"/>
          <p:cNvSpPr/>
          <p:nvPr/>
        </p:nvSpPr>
        <p:spPr>
          <a:xfrm>
            <a:off x="4023360" y="2551176"/>
            <a:ext cx="457200" cy="0"/>
          </a:xfrm>
          <a:prstGeom prst="line">
            <a:avLst/>
          </a:prstGeom>
          <a:noFill/>
          <a:ln w="15240">
            <a:solidFill>
              <a:srgbClr val="2563EB"/>
            </a:solidFill>
            <a:prstDash val="solid"/>
            <a:headEnd type="none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4480560" y="2194560"/>
            <a:ext cx="1325880" cy="713232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3970">
            <a:solidFill>
              <a:srgbClr val="7C3AED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4626864" y="2313432"/>
            <a:ext cx="1033272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7C3AE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建立房間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4626864" y="2578608"/>
            <a:ext cx="1033272" cy="23774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77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設定人數／名稱</a:t>
            </a:r>
            <a:endParaRPr lang="en-US" sz="770" dirty="0"/>
          </a:p>
        </p:txBody>
      </p:sp>
      <p:sp>
        <p:nvSpPr>
          <p:cNvPr id="24" name="Shape 22"/>
          <p:cNvSpPr/>
          <p:nvPr/>
        </p:nvSpPr>
        <p:spPr>
          <a:xfrm>
            <a:off x="5806440" y="2551176"/>
            <a:ext cx="457200" cy="0"/>
          </a:xfrm>
          <a:prstGeom prst="line">
            <a:avLst/>
          </a:prstGeom>
          <a:noFill/>
          <a:ln w="15240">
            <a:solidFill>
              <a:srgbClr val="2563EB"/>
            </a:solidFill>
            <a:prstDash val="solid"/>
            <a:headEnd type="none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6263640" y="2194560"/>
            <a:ext cx="1325880" cy="713232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3970">
            <a:solidFill>
              <a:srgbClr val="059669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409944" y="2313432"/>
            <a:ext cx="1033272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05966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房間等待室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6409944" y="2578608"/>
            <a:ext cx="1033272" cy="23774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77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玩家名單同步</a:t>
            </a:r>
            <a:endParaRPr lang="en-US" sz="770" dirty="0"/>
          </a:p>
        </p:txBody>
      </p:sp>
      <p:sp>
        <p:nvSpPr>
          <p:cNvPr id="28" name="Shape 26"/>
          <p:cNvSpPr/>
          <p:nvPr/>
        </p:nvSpPr>
        <p:spPr>
          <a:xfrm>
            <a:off x="7589520" y="2551176"/>
            <a:ext cx="457200" cy="0"/>
          </a:xfrm>
          <a:prstGeom prst="line">
            <a:avLst/>
          </a:prstGeom>
          <a:noFill/>
          <a:ln w="15240">
            <a:solidFill>
              <a:srgbClr val="2563EB"/>
            </a:solidFill>
            <a:prstDash val="solid"/>
            <a:headEnd type="none"/>
            <a:tailEnd type="triangle"/>
          </a:ln>
        </p:spPr>
      </p:sp>
      <p:sp>
        <p:nvSpPr>
          <p:cNvPr id="29" name="Shape 27"/>
          <p:cNvSpPr/>
          <p:nvPr/>
        </p:nvSpPr>
        <p:spPr>
          <a:xfrm>
            <a:off x="8046720" y="2194560"/>
            <a:ext cx="1325880" cy="713232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3970">
            <a:solidFill>
              <a:srgbClr val="D97706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8193024" y="2313432"/>
            <a:ext cx="1033272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D9770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進入遊戲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8193024" y="2578608"/>
            <a:ext cx="1033272" cy="23774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77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依 roomId 啟動</a:t>
            </a:r>
            <a:endParaRPr lang="en-US" sz="770" dirty="0"/>
          </a:p>
        </p:txBody>
      </p:sp>
      <p:sp>
        <p:nvSpPr>
          <p:cNvPr id="32" name="Text 30"/>
          <p:cNvSpPr/>
          <p:nvPr/>
        </p:nvSpPr>
        <p:spPr>
          <a:xfrm>
            <a:off x="822960" y="3657600"/>
            <a:ext cx="109728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05966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組隊玩家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914400" y="3977640"/>
            <a:ext cx="1078992" cy="676656"/>
          </a:xfrm>
          <a:prstGeom prst="roundRect">
            <a:avLst>
              <a:gd name="adj" fmla="val 16216"/>
            </a:avLst>
          </a:prstGeom>
          <a:solidFill>
            <a:srgbClr val="FFFFFF"/>
          </a:solidFill>
          <a:ln w="13970">
            <a:solidFill>
              <a:srgbClr val="059669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060704" y="4096512"/>
            <a:ext cx="786384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05966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發公告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1060704" y="4361688"/>
            <a:ext cx="786384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77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建立招募需求</a:t>
            </a:r>
            <a:endParaRPr lang="en-US" sz="770" dirty="0"/>
          </a:p>
        </p:txBody>
      </p:sp>
      <p:sp>
        <p:nvSpPr>
          <p:cNvPr id="36" name="Shape 34"/>
          <p:cNvSpPr/>
          <p:nvPr/>
        </p:nvSpPr>
        <p:spPr>
          <a:xfrm>
            <a:off x="1993392" y="4315968"/>
            <a:ext cx="338328" cy="0"/>
          </a:xfrm>
          <a:prstGeom prst="line">
            <a:avLst/>
          </a:prstGeom>
          <a:noFill/>
          <a:ln w="15240">
            <a:solidFill>
              <a:srgbClr val="059669"/>
            </a:solidFill>
            <a:prstDash val="solid"/>
            <a:headEnd type="none"/>
            <a:tailEnd type="triangle"/>
          </a:ln>
        </p:spPr>
      </p:sp>
      <p:sp>
        <p:nvSpPr>
          <p:cNvPr id="37" name="Shape 35"/>
          <p:cNvSpPr/>
          <p:nvPr/>
        </p:nvSpPr>
        <p:spPr>
          <a:xfrm>
            <a:off x="2331720" y="3977640"/>
            <a:ext cx="1078992" cy="676656"/>
          </a:xfrm>
          <a:prstGeom prst="roundRect">
            <a:avLst>
              <a:gd name="adj" fmla="val 16216"/>
            </a:avLst>
          </a:prstGeom>
          <a:solidFill>
            <a:srgbClr val="FFFFFF"/>
          </a:solidFill>
          <a:ln w="13970">
            <a:solidFill>
              <a:srgbClr val="059669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478024" y="4096512"/>
            <a:ext cx="786384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05966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申請加入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2478024" y="4361688"/>
            <a:ext cx="786384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77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玩家送出請求</a:t>
            </a:r>
            <a:endParaRPr lang="en-US" sz="770" dirty="0"/>
          </a:p>
        </p:txBody>
      </p:sp>
      <p:sp>
        <p:nvSpPr>
          <p:cNvPr id="40" name="Shape 38"/>
          <p:cNvSpPr/>
          <p:nvPr/>
        </p:nvSpPr>
        <p:spPr>
          <a:xfrm>
            <a:off x="3410712" y="4315968"/>
            <a:ext cx="338328" cy="0"/>
          </a:xfrm>
          <a:prstGeom prst="line">
            <a:avLst/>
          </a:prstGeom>
          <a:noFill/>
          <a:ln w="15240">
            <a:solidFill>
              <a:srgbClr val="059669"/>
            </a:solidFill>
            <a:prstDash val="solid"/>
            <a:headEnd type="none"/>
            <a:tailEnd type="triangle"/>
          </a:ln>
        </p:spPr>
      </p:sp>
      <p:sp>
        <p:nvSpPr>
          <p:cNvPr id="41" name="Shape 39"/>
          <p:cNvSpPr/>
          <p:nvPr/>
        </p:nvSpPr>
        <p:spPr>
          <a:xfrm>
            <a:off x="3749040" y="3977640"/>
            <a:ext cx="1078992" cy="676656"/>
          </a:xfrm>
          <a:prstGeom prst="roundRect">
            <a:avLst>
              <a:gd name="adj" fmla="val 16216"/>
            </a:avLst>
          </a:prstGeom>
          <a:solidFill>
            <a:srgbClr val="FFFFFF"/>
          </a:solidFill>
          <a:ln w="13970">
            <a:solidFill>
              <a:srgbClr val="059669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895344" y="4096512"/>
            <a:ext cx="786384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05966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隊長審核</a:t>
            </a:r>
            <a:endParaRPr lang="en-US" sz="1050" dirty="0"/>
          </a:p>
        </p:txBody>
      </p:sp>
      <p:sp>
        <p:nvSpPr>
          <p:cNvPr id="43" name="Text 41"/>
          <p:cNvSpPr/>
          <p:nvPr/>
        </p:nvSpPr>
        <p:spPr>
          <a:xfrm>
            <a:off x="3895344" y="4361688"/>
            <a:ext cx="786384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77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核准隊員</a:t>
            </a:r>
            <a:endParaRPr lang="en-US" sz="770" dirty="0"/>
          </a:p>
        </p:txBody>
      </p:sp>
      <p:sp>
        <p:nvSpPr>
          <p:cNvPr id="44" name="Shape 42"/>
          <p:cNvSpPr/>
          <p:nvPr/>
        </p:nvSpPr>
        <p:spPr>
          <a:xfrm>
            <a:off x="4828032" y="4315968"/>
            <a:ext cx="338328" cy="0"/>
          </a:xfrm>
          <a:prstGeom prst="line">
            <a:avLst/>
          </a:prstGeom>
          <a:noFill/>
          <a:ln w="15240">
            <a:solidFill>
              <a:srgbClr val="059669"/>
            </a:solidFill>
            <a:prstDash val="solid"/>
            <a:headEnd type="none"/>
            <a:tailEnd type="triangle"/>
          </a:ln>
        </p:spPr>
      </p:sp>
      <p:sp>
        <p:nvSpPr>
          <p:cNvPr id="45" name="Shape 43"/>
          <p:cNvSpPr/>
          <p:nvPr/>
        </p:nvSpPr>
        <p:spPr>
          <a:xfrm>
            <a:off x="5166360" y="3977640"/>
            <a:ext cx="1078992" cy="676656"/>
          </a:xfrm>
          <a:prstGeom prst="roundRect">
            <a:avLst>
              <a:gd name="adj" fmla="val 16216"/>
            </a:avLst>
          </a:prstGeom>
          <a:solidFill>
            <a:srgbClr val="FFFFFF"/>
          </a:solidFill>
          <a:ln w="13970">
            <a:solidFill>
              <a:srgbClr val="059669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312664" y="4096512"/>
            <a:ext cx="786384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05966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隊伍額滿</a:t>
            </a:r>
            <a:endParaRPr lang="en-US" sz="1050" dirty="0"/>
          </a:p>
        </p:txBody>
      </p:sp>
      <p:sp>
        <p:nvSpPr>
          <p:cNvPr id="47" name="Text 45"/>
          <p:cNvSpPr/>
          <p:nvPr/>
        </p:nvSpPr>
        <p:spPr>
          <a:xfrm>
            <a:off x="5312664" y="4361688"/>
            <a:ext cx="786384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77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符合人數</a:t>
            </a:r>
            <a:endParaRPr lang="en-US" sz="770" dirty="0"/>
          </a:p>
        </p:txBody>
      </p:sp>
      <p:sp>
        <p:nvSpPr>
          <p:cNvPr id="48" name="Shape 46"/>
          <p:cNvSpPr/>
          <p:nvPr/>
        </p:nvSpPr>
        <p:spPr>
          <a:xfrm>
            <a:off x="6245352" y="4315968"/>
            <a:ext cx="338328" cy="0"/>
          </a:xfrm>
          <a:prstGeom prst="line">
            <a:avLst/>
          </a:prstGeom>
          <a:noFill/>
          <a:ln w="15240">
            <a:solidFill>
              <a:srgbClr val="059669"/>
            </a:solidFill>
            <a:prstDash val="solid"/>
            <a:headEnd type="none"/>
            <a:tailEnd type="triangle"/>
          </a:ln>
        </p:spPr>
      </p:sp>
      <p:sp>
        <p:nvSpPr>
          <p:cNvPr id="49" name="Shape 47"/>
          <p:cNvSpPr/>
          <p:nvPr/>
        </p:nvSpPr>
        <p:spPr>
          <a:xfrm>
            <a:off x="6583680" y="3977640"/>
            <a:ext cx="1078992" cy="676656"/>
          </a:xfrm>
          <a:prstGeom prst="roundRect">
            <a:avLst>
              <a:gd name="adj" fmla="val 16216"/>
            </a:avLst>
          </a:prstGeom>
          <a:solidFill>
            <a:srgbClr val="FFFFFF"/>
          </a:solidFill>
          <a:ln w="13970">
            <a:solidFill>
              <a:srgbClr val="7C3AED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729984" y="4096512"/>
            <a:ext cx="786384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7C3AE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自動建房</a:t>
            </a:r>
            <a:endParaRPr lang="en-US" sz="1050" dirty="0"/>
          </a:p>
        </p:txBody>
      </p:sp>
      <p:sp>
        <p:nvSpPr>
          <p:cNvPr id="51" name="Text 49"/>
          <p:cNvSpPr/>
          <p:nvPr/>
        </p:nvSpPr>
        <p:spPr>
          <a:xfrm>
            <a:off x="6729984" y="4361688"/>
            <a:ext cx="786384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77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建立 Room</a:t>
            </a:r>
            <a:endParaRPr lang="en-US" sz="770" dirty="0"/>
          </a:p>
        </p:txBody>
      </p:sp>
      <p:sp>
        <p:nvSpPr>
          <p:cNvPr id="52" name="Shape 50"/>
          <p:cNvSpPr/>
          <p:nvPr/>
        </p:nvSpPr>
        <p:spPr>
          <a:xfrm>
            <a:off x="7662672" y="4315968"/>
            <a:ext cx="384048" cy="0"/>
          </a:xfrm>
          <a:prstGeom prst="line">
            <a:avLst/>
          </a:prstGeom>
          <a:noFill/>
          <a:ln w="15240">
            <a:solidFill>
              <a:srgbClr val="059669"/>
            </a:solidFill>
            <a:prstDash val="solid"/>
            <a:headEnd type="none"/>
            <a:tailEnd type="triangle"/>
          </a:ln>
        </p:spPr>
      </p:sp>
      <p:sp>
        <p:nvSpPr>
          <p:cNvPr id="53" name="Shape 51"/>
          <p:cNvSpPr/>
          <p:nvPr/>
        </p:nvSpPr>
        <p:spPr>
          <a:xfrm>
            <a:off x="8046720" y="3977640"/>
            <a:ext cx="1078992" cy="676656"/>
          </a:xfrm>
          <a:prstGeom prst="roundRect">
            <a:avLst>
              <a:gd name="adj" fmla="val 16216"/>
            </a:avLst>
          </a:prstGeom>
          <a:solidFill>
            <a:srgbClr val="FFFFFF"/>
          </a:solidFill>
          <a:ln w="13970">
            <a:solidFill>
              <a:srgbClr val="059669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8193024" y="4096512"/>
            <a:ext cx="786384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05966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房間等待室</a:t>
            </a:r>
            <a:endParaRPr lang="en-US" sz="1050" dirty="0"/>
          </a:p>
        </p:txBody>
      </p:sp>
      <p:sp>
        <p:nvSpPr>
          <p:cNvPr id="55" name="Text 53"/>
          <p:cNvSpPr/>
          <p:nvPr/>
        </p:nvSpPr>
        <p:spPr>
          <a:xfrm>
            <a:off x="8193024" y="4361688"/>
            <a:ext cx="786384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77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同步名單</a:t>
            </a:r>
            <a:endParaRPr lang="en-US" sz="770" dirty="0"/>
          </a:p>
        </p:txBody>
      </p:sp>
      <p:sp>
        <p:nvSpPr>
          <p:cNvPr id="56" name="Shape 54"/>
          <p:cNvSpPr/>
          <p:nvPr/>
        </p:nvSpPr>
        <p:spPr>
          <a:xfrm>
            <a:off x="8586216" y="4654296"/>
            <a:ext cx="109728" cy="-1746504"/>
          </a:xfrm>
          <a:prstGeom prst="line">
            <a:avLst/>
          </a:prstGeom>
          <a:noFill/>
          <a:ln w="15240">
            <a:solidFill>
              <a:srgbClr val="059669"/>
            </a:solidFill>
            <a:prstDash val="solid"/>
            <a:headEnd type="none"/>
            <a:tailEnd type="triangle"/>
          </a:ln>
        </p:spPr>
      </p:sp>
      <p:sp>
        <p:nvSpPr>
          <p:cNvPr id="57" name="Shape 55"/>
          <p:cNvSpPr/>
          <p:nvPr/>
        </p:nvSpPr>
        <p:spPr>
          <a:xfrm>
            <a:off x="7955280" y="3246120"/>
            <a:ext cx="1188720" cy="0"/>
          </a:xfrm>
          <a:prstGeom prst="line">
            <a:avLst/>
          </a:prstGeom>
          <a:noFill/>
          <a:ln w="12700">
            <a:solidFill>
              <a:srgbClr val="64748B"/>
            </a:solidFill>
            <a:prstDash val="solid"/>
            <a:headEnd type="triangle"/>
            <a:tailEnd type="triangle"/>
          </a:ln>
        </p:spPr>
      </p:sp>
      <p:sp>
        <p:nvSpPr>
          <p:cNvPr id="58" name="Text 56"/>
          <p:cNvSpPr/>
          <p:nvPr/>
        </p:nvSpPr>
        <p:spPr>
          <a:xfrm>
            <a:off x="6080760" y="3273552"/>
            <a:ext cx="3566160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86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等待室與遊戲頁可雙向返回／同步狀態</a:t>
            </a:r>
            <a:endParaRPr lang="en-US" sz="86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 w="12700">
            <a:solidFill>
              <a:srgbClr val="F7FAFC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292840" y="0"/>
            <a:ext cx="896112" cy="6858000"/>
          </a:xfrm>
          <a:prstGeom prst="rect">
            <a:avLst/>
          </a:prstGeom>
          <a:solidFill>
            <a:srgbClr val="EAF7FB">
              <a:alpha val="85000"/>
            </a:srgbClr>
          </a:solidFill>
          <a:ln w="12700">
            <a:solidFill>
              <a:srgbClr val="EAF7FB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94360" y="384048"/>
            <a:ext cx="310896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7C3AE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SYSTEM ARCHITECTURE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594360" y="640080"/>
            <a:ext cx="9784080" cy="4389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02A4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單一 Spring Boot 專案：前端靜態頁、API、WebSocket 同源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94360" y="1170432"/>
            <a:ext cx="960120" cy="0"/>
          </a:xfrm>
          <a:prstGeom prst="line">
            <a:avLst/>
          </a:prstGeom>
          <a:noFill/>
          <a:ln w="27940">
            <a:solidFill>
              <a:srgbClr val="7C3AE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94360" y="6510528"/>
            <a:ext cx="10744200" cy="0"/>
          </a:xfrm>
          <a:prstGeom prst="line">
            <a:avLst/>
          </a:prstGeom>
          <a:noFill/>
          <a:ln w="6350">
            <a:solidFill>
              <a:srgbClr val="D7E0E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94360" y="6565392"/>
            <a:ext cx="283464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b="1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GAMEPLATFORM · 小組專題成果報告</a:t>
            </a:r>
            <a:endParaRPr lang="en-US" sz="680" dirty="0"/>
          </a:p>
        </p:txBody>
      </p:sp>
      <p:sp>
        <p:nvSpPr>
          <p:cNvPr id="10" name="Text 8"/>
          <p:cNvSpPr/>
          <p:nvPr/>
        </p:nvSpPr>
        <p:spPr>
          <a:xfrm>
            <a:off x="10927080" y="6565392"/>
            <a:ext cx="41148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05</a:t>
            </a:r>
            <a:endParaRPr lang="en-US" sz="680" dirty="0"/>
          </a:p>
        </p:txBody>
      </p:sp>
      <p:sp>
        <p:nvSpPr>
          <p:cNvPr id="11" name="Text 9"/>
          <p:cNvSpPr/>
          <p:nvPr/>
        </p:nvSpPr>
        <p:spPr>
          <a:xfrm>
            <a:off x="731520" y="1316736"/>
            <a:ext cx="1024128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正式專案已把實際使用的前端移到後端 static，由 Spring Boot 同時提供頁面、API、WebSocket、JWT 驗證與 SQLite 存取。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22960" y="2103120"/>
            <a:ext cx="2011680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397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969264" y="2221992"/>
            <a:ext cx="1719072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2563E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瀏覽器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969264" y="2487168"/>
            <a:ext cx="1719072" cy="4846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77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同一個網址開啟網頁</a:t>
            </a:r>
            <a:endParaRPr lang="en-US" sz="770" dirty="0"/>
          </a:p>
          <a:p>
            <a:pPr algn="l" indent="0" marL="0">
              <a:buNone/>
            </a:pPr>
            <a:r>
              <a:rPr lang="en-US" sz="77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HTML · CSS · JavaScript · jQuery</a:t>
            </a:r>
            <a:endParaRPr lang="en-US" sz="770" dirty="0"/>
          </a:p>
        </p:txBody>
      </p:sp>
      <p:sp>
        <p:nvSpPr>
          <p:cNvPr id="15" name="Shape 13"/>
          <p:cNvSpPr/>
          <p:nvPr/>
        </p:nvSpPr>
        <p:spPr>
          <a:xfrm>
            <a:off x="2834640" y="2578608"/>
            <a:ext cx="868680" cy="0"/>
          </a:xfrm>
          <a:prstGeom prst="line">
            <a:avLst/>
          </a:prstGeom>
          <a:noFill/>
          <a:ln w="15240">
            <a:solidFill>
              <a:srgbClr val="2563EB"/>
            </a:solidFill>
            <a:prstDash val="solid"/>
            <a:headEnd type="none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3703320" y="1755648"/>
            <a:ext cx="4343400" cy="2148840"/>
          </a:xfrm>
          <a:prstGeom prst="roundRect">
            <a:avLst>
              <a:gd name="adj" fmla="val 5106"/>
            </a:avLst>
          </a:prstGeom>
          <a:solidFill>
            <a:srgbClr val="0B1220"/>
          </a:solidFill>
          <a:ln w="10160">
            <a:solidFill>
              <a:srgbClr val="7C3AED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3977640" y="1965960"/>
            <a:ext cx="210312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Spring Boot : 8080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3977640" y="2331720"/>
            <a:ext cx="3520440" cy="60350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040" dirty="0">
                <a:solidFill>
                  <a:srgbClr val="DCE6F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靜態前端頁面  ·  REST API</a:t>
            </a:r>
            <a:endParaRPr lang="en-US" sz="1040" dirty="0"/>
          </a:p>
          <a:p>
            <a:pPr algn="l" indent="0" marL="0">
              <a:buNone/>
            </a:pPr>
            <a:r>
              <a:rPr lang="en-US" sz="1040" dirty="0">
                <a:solidFill>
                  <a:srgbClr val="DCE6F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WebSocket  ·  JWT 驗證</a:t>
            </a:r>
            <a:endParaRPr lang="en-US" sz="1040" dirty="0"/>
          </a:p>
          <a:p>
            <a:pPr algn="l" indent="0" marL="0">
              <a:buNone/>
            </a:pPr>
            <a:r>
              <a:rPr lang="en-US" sz="1040" dirty="0">
                <a:solidFill>
                  <a:srgbClr val="DCE6F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Controller → Service → Repository</a:t>
            </a:r>
            <a:endParaRPr lang="en-US" sz="1040" dirty="0"/>
          </a:p>
        </p:txBody>
      </p:sp>
      <p:sp>
        <p:nvSpPr>
          <p:cNvPr id="19" name="Shape 17"/>
          <p:cNvSpPr/>
          <p:nvPr/>
        </p:nvSpPr>
        <p:spPr>
          <a:xfrm>
            <a:off x="6565392" y="1956816"/>
            <a:ext cx="786384" cy="219456"/>
          </a:xfrm>
          <a:prstGeom prst="roundRect">
            <a:avLst>
              <a:gd name="adj" fmla="val 29167"/>
            </a:avLst>
          </a:prstGeom>
          <a:solidFill>
            <a:srgbClr val="06B6D4">
              <a:alpha val="12000"/>
            </a:srgbClr>
          </a:solidFill>
          <a:ln w="10160">
            <a:solidFill>
              <a:srgbClr val="06B6D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601968" y="1997964"/>
            <a:ext cx="713232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30" b="1" dirty="0">
                <a:solidFill>
                  <a:srgbClr val="06B6D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同源整合</a:t>
            </a:r>
            <a:endParaRPr lang="en-US" sz="630" dirty="0"/>
          </a:p>
        </p:txBody>
      </p:sp>
      <p:sp>
        <p:nvSpPr>
          <p:cNvPr id="21" name="Text 19"/>
          <p:cNvSpPr/>
          <p:nvPr/>
        </p:nvSpPr>
        <p:spPr>
          <a:xfrm>
            <a:off x="6537960" y="2267712"/>
            <a:ext cx="114300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740" dirty="0">
                <a:solidFill>
                  <a:srgbClr val="CBD5E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減少 CORS 與部署設定</a:t>
            </a:r>
            <a:endParaRPr lang="en-US" sz="740" dirty="0"/>
          </a:p>
        </p:txBody>
      </p:sp>
      <p:sp>
        <p:nvSpPr>
          <p:cNvPr id="22" name="Shape 20"/>
          <p:cNvSpPr/>
          <p:nvPr/>
        </p:nvSpPr>
        <p:spPr>
          <a:xfrm>
            <a:off x="8046720" y="2578608"/>
            <a:ext cx="868680" cy="0"/>
          </a:xfrm>
          <a:prstGeom prst="line">
            <a:avLst/>
          </a:prstGeom>
          <a:noFill/>
          <a:ln w="15240">
            <a:solidFill>
              <a:srgbClr val="7C3AED"/>
            </a:solidFill>
            <a:prstDash val="solid"/>
            <a:headEnd type="none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8915400" y="2103120"/>
            <a:ext cx="2148840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3970">
            <a:solidFill>
              <a:srgbClr val="059669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9061704" y="2221992"/>
            <a:ext cx="1856232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05966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SQLite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9061704" y="2487168"/>
            <a:ext cx="1856232" cy="4846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77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JPA / Hibernate + JDBC</a:t>
            </a:r>
            <a:endParaRPr lang="en-US" sz="770" dirty="0"/>
          </a:p>
          <a:p>
            <a:pPr algn="l" indent="0" marL="0">
              <a:buNone/>
            </a:pPr>
            <a:r>
              <a:rPr lang="en-US" sz="77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會員、遊戲、模式、房間、公告、題庫</a:t>
            </a:r>
            <a:endParaRPr lang="en-US" sz="770" dirty="0"/>
          </a:p>
        </p:txBody>
      </p:sp>
      <p:sp>
        <p:nvSpPr>
          <p:cNvPr id="26" name="Shape 24"/>
          <p:cNvSpPr/>
          <p:nvPr/>
        </p:nvSpPr>
        <p:spPr>
          <a:xfrm>
            <a:off x="1005840" y="4663440"/>
            <a:ext cx="9875520" cy="82296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0160">
            <a:solidFill>
              <a:srgbClr val="D7E0EA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1234440" y="4892040"/>
            <a:ext cx="1005840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02A4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專案結構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2148840" y="4828032"/>
            <a:ext cx="804672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1220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java/com/example/demo/modules：User · Lobby · Chat · Board · Game Management · Poker · Quiz · TJ Poker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2148840" y="5120640"/>
            <a:ext cx="603504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93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resources/static：實際前端頁面、圖片與遊戲素材</a:t>
            </a:r>
            <a:endParaRPr lang="en-US" sz="93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 w="12700">
            <a:solidFill>
              <a:srgbClr val="F7FAFC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292840" y="0"/>
            <a:ext cx="896112" cy="6858000"/>
          </a:xfrm>
          <a:prstGeom prst="rect">
            <a:avLst/>
          </a:prstGeom>
          <a:solidFill>
            <a:srgbClr val="EAF7FB">
              <a:alpha val="85000"/>
            </a:srgbClr>
          </a:solidFill>
          <a:ln w="12700">
            <a:solidFill>
              <a:srgbClr val="EAF7FB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94360" y="384048"/>
            <a:ext cx="310896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6B6D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SYSTEM MODULES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594360" y="640080"/>
            <a:ext cx="9784080" cy="4389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02A4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模組責任：共用平台功能 + 個別遊戲模組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94360" y="1170432"/>
            <a:ext cx="960120" cy="0"/>
          </a:xfrm>
          <a:prstGeom prst="line">
            <a:avLst/>
          </a:prstGeom>
          <a:noFill/>
          <a:ln w="27940">
            <a:solidFill>
              <a:srgbClr val="06B6D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94360" y="6510528"/>
            <a:ext cx="10744200" cy="0"/>
          </a:xfrm>
          <a:prstGeom prst="line">
            <a:avLst/>
          </a:prstGeom>
          <a:noFill/>
          <a:ln w="6350">
            <a:solidFill>
              <a:srgbClr val="D7E0E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94360" y="6565392"/>
            <a:ext cx="283464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b="1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GAMEPLATFORM · 小組專題成果報告</a:t>
            </a:r>
            <a:endParaRPr lang="en-US" sz="680" dirty="0"/>
          </a:p>
        </p:txBody>
      </p:sp>
      <p:sp>
        <p:nvSpPr>
          <p:cNvPr id="10" name="Text 8"/>
          <p:cNvSpPr/>
          <p:nvPr/>
        </p:nvSpPr>
        <p:spPr>
          <a:xfrm>
            <a:off x="10927080" y="6565392"/>
            <a:ext cx="41148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06</a:t>
            </a:r>
            <a:endParaRPr lang="en-US" sz="680" dirty="0"/>
          </a:p>
        </p:txBody>
      </p:sp>
      <p:sp>
        <p:nvSpPr>
          <p:cNvPr id="11" name="Text 9"/>
          <p:cNvSpPr/>
          <p:nvPr/>
        </p:nvSpPr>
        <p:spPr>
          <a:xfrm>
            <a:off x="731520" y="1325880"/>
            <a:ext cx="9692640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這一頁只說系統責任，不是組員分工。平台模組提供共同能力，遊戲模組只處理自己的規則與對局。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709160" y="2240280"/>
            <a:ext cx="2743200" cy="1097280"/>
          </a:xfrm>
          <a:prstGeom prst="roundRect">
            <a:avLst>
              <a:gd name="adj" fmla="val 10000"/>
            </a:avLst>
          </a:prstGeom>
          <a:solidFill>
            <a:srgbClr val="0B1220"/>
          </a:solidFill>
          <a:ln w="10160">
            <a:solidFill>
              <a:srgbClr val="06B6D4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5074920" y="2532888"/>
            <a:ext cx="2011680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GamePlatform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5074920" y="2871216"/>
            <a:ext cx="2011680" cy="1645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870" dirty="0">
                <a:solidFill>
                  <a:srgbClr val="CBD5E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共用身分 · 目錄 · 房間流程</a:t>
            </a:r>
            <a:endParaRPr lang="en-US" sz="870" dirty="0"/>
          </a:p>
        </p:txBody>
      </p:sp>
      <p:sp>
        <p:nvSpPr>
          <p:cNvPr id="15" name="Shape 13"/>
          <p:cNvSpPr/>
          <p:nvPr/>
        </p:nvSpPr>
        <p:spPr>
          <a:xfrm>
            <a:off x="868680" y="1828800"/>
            <a:ext cx="2148840" cy="749808"/>
          </a:xfrm>
          <a:prstGeom prst="roundRect">
            <a:avLst>
              <a:gd name="adj" fmla="val 14634"/>
            </a:avLst>
          </a:prstGeom>
          <a:solidFill>
            <a:srgbClr val="FFFFFF"/>
          </a:solidFill>
          <a:ln w="1397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1014984" y="1947672"/>
            <a:ext cx="1856232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2563E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User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1014984" y="2212848"/>
            <a:ext cx="1856232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77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登入、JWT、會員資料</a:t>
            </a:r>
            <a:endParaRPr lang="en-US" sz="770" dirty="0"/>
          </a:p>
        </p:txBody>
      </p:sp>
      <p:sp>
        <p:nvSpPr>
          <p:cNvPr id="18" name="Shape 16"/>
          <p:cNvSpPr/>
          <p:nvPr/>
        </p:nvSpPr>
        <p:spPr>
          <a:xfrm>
            <a:off x="868680" y="3657600"/>
            <a:ext cx="2148840" cy="749808"/>
          </a:xfrm>
          <a:prstGeom prst="roundRect">
            <a:avLst>
              <a:gd name="adj" fmla="val 14634"/>
            </a:avLst>
          </a:prstGeom>
          <a:solidFill>
            <a:srgbClr val="FFFFFF"/>
          </a:solidFill>
          <a:ln w="13970">
            <a:solidFill>
              <a:srgbClr val="7C3AED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1014984" y="3776472"/>
            <a:ext cx="1856232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7C3AE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Game Management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1014984" y="4041648"/>
            <a:ext cx="1856232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77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遊戲與模式目錄</a:t>
            </a:r>
            <a:endParaRPr lang="en-US" sz="770" dirty="0"/>
          </a:p>
        </p:txBody>
      </p:sp>
      <p:sp>
        <p:nvSpPr>
          <p:cNvPr id="21" name="Shape 19"/>
          <p:cNvSpPr/>
          <p:nvPr/>
        </p:nvSpPr>
        <p:spPr>
          <a:xfrm>
            <a:off x="3657600" y="4434840"/>
            <a:ext cx="2148840" cy="749808"/>
          </a:xfrm>
          <a:prstGeom prst="roundRect">
            <a:avLst>
              <a:gd name="adj" fmla="val 14634"/>
            </a:avLst>
          </a:prstGeom>
          <a:solidFill>
            <a:srgbClr val="FFFFFF"/>
          </a:solidFill>
          <a:ln w="13970">
            <a:solidFill>
              <a:srgbClr val="059669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3803904" y="4553712"/>
            <a:ext cx="1856232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05966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Lobby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3803904" y="4818888"/>
            <a:ext cx="1856232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77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建房、入房、等待、生命週期</a:t>
            </a:r>
            <a:endParaRPr lang="en-US" sz="770" dirty="0"/>
          </a:p>
        </p:txBody>
      </p:sp>
      <p:sp>
        <p:nvSpPr>
          <p:cNvPr id="24" name="Shape 22"/>
          <p:cNvSpPr/>
          <p:nvPr/>
        </p:nvSpPr>
        <p:spPr>
          <a:xfrm>
            <a:off x="8229600" y="3657600"/>
            <a:ext cx="1691640" cy="749808"/>
          </a:xfrm>
          <a:prstGeom prst="roundRect">
            <a:avLst>
              <a:gd name="adj" fmla="val 14634"/>
            </a:avLst>
          </a:prstGeom>
          <a:solidFill>
            <a:srgbClr val="FFFFFF"/>
          </a:solidFill>
          <a:ln w="13970">
            <a:solidFill>
              <a:srgbClr val="D97706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8375904" y="3776472"/>
            <a:ext cx="1399032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D9770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Board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8375904" y="4041648"/>
            <a:ext cx="1399032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77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組隊公告、申請、通知</a:t>
            </a:r>
            <a:endParaRPr lang="en-US" sz="770" dirty="0"/>
          </a:p>
        </p:txBody>
      </p:sp>
      <p:sp>
        <p:nvSpPr>
          <p:cNvPr id="27" name="Shape 25"/>
          <p:cNvSpPr/>
          <p:nvPr/>
        </p:nvSpPr>
        <p:spPr>
          <a:xfrm>
            <a:off x="9646920" y="1828800"/>
            <a:ext cx="1691640" cy="749808"/>
          </a:xfrm>
          <a:prstGeom prst="roundRect">
            <a:avLst>
              <a:gd name="adj" fmla="val 14634"/>
            </a:avLst>
          </a:prstGeom>
          <a:solidFill>
            <a:srgbClr val="FFFFFF"/>
          </a:solidFill>
          <a:ln w="13970">
            <a:solidFill>
              <a:srgbClr val="06B6D4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9793224" y="1947672"/>
            <a:ext cx="1399032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06B6D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Chat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9793224" y="2212848"/>
            <a:ext cx="1399032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77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大廳與房間即時訊息</a:t>
            </a:r>
            <a:endParaRPr lang="en-US" sz="770" dirty="0"/>
          </a:p>
        </p:txBody>
      </p:sp>
      <p:sp>
        <p:nvSpPr>
          <p:cNvPr id="30" name="Shape 28"/>
          <p:cNvSpPr/>
          <p:nvPr/>
        </p:nvSpPr>
        <p:spPr>
          <a:xfrm>
            <a:off x="7452360" y="1828800"/>
            <a:ext cx="1691640" cy="749808"/>
          </a:xfrm>
          <a:prstGeom prst="roundRect">
            <a:avLst>
              <a:gd name="adj" fmla="val 14634"/>
            </a:avLst>
          </a:prstGeom>
          <a:solidFill>
            <a:srgbClr val="FFFFFF"/>
          </a:solidFill>
          <a:ln w="13970">
            <a:solidFill>
              <a:srgbClr val="E11D48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7598664" y="1947672"/>
            <a:ext cx="1399032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E11D4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Games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7598664" y="2212848"/>
            <a:ext cx="1399032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77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Poker、Quiz、TJ Poker</a:t>
            </a:r>
            <a:endParaRPr lang="en-US" sz="770" dirty="0"/>
          </a:p>
        </p:txBody>
      </p:sp>
      <p:sp>
        <p:nvSpPr>
          <p:cNvPr id="33" name="Shape 31"/>
          <p:cNvSpPr/>
          <p:nvPr/>
        </p:nvSpPr>
        <p:spPr>
          <a:xfrm>
            <a:off x="3017520" y="2203704"/>
            <a:ext cx="1691640" cy="475488"/>
          </a:xfrm>
          <a:prstGeom prst="line">
            <a:avLst/>
          </a:prstGeom>
          <a:noFill/>
          <a:ln w="15240">
            <a:solidFill>
              <a:srgbClr val="D7E0EA"/>
            </a:solidFill>
            <a:prstDash val="solid"/>
            <a:headEnd type="none"/>
            <a:tailEnd type="triangle"/>
          </a:ln>
        </p:spPr>
      </p:sp>
      <p:sp>
        <p:nvSpPr>
          <p:cNvPr id="34" name="Shape 32"/>
          <p:cNvSpPr/>
          <p:nvPr/>
        </p:nvSpPr>
        <p:spPr>
          <a:xfrm>
            <a:off x="3017520" y="4032504"/>
            <a:ext cx="1691640" cy="-969264"/>
          </a:xfrm>
          <a:prstGeom prst="line">
            <a:avLst/>
          </a:prstGeom>
          <a:noFill/>
          <a:ln w="15240">
            <a:solidFill>
              <a:srgbClr val="D7E0EA"/>
            </a:solidFill>
            <a:prstDash val="solid"/>
            <a:headEnd type="none"/>
            <a:tailEnd type="triangle"/>
          </a:ln>
        </p:spPr>
      </p:sp>
      <p:sp>
        <p:nvSpPr>
          <p:cNvPr id="35" name="Shape 33"/>
          <p:cNvSpPr/>
          <p:nvPr/>
        </p:nvSpPr>
        <p:spPr>
          <a:xfrm>
            <a:off x="4727448" y="4434840"/>
            <a:ext cx="758952" cy="-1097280"/>
          </a:xfrm>
          <a:prstGeom prst="line">
            <a:avLst/>
          </a:prstGeom>
          <a:noFill/>
          <a:ln w="15240">
            <a:solidFill>
              <a:srgbClr val="D7E0EA"/>
            </a:solidFill>
            <a:prstDash val="solid"/>
            <a:headEnd type="none"/>
            <a:tailEnd type="triangle"/>
          </a:ln>
        </p:spPr>
      </p:sp>
      <p:sp>
        <p:nvSpPr>
          <p:cNvPr id="36" name="Shape 34"/>
          <p:cNvSpPr/>
          <p:nvPr/>
        </p:nvSpPr>
        <p:spPr>
          <a:xfrm>
            <a:off x="7452360" y="2788920"/>
            <a:ext cx="365760" cy="-585216"/>
          </a:xfrm>
          <a:prstGeom prst="line">
            <a:avLst/>
          </a:prstGeom>
          <a:noFill/>
          <a:ln w="15240">
            <a:solidFill>
              <a:srgbClr val="D7E0EA"/>
            </a:solidFill>
            <a:prstDash val="solid"/>
            <a:headEnd type="none"/>
            <a:tailEnd type="triangle"/>
          </a:ln>
        </p:spPr>
      </p:sp>
      <p:sp>
        <p:nvSpPr>
          <p:cNvPr id="37" name="Shape 35"/>
          <p:cNvSpPr/>
          <p:nvPr/>
        </p:nvSpPr>
        <p:spPr>
          <a:xfrm>
            <a:off x="7452360" y="2907792"/>
            <a:ext cx="1737360" cy="-704088"/>
          </a:xfrm>
          <a:prstGeom prst="line">
            <a:avLst/>
          </a:prstGeom>
          <a:noFill/>
          <a:ln w="15240">
            <a:solidFill>
              <a:srgbClr val="D7E0EA"/>
            </a:solidFill>
            <a:prstDash val="solid"/>
            <a:headEnd type="none"/>
            <a:tailEnd type="triangle"/>
          </a:ln>
        </p:spPr>
      </p:sp>
      <p:sp>
        <p:nvSpPr>
          <p:cNvPr id="38" name="Shape 36"/>
          <p:cNvSpPr/>
          <p:nvPr/>
        </p:nvSpPr>
        <p:spPr>
          <a:xfrm>
            <a:off x="7452360" y="3072384"/>
            <a:ext cx="365760" cy="960120"/>
          </a:xfrm>
          <a:prstGeom prst="line">
            <a:avLst/>
          </a:prstGeom>
          <a:noFill/>
          <a:ln w="15240">
            <a:solidFill>
              <a:srgbClr val="D7E0EA"/>
            </a:solidFill>
            <a:prstDash val="solid"/>
            <a:headEnd type="none"/>
            <a:tailEnd type="triangle"/>
          </a:ln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 w="12700">
            <a:solidFill>
              <a:srgbClr val="F7FAFC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292840" y="0"/>
            <a:ext cx="896112" cy="6858000"/>
          </a:xfrm>
          <a:prstGeom prst="rect">
            <a:avLst/>
          </a:prstGeom>
          <a:solidFill>
            <a:srgbClr val="EAF7FB">
              <a:alpha val="85000"/>
            </a:srgbClr>
          </a:solidFill>
          <a:ln w="12700">
            <a:solidFill>
              <a:srgbClr val="EAF7FB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94360" y="384048"/>
            <a:ext cx="310896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D9770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AUTHENTICATION FLOW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594360" y="640080"/>
            <a:ext cx="9784080" cy="4389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02A4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JWT 身分流程：不同頁面共用同一個登入狀態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94360" y="1170432"/>
            <a:ext cx="960120" cy="0"/>
          </a:xfrm>
          <a:prstGeom prst="line">
            <a:avLst/>
          </a:prstGeom>
          <a:noFill/>
          <a:ln w="27940">
            <a:solidFill>
              <a:srgbClr val="D9770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94360" y="6510528"/>
            <a:ext cx="10744200" cy="0"/>
          </a:xfrm>
          <a:prstGeom prst="line">
            <a:avLst/>
          </a:prstGeom>
          <a:noFill/>
          <a:ln w="6350">
            <a:solidFill>
              <a:srgbClr val="D7E0E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94360" y="6565392"/>
            <a:ext cx="283464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b="1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GAMEPLATFORM · 小組專題成果報告</a:t>
            </a:r>
            <a:endParaRPr lang="en-US" sz="680" dirty="0"/>
          </a:p>
        </p:txBody>
      </p:sp>
      <p:sp>
        <p:nvSpPr>
          <p:cNvPr id="10" name="Text 8"/>
          <p:cNvSpPr/>
          <p:nvPr/>
        </p:nvSpPr>
        <p:spPr>
          <a:xfrm>
            <a:off x="10927080" y="6565392"/>
            <a:ext cx="41148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07</a:t>
            </a:r>
            <a:endParaRPr lang="en-US" sz="680" dirty="0"/>
          </a:p>
        </p:txBody>
      </p:sp>
      <p:sp>
        <p:nvSpPr>
          <p:cNvPr id="11" name="Text 9"/>
          <p:cNvSpPr/>
          <p:nvPr/>
        </p:nvSpPr>
        <p:spPr>
          <a:xfrm>
            <a:off x="731520" y="1316736"/>
            <a:ext cx="10241280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11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登入結果可存在前端，但真正能否操作仍由後端 Security Filter 驗證 token、期限與帳號狀態。</a:t>
            </a:r>
            <a:endParaRPr lang="en-US" sz="1110" dirty="0"/>
          </a:p>
        </p:txBody>
      </p:sp>
      <p:sp>
        <p:nvSpPr>
          <p:cNvPr id="12" name="Shape 10"/>
          <p:cNvSpPr/>
          <p:nvPr/>
        </p:nvSpPr>
        <p:spPr>
          <a:xfrm>
            <a:off x="731520" y="2148840"/>
            <a:ext cx="1664208" cy="987552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397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877824" y="2267712"/>
            <a:ext cx="137160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2563E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Login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877824" y="2532888"/>
            <a:ext cx="1371600" cy="51206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77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account + password</a:t>
            </a:r>
            <a:endParaRPr lang="en-US" sz="770" dirty="0"/>
          </a:p>
        </p:txBody>
      </p:sp>
      <p:sp>
        <p:nvSpPr>
          <p:cNvPr id="15" name="Shape 13"/>
          <p:cNvSpPr/>
          <p:nvPr/>
        </p:nvSpPr>
        <p:spPr>
          <a:xfrm>
            <a:off x="868680" y="1965960"/>
            <a:ext cx="310896" cy="310896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68680" y="2043684"/>
            <a:ext cx="310896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2395728" y="2633472"/>
            <a:ext cx="548640" cy="0"/>
          </a:xfrm>
          <a:prstGeom prst="line">
            <a:avLst/>
          </a:prstGeom>
          <a:noFill/>
          <a:ln w="15240">
            <a:solidFill>
              <a:srgbClr val="2563EB"/>
            </a:solidFill>
            <a:prstDash val="solid"/>
            <a:headEnd type="none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2999232" y="2148840"/>
            <a:ext cx="1664208" cy="987552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3970">
            <a:solidFill>
              <a:srgbClr val="7C3AED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3145536" y="2267712"/>
            <a:ext cx="137160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7C3AE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JWT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3145536" y="2532888"/>
            <a:ext cx="1371600" cy="51206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77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userId · account · role</a:t>
            </a:r>
            <a:endParaRPr lang="en-US" sz="770" dirty="0"/>
          </a:p>
        </p:txBody>
      </p:sp>
      <p:sp>
        <p:nvSpPr>
          <p:cNvPr id="21" name="Shape 19"/>
          <p:cNvSpPr/>
          <p:nvPr/>
        </p:nvSpPr>
        <p:spPr>
          <a:xfrm>
            <a:off x="3136392" y="1965960"/>
            <a:ext cx="310896" cy="310896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>
                <a:alpha val="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136392" y="2043684"/>
            <a:ext cx="310896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750" dirty="0"/>
          </a:p>
        </p:txBody>
      </p:sp>
      <p:sp>
        <p:nvSpPr>
          <p:cNvPr id="23" name="Shape 21"/>
          <p:cNvSpPr/>
          <p:nvPr/>
        </p:nvSpPr>
        <p:spPr>
          <a:xfrm>
            <a:off x="4663440" y="2633472"/>
            <a:ext cx="548640" cy="0"/>
          </a:xfrm>
          <a:prstGeom prst="line">
            <a:avLst/>
          </a:prstGeom>
          <a:noFill/>
          <a:ln w="15240">
            <a:solidFill>
              <a:srgbClr val="7C3AED"/>
            </a:solidFill>
            <a:prstDash val="solid"/>
            <a:headEnd type="none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5266944" y="2148840"/>
            <a:ext cx="1664208" cy="987552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3970">
            <a:solidFill>
              <a:srgbClr val="06B6D4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5413248" y="2267712"/>
            <a:ext cx="137160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06B6D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Authorization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5413248" y="2532888"/>
            <a:ext cx="1371600" cy="51206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77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Bearer token</a:t>
            </a:r>
            <a:endParaRPr lang="en-US" sz="770" dirty="0"/>
          </a:p>
        </p:txBody>
      </p:sp>
      <p:sp>
        <p:nvSpPr>
          <p:cNvPr id="27" name="Shape 25"/>
          <p:cNvSpPr/>
          <p:nvPr/>
        </p:nvSpPr>
        <p:spPr>
          <a:xfrm>
            <a:off x="5404104" y="1965960"/>
            <a:ext cx="310896" cy="310896"/>
          </a:xfrm>
          <a:prstGeom prst="ellipse">
            <a:avLst/>
          </a:prstGeom>
          <a:solidFill>
            <a:srgbClr val="06B6D4"/>
          </a:solidFill>
          <a:ln w="12700">
            <a:solidFill>
              <a:srgbClr val="06B6D4">
                <a:alpha val="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404104" y="2043684"/>
            <a:ext cx="310896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750" dirty="0"/>
          </a:p>
        </p:txBody>
      </p:sp>
      <p:sp>
        <p:nvSpPr>
          <p:cNvPr id="29" name="Shape 27"/>
          <p:cNvSpPr/>
          <p:nvPr/>
        </p:nvSpPr>
        <p:spPr>
          <a:xfrm>
            <a:off x="6931152" y="2633472"/>
            <a:ext cx="548640" cy="0"/>
          </a:xfrm>
          <a:prstGeom prst="line">
            <a:avLst/>
          </a:prstGeom>
          <a:noFill/>
          <a:ln w="15240">
            <a:solidFill>
              <a:srgbClr val="06B6D4"/>
            </a:solidFill>
            <a:prstDash val="solid"/>
            <a:headEnd type="none"/>
            <a:tailEnd type="triangle"/>
          </a:ln>
        </p:spPr>
      </p:sp>
      <p:sp>
        <p:nvSpPr>
          <p:cNvPr id="30" name="Shape 28"/>
          <p:cNvSpPr/>
          <p:nvPr/>
        </p:nvSpPr>
        <p:spPr>
          <a:xfrm>
            <a:off x="7534656" y="2148840"/>
            <a:ext cx="1664208" cy="987552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3970">
            <a:solidFill>
              <a:srgbClr val="D97706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7680960" y="2267712"/>
            <a:ext cx="137160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D9770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Security Filter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7680960" y="2532888"/>
            <a:ext cx="1371600" cy="51206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77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驗簽 · 到期 · 狀態</a:t>
            </a:r>
            <a:endParaRPr lang="en-US" sz="770" dirty="0"/>
          </a:p>
        </p:txBody>
      </p:sp>
      <p:sp>
        <p:nvSpPr>
          <p:cNvPr id="33" name="Shape 31"/>
          <p:cNvSpPr/>
          <p:nvPr/>
        </p:nvSpPr>
        <p:spPr>
          <a:xfrm>
            <a:off x="7671816" y="1965960"/>
            <a:ext cx="310896" cy="310896"/>
          </a:xfrm>
          <a:prstGeom prst="ellipse">
            <a:avLst/>
          </a:prstGeom>
          <a:solidFill>
            <a:srgbClr val="D97706"/>
          </a:solidFill>
          <a:ln w="12700">
            <a:solidFill>
              <a:srgbClr val="D97706">
                <a:alpha val="0"/>
              </a:srgbClr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671816" y="2043684"/>
            <a:ext cx="310896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750" dirty="0"/>
          </a:p>
        </p:txBody>
      </p:sp>
      <p:sp>
        <p:nvSpPr>
          <p:cNvPr id="35" name="Shape 33"/>
          <p:cNvSpPr/>
          <p:nvPr/>
        </p:nvSpPr>
        <p:spPr>
          <a:xfrm>
            <a:off x="9198864" y="2633472"/>
            <a:ext cx="548640" cy="0"/>
          </a:xfrm>
          <a:prstGeom prst="line">
            <a:avLst/>
          </a:prstGeom>
          <a:noFill/>
          <a:ln w="15240">
            <a:solidFill>
              <a:srgbClr val="D97706"/>
            </a:solidFill>
            <a:prstDash val="solid"/>
            <a:headEnd type="none"/>
            <a:tailEnd type="triangle"/>
          </a:ln>
        </p:spPr>
      </p:sp>
      <p:sp>
        <p:nvSpPr>
          <p:cNvPr id="36" name="Shape 34"/>
          <p:cNvSpPr/>
          <p:nvPr/>
        </p:nvSpPr>
        <p:spPr>
          <a:xfrm>
            <a:off x="9802368" y="2148840"/>
            <a:ext cx="1664208" cy="987552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3970">
            <a:solidFill>
              <a:srgbClr val="059669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37" name="Text 35"/>
          <p:cNvSpPr/>
          <p:nvPr/>
        </p:nvSpPr>
        <p:spPr>
          <a:xfrm>
            <a:off x="9948672" y="2267712"/>
            <a:ext cx="137160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05966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Platform Modules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9948672" y="2532888"/>
            <a:ext cx="1371600" cy="51206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77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User · Board · Lobby · Games</a:t>
            </a:r>
            <a:endParaRPr lang="en-US" sz="770" dirty="0"/>
          </a:p>
        </p:txBody>
      </p:sp>
      <p:sp>
        <p:nvSpPr>
          <p:cNvPr id="39" name="Shape 37"/>
          <p:cNvSpPr/>
          <p:nvPr/>
        </p:nvSpPr>
        <p:spPr>
          <a:xfrm>
            <a:off x="9939528" y="1965960"/>
            <a:ext cx="310896" cy="310896"/>
          </a:xfrm>
          <a:prstGeom prst="ellipse">
            <a:avLst/>
          </a:prstGeom>
          <a:solidFill>
            <a:srgbClr val="059669"/>
          </a:solidFill>
          <a:ln w="12700">
            <a:solidFill>
              <a:srgbClr val="059669">
                <a:alpha val="0"/>
              </a:srgbClr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9939528" y="2043684"/>
            <a:ext cx="310896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</a:t>
            </a:r>
            <a:endParaRPr lang="en-US" sz="750" dirty="0"/>
          </a:p>
        </p:txBody>
      </p:sp>
      <p:sp>
        <p:nvSpPr>
          <p:cNvPr id="41" name="Shape 39"/>
          <p:cNvSpPr/>
          <p:nvPr/>
        </p:nvSpPr>
        <p:spPr>
          <a:xfrm>
            <a:off x="1143000" y="4160520"/>
            <a:ext cx="9921240" cy="1051560"/>
          </a:xfrm>
          <a:prstGeom prst="roundRect">
            <a:avLst>
              <a:gd name="adj" fmla="val 10435"/>
            </a:avLst>
          </a:prstGeom>
          <a:solidFill>
            <a:srgbClr val="0B1220"/>
          </a:solidFill>
          <a:ln w="10160">
            <a:solidFill>
              <a:srgbClr val="D97706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1417320" y="4434840"/>
            <a:ext cx="164592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080" b="1" dirty="0">
                <a:solidFill>
                  <a:srgbClr val="D9770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登入狀態修正重點</a:t>
            </a:r>
            <a:endParaRPr lang="en-US" sz="1080" dirty="0"/>
          </a:p>
        </p:txBody>
      </p:sp>
      <p:sp>
        <p:nvSpPr>
          <p:cNvPr id="43" name="Text 41"/>
          <p:cNvSpPr/>
          <p:nvPr/>
        </p:nvSpPr>
        <p:spPr>
          <a:xfrm>
            <a:off x="2926080" y="4407408"/>
            <a:ext cx="7040880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080" dirty="0">
                <a:solidFill>
                  <a:srgbClr val="E2E8F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前端 UI 不能只看 localStorage 的 account；受保護功能必須用後端驗證過的 JWT 狀態作為依據。</a:t>
            </a:r>
            <a:endParaRPr lang="en-US" sz="108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 w="12700">
            <a:solidFill>
              <a:srgbClr val="F7FAFC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292840" y="0"/>
            <a:ext cx="896112" cy="6858000"/>
          </a:xfrm>
          <a:prstGeom prst="rect">
            <a:avLst/>
          </a:prstGeom>
          <a:solidFill>
            <a:srgbClr val="EAF7FB">
              <a:alpha val="85000"/>
            </a:srgbClr>
          </a:solidFill>
          <a:ln w="12700">
            <a:solidFill>
              <a:srgbClr val="EAF7FB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94360" y="384048"/>
            <a:ext cx="310896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7C3AE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GAME CATALOG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594360" y="640080"/>
            <a:ext cx="9784080" cy="4389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02A4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Game、GameMode、Room：用資料控制遊戲入口與房間規則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94360" y="1170432"/>
            <a:ext cx="960120" cy="0"/>
          </a:xfrm>
          <a:prstGeom prst="line">
            <a:avLst/>
          </a:prstGeom>
          <a:noFill/>
          <a:ln w="27940">
            <a:solidFill>
              <a:srgbClr val="7C3AE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94360" y="6510528"/>
            <a:ext cx="10744200" cy="0"/>
          </a:xfrm>
          <a:prstGeom prst="line">
            <a:avLst/>
          </a:prstGeom>
          <a:noFill/>
          <a:ln w="6350">
            <a:solidFill>
              <a:srgbClr val="D7E0E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94360" y="6565392"/>
            <a:ext cx="283464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b="1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GAMEPLATFORM · 小組專題成果報告</a:t>
            </a:r>
            <a:endParaRPr lang="en-US" sz="680" dirty="0"/>
          </a:p>
        </p:txBody>
      </p:sp>
      <p:sp>
        <p:nvSpPr>
          <p:cNvPr id="10" name="Text 8"/>
          <p:cNvSpPr/>
          <p:nvPr/>
        </p:nvSpPr>
        <p:spPr>
          <a:xfrm>
            <a:off x="10927080" y="6565392"/>
            <a:ext cx="41148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08</a:t>
            </a:r>
            <a:endParaRPr lang="en-US" sz="680" dirty="0"/>
          </a:p>
        </p:txBody>
      </p:sp>
      <p:sp>
        <p:nvSpPr>
          <p:cNvPr id="11" name="Text 9"/>
          <p:cNvSpPr/>
          <p:nvPr/>
        </p:nvSpPr>
        <p:spPr>
          <a:xfrm>
            <a:off x="731520" y="1316736"/>
            <a:ext cx="10241280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依修改要求，欄位用中文說明；重點是讓房間不必寫死每款遊戲的玩家數、入口與模式。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777240" y="1847088"/>
            <a:ext cx="2331720" cy="2148840"/>
          </a:xfrm>
          <a:prstGeom prst="roundRect">
            <a:avLst>
              <a:gd name="adj" fmla="val 5106"/>
            </a:avLst>
          </a:prstGeom>
          <a:solidFill>
            <a:srgbClr val="FFFFFF"/>
          </a:solidFill>
          <a:ln w="1524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777240" y="1847088"/>
            <a:ext cx="2331720" cy="3017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68680" y="1920240"/>
            <a:ext cx="2148840" cy="1097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Game 遊戲資料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886968" y="2249424"/>
            <a:ext cx="2112264" cy="163677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670" dirty="0">
                <a:solidFill>
                  <a:srgbClr val="1220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PK 遊戲編號</a:t>
            </a:r>
            <a:endParaRPr lang="en-US" sz="670" dirty="0"/>
          </a:p>
          <a:p>
            <a:pPr algn="l" indent="0" marL="0">
              <a:buNone/>
            </a:pPr>
            <a:r>
              <a:rPr lang="en-US" sz="670" dirty="0">
                <a:solidFill>
                  <a:srgbClr val="1220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遊戲代碼／遊戲名稱</a:t>
            </a:r>
            <a:endParaRPr lang="en-US" sz="670" dirty="0"/>
          </a:p>
          <a:p>
            <a:pPr algn="l" indent="0" marL="0">
              <a:buNone/>
            </a:pPr>
            <a:r>
              <a:rPr lang="en-US" sz="670" dirty="0">
                <a:solidFill>
                  <a:srgbClr val="1220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遊戲說明</a:t>
            </a:r>
            <a:endParaRPr lang="en-US" sz="670" dirty="0"/>
          </a:p>
          <a:p>
            <a:pPr algn="l" indent="0" marL="0">
              <a:buNone/>
            </a:pPr>
            <a:r>
              <a:rPr lang="en-US" sz="670" dirty="0">
                <a:solidFill>
                  <a:srgbClr val="1220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前端入口路徑</a:t>
            </a:r>
            <a:endParaRPr lang="en-US" sz="670" dirty="0"/>
          </a:p>
          <a:p>
            <a:pPr algn="l" indent="0" marL="0">
              <a:buNone/>
            </a:pPr>
            <a:r>
              <a:rPr lang="en-US" sz="670" dirty="0">
                <a:solidFill>
                  <a:srgbClr val="1220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後端 API 路徑</a:t>
            </a:r>
            <a:endParaRPr lang="en-US" sz="670" dirty="0"/>
          </a:p>
          <a:p>
            <a:pPr algn="l" indent="0" marL="0">
              <a:buNone/>
            </a:pPr>
            <a:r>
              <a:rPr lang="en-US" sz="670" dirty="0">
                <a:solidFill>
                  <a:srgbClr val="1220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圖示路徑</a:t>
            </a:r>
            <a:endParaRPr lang="en-US" sz="670" dirty="0"/>
          </a:p>
          <a:p>
            <a:pPr algn="l" indent="0" marL="0">
              <a:buNone/>
            </a:pPr>
            <a:r>
              <a:rPr lang="en-US" sz="670" dirty="0">
                <a:solidFill>
                  <a:srgbClr val="1220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是否啟用</a:t>
            </a:r>
            <a:endParaRPr lang="en-US" sz="670" dirty="0"/>
          </a:p>
        </p:txBody>
      </p:sp>
      <p:sp>
        <p:nvSpPr>
          <p:cNvPr id="16" name="Shape 14"/>
          <p:cNvSpPr/>
          <p:nvPr/>
        </p:nvSpPr>
        <p:spPr>
          <a:xfrm>
            <a:off x="3611880" y="1847088"/>
            <a:ext cx="2331720" cy="2148840"/>
          </a:xfrm>
          <a:prstGeom prst="roundRect">
            <a:avLst>
              <a:gd name="adj" fmla="val 5106"/>
            </a:avLst>
          </a:prstGeom>
          <a:solidFill>
            <a:srgbClr val="FFFFFF"/>
          </a:solidFill>
          <a:ln w="15240">
            <a:solidFill>
              <a:srgbClr val="7C3AED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11880" y="1847088"/>
            <a:ext cx="2331720" cy="30175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>
                <a:alpha val="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703320" y="1920240"/>
            <a:ext cx="2148840" cy="1097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GameMode 遊戲模式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3721608" y="2249424"/>
            <a:ext cx="2112264" cy="163677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670" dirty="0">
                <a:solidFill>
                  <a:srgbClr val="1220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PK 模式編號</a:t>
            </a:r>
            <a:endParaRPr lang="en-US" sz="670" dirty="0"/>
          </a:p>
          <a:p>
            <a:pPr algn="l" indent="0" marL="0">
              <a:buNone/>
            </a:pPr>
            <a:r>
              <a:rPr lang="en-US" sz="670" dirty="0">
                <a:solidFill>
                  <a:srgbClr val="1220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FK 所屬遊戲</a:t>
            </a:r>
            <a:endParaRPr lang="en-US" sz="670" dirty="0"/>
          </a:p>
          <a:p>
            <a:pPr algn="l" indent="0" marL="0">
              <a:buNone/>
            </a:pPr>
            <a:r>
              <a:rPr lang="en-US" sz="670" dirty="0">
                <a:solidFill>
                  <a:srgbClr val="1220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模式代碼／模式名稱</a:t>
            </a:r>
            <a:endParaRPr lang="en-US" sz="670" dirty="0"/>
          </a:p>
          <a:p>
            <a:pPr algn="l" indent="0" marL="0">
              <a:buNone/>
            </a:pPr>
            <a:r>
              <a:rPr lang="en-US" sz="670" dirty="0">
                <a:solidFill>
                  <a:srgbClr val="1220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最小玩家數</a:t>
            </a:r>
            <a:endParaRPr lang="en-US" sz="670" dirty="0"/>
          </a:p>
          <a:p>
            <a:pPr algn="l" indent="0" marL="0">
              <a:buNone/>
            </a:pPr>
            <a:r>
              <a:rPr lang="en-US" sz="670" dirty="0">
                <a:solidFill>
                  <a:srgbClr val="1220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最大玩家數</a:t>
            </a:r>
            <a:endParaRPr lang="en-US" sz="670" dirty="0"/>
          </a:p>
          <a:p>
            <a:pPr algn="l" indent="0" marL="0">
              <a:buNone/>
            </a:pPr>
            <a:r>
              <a:rPr lang="en-US" sz="670" dirty="0">
                <a:solidFill>
                  <a:srgbClr val="1220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電腦玩家數</a:t>
            </a:r>
            <a:endParaRPr lang="en-US" sz="670" dirty="0"/>
          </a:p>
          <a:p>
            <a:pPr algn="l" indent="0" marL="0">
              <a:buNone/>
            </a:pPr>
            <a:r>
              <a:rPr lang="en-US" sz="670" dirty="0">
                <a:solidFill>
                  <a:srgbClr val="1220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是否啟用</a:t>
            </a:r>
            <a:endParaRPr lang="en-US" sz="670" dirty="0"/>
          </a:p>
        </p:txBody>
      </p:sp>
      <p:sp>
        <p:nvSpPr>
          <p:cNvPr id="20" name="Shape 18"/>
          <p:cNvSpPr/>
          <p:nvPr/>
        </p:nvSpPr>
        <p:spPr>
          <a:xfrm>
            <a:off x="6446520" y="1847088"/>
            <a:ext cx="2331720" cy="2148840"/>
          </a:xfrm>
          <a:prstGeom prst="roundRect">
            <a:avLst>
              <a:gd name="adj" fmla="val 5106"/>
            </a:avLst>
          </a:prstGeom>
          <a:solidFill>
            <a:srgbClr val="FFFFFF"/>
          </a:solidFill>
          <a:ln w="15240">
            <a:solidFill>
              <a:srgbClr val="059669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6446520" y="1847088"/>
            <a:ext cx="2331720" cy="301752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>
                <a:alpha val="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537960" y="1920240"/>
            <a:ext cx="2148840" cy="1097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Room 房間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6556248" y="2249424"/>
            <a:ext cx="2112264" cy="163677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670" dirty="0">
                <a:solidFill>
                  <a:srgbClr val="1220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PK 房間 ID</a:t>
            </a:r>
            <a:endParaRPr lang="en-US" sz="670" dirty="0"/>
          </a:p>
          <a:p>
            <a:pPr algn="l" indent="0" marL="0">
              <a:buNone/>
            </a:pPr>
            <a:r>
              <a:rPr lang="en-US" sz="670" dirty="0">
                <a:solidFill>
                  <a:srgbClr val="1220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FK 遊戲／模式</a:t>
            </a:r>
            <a:endParaRPr lang="en-US" sz="670" dirty="0"/>
          </a:p>
          <a:p>
            <a:pPr algn="l" indent="0" marL="0">
              <a:buNone/>
            </a:pPr>
            <a:r>
              <a:rPr lang="en-US" sz="670" dirty="0">
                <a:solidFill>
                  <a:srgbClr val="1220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房主帳號</a:t>
            </a:r>
            <a:endParaRPr lang="en-US" sz="670" dirty="0"/>
          </a:p>
          <a:p>
            <a:pPr algn="l" indent="0" marL="0">
              <a:buNone/>
            </a:pPr>
            <a:r>
              <a:rPr lang="en-US" sz="670" dirty="0">
                <a:solidFill>
                  <a:srgbClr val="1220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玩家名單</a:t>
            </a:r>
            <a:endParaRPr lang="en-US" sz="670" dirty="0"/>
          </a:p>
          <a:p>
            <a:pPr algn="l" indent="0" marL="0">
              <a:buNone/>
            </a:pPr>
            <a:r>
              <a:rPr lang="en-US" sz="670" dirty="0">
                <a:solidFill>
                  <a:srgbClr val="1220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目前狀態</a:t>
            </a:r>
            <a:endParaRPr lang="en-US" sz="670" dirty="0"/>
          </a:p>
          <a:p>
            <a:pPr algn="l" indent="0" marL="0">
              <a:buNone/>
            </a:pPr>
            <a:r>
              <a:rPr lang="en-US" sz="670" dirty="0">
                <a:solidFill>
                  <a:srgbClr val="1220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開始／結束／過期時間</a:t>
            </a:r>
            <a:endParaRPr lang="en-US" sz="670" dirty="0"/>
          </a:p>
          <a:p>
            <a:pPr algn="l" indent="0" marL="0">
              <a:buNone/>
            </a:pPr>
            <a:r>
              <a:rPr lang="en-US" sz="670" dirty="0">
                <a:solidFill>
                  <a:srgbClr val="1220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結束原因</a:t>
            </a:r>
            <a:endParaRPr lang="en-US" sz="670" dirty="0"/>
          </a:p>
        </p:txBody>
      </p:sp>
      <p:sp>
        <p:nvSpPr>
          <p:cNvPr id="24" name="Shape 22"/>
          <p:cNvSpPr/>
          <p:nvPr/>
        </p:nvSpPr>
        <p:spPr>
          <a:xfrm>
            <a:off x="9281160" y="1847088"/>
            <a:ext cx="2057400" cy="214884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5240">
            <a:solidFill>
              <a:srgbClr val="D97706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9281160" y="1847088"/>
            <a:ext cx="2057400" cy="30175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>
                <a:alpha val="0"/>
              </a:srgbClr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372600" y="1920240"/>
            <a:ext cx="1874520" cy="1097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Game Page 遊戲頁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9390888" y="2249424"/>
            <a:ext cx="1837944" cy="163677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670" dirty="0">
                <a:solidFill>
                  <a:srgbClr val="1220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poker_client.html</a:t>
            </a:r>
            <a:endParaRPr lang="en-US" sz="670" dirty="0"/>
          </a:p>
          <a:p>
            <a:pPr algn="l" indent="0" marL="0">
              <a:buNone/>
            </a:pPr>
            <a:r>
              <a:rPr lang="en-US" sz="670" dirty="0">
                <a:solidFill>
                  <a:srgbClr val="1220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quiz_client.html</a:t>
            </a:r>
            <a:endParaRPr lang="en-US" sz="670" dirty="0"/>
          </a:p>
          <a:p>
            <a:pPr algn="l" indent="0" marL="0">
              <a:buNone/>
            </a:pPr>
            <a:r>
              <a:rPr lang="en-US" sz="670" dirty="0">
                <a:solidFill>
                  <a:srgbClr val="1220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?room=房間ID</a:t>
            </a:r>
            <a:endParaRPr lang="en-US" sz="670" dirty="0"/>
          </a:p>
          <a:p>
            <a:pPr algn="l" indent="0" marL="0">
              <a:buNone/>
            </a:pPr>
            <a:r>
              <a:rPr lang="en-US" sz="670" dirty="0">
                <a:solidFill>
                  <a:srgbClr val="1220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依房間資料啟動對局</a:t>
            </a:r>
            <a:endParaRPr lang="en-US" sz="670" dirty="0"/>
          </a:p>
        </p:txBody>
      </p:sp>
      <p:sp>
        <p:nvSpPr>
          <p:cNvPr id="28" name="Shape 26"/>
          <p:cNvSpPr/>
          <p:nvPr/>
        </p:nvSpPr>
        <p:spPr>
          <a:xfrm>
            <a:off x="3108960" y="2926080"/>
            <a:ext cx="502920" cy="0"/>
          </a:xfrm>
          <a:prstGeom prst="line">
            <a:avLst/>
          </a:prstGeom>
          <a:noFill/>
          <a:ln w="15240">
            <a:solidFill>
              <a:srgbClr val="D7E0EA"/>
            </a:solidFill>
            <a:prstDash val="solid"/>
            <a:headEnd type="none"/>
            <a:tailEnd type="triangle"/>
          </a:ln>
        </p:spPr>
      </p:sp>
      <p:sp>
        <p:nvSpPr>
          <p:cNvPr id="29" name="Shape 27"/>
          <p:cNvSpPr/>
          <p:nvPr/>
        </p:nvSpPr>
        <p:spPr>
          <a:xfrm>
            <a:off x="5943600" y="2926080"/>
            <a:ext cx="502920" cy="0"/>
          </a:xfrm>
          <a:prstGeom prst="line">
            <a:avLst/>
          </a:prstGeom>
          <a:noFill/>
          <a:ln w="15240">
            <a:solidFill>
              <a:srgbClr val="D7E0EA"/>
            </a:solidFill>
            <a:prstDash val="solid"/>
            <a:headEnd type="none"/>
            <a:tailEnd type="triangle"/>
          </a:ln>
        </p:spPr>
      </p:sp>
      <p:sp>
        <p:nvSpPr>
          <p:cNvPr id="30" name="Shape 28"/>
          <p:cNvSpPr/>
          <p:nvPr/>
        </p:nvSpPr>
        <p:spPr>
          <a:xfrm>
            <a:off x="8778240" y="2926080"/>
            <a:ext cx="502920" cy="0"/>
          </a:xfrm>
          <a:prstGeom prst="line">
            <a:avLst/>
          </a:prstGeom>
          <a:noFill/>
          <a:ln w="15240">
            <a:solidFill>
              <a:srgbClr val="D7E0EA"/>
            </a:solidFill>
            <a:prstDash val="solid"/>
            <a:headEnd type="none"/>
            <a:tailEnd type="triangle"/>
          </a:ln>
        </p:spPr>
      </p:sp>
      <p:sp>
        <p:nvSpPr>
          <p:cNvPr id="31" name="Shape 29"/>
          <p:cNvSpPr/>
          <p:nvPr/>
        </p:nvSpPr>
        <p:spPr>
          <a:xfrm>
            <a:off x="1188720" y="4754880"/>
            <a:ext cx="9326880" cy="868680"/>
          </a:xfrm>
          <a:prstGeom prst="roundRect">
            <a:avLst>
              <a:gd name="adj" fmla="val 12632"/>
            </a:avLst>
          </a:prstGeom>
          <a:solidFill>
            <a:srgbClr val="E0F2FE"/>
          </a:solidFill>
          <a:ln w="10160">
            <a:solidFill>
              <a:srgbClr val="06B6D4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417320" y="5010912"/>
            <a:ext cx="1097280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2563E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例：田忌撲克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2697480" y="4974336"/>
            <a:ext cx="6995160" cy="23774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010" dirty="0">
                <a:solidFill>
                  <a:srgbClr val="1220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遊戲資料提供 Poker 入口；GameMode 決定「玩家對戰／對戰電腦」與人數限制；Room 保存本次對局的房號、玩家與狀態。</a:t>
            </a:r>
            <a:endParaRPr lang="en-US" sz="101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 w="12700">
            <a:solidFill>
              <a:srgbClr val="F7FAFC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292840" y="0"/>
            <a:ext cx="896112" cy="6858000"/>
          </a:xfrm>
          <a:prstGeom prst="rect">
            <a:avLst/>
          </a:prstGeom>
          <a:solidFill>
            <a:srgbClr val="EAF7FB">
              <a:alpha val="85000"/>
            </a:srgbClr>
          </a:solidFill>
          <a:ln w="12700">
            <a:solidFill>
              <a:srgbClr val="EAF7FB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94360" y="384048"/>
            <a:ext cx="310896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5966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ER MODEL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594360" y="640080"/>
            <a:ext cx="9784080" cy="4389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02A4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ER Model · Core / Lobby：會員、遊戲目錄與房間生命週期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94360" y="1170432"/>
            <a:ext cx="960120" cy="0"/>
          </a:xfrm>
          <a:prstGeom prst="line">
            <a:avLst/>
          </a:prstGeom>
          <a:noFill/>
          <a:ln w="27940">
            <a:solidFill>
              <a:srgbClr val="05966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94360" y="6510528"/>
            <a:ext cx="10744200" cy="0"/>
          </a:xfrm>
          <a:prstGeom prst="line">
            <a:avLst/>
          </a:prstGeom>
          <a:noFill/>
          <a:ln w="6350">
            <a:solidFill>
              <a:srgbClr val="D7E0E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94360" y="6565392"/>
            <a:ext cx="283464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b="1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GAMEPLATFORM · 小組專題成果報告</a:t>
            </a:r>
            <a:endParaRPr lang="en-US" sz="680" dirty="0"/>
          </a:p>
        </p:txBody>
      </p:sp>
      <p:sp>
        <p:nvSpPr>
          <p:cNvPr id="10" name="Text 8"/>
          <p:cNvSpPr/>
          <p:nvPr/>
        </p:nvSpPr>
        <p:spPr>
          <a:xfrm>
            <a:off x="10927080" y="6565392"/>
            <a:ext cx="41148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09</a:t>
            </a:r>
            <a:endParaRPr lang="en-US" sz="680" dirty="0"/>
          </a:p>
        </p:txBody>
      </p:sp>
      <p:sp>
        <p:nvSpPr>
          <p:cNvPr id="11" name="Text 9"/>
          <p:cNvSpPr/>
          <p:nvPr/>
        </p:nvSpPr>
        <p:spPr>
          <a:xfrm>
            <a:off x="731520" y="1316736"/>
            <a:ext cx="1024128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08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Lobby 是遊戲大廳與房間系統，負責建房、等待、開始遊戲，以及遊戲結束後的房間狀態收斂。</a:t>
            </a:r>
            <a:endParaRPr lang="en-US" sz="1080" dirty="0"/>
          </a:p>
        </p:txBody>
      </p:sp>
      <p:sp>
        <p:nvSpPr>
          <p:cNvPr id="12" name="Shape 10"/>
          <p:cNvSpPr/>
          <p:nvPr/>
        </p:nvSpPr>
        <p:spPr>
          <a:xfrm>
            <a:off x="2286000" y="2450592"/>
            <a:ext cx="594360" cy="0"/>
          </a:xfrm>
          <a:prstGeom prst="line">
            <a:avLst/>
          </a:prstGeom>
          <a:noFill/>
          <a:ln w="15240">
            <a:solidFill>
              <a:srgbClr val="D7E0EA"/>
            </a:solidFill>
            <a:prstDash val="solid"/>
            <a:headEnd type="none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4709160" y="2450592"/>
            <a:ext cx="594360" cy="0"/>
          </a:xfrm>
          <a:prstGeom prst="line">
            <a:avLst/>
          </a:prstGeom>
          <a:noFill/>
          <a:ln w="15240">
            <a:solidFill>
              <a:srgbClr val="D7E0EA"/>
            </a:solidFill>
            <a:prstDash val="solid"/>
            <a:headEnd type="none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7132320" y="2450592"/>
            <a:ext cx="594360" cy="0"/>
          </a:xfrm>
          <a:prstGeom prst="line">
            <a:avLst/>
          </a:prstGeom>
          <a:noFill/>
          <a:ln w="15240">
            <a:solidFill>
              <a:srgbClr val="D7E0EA"/>
            </a:solidFill>
            <a:prstDash val="solid"/>
            <a:headEnd type="none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8869680" y="3703320"/>
            <a:ext cx="0" cy="521208"/>
          </a:xfrm>
          <a:prstGeom prst="line">
            <a:avLst/>
          </a:prstGeom>
          <a:noFill/>
          <a:ln w="15240">
            <a:solidFill>
              <a:srgbClr val="D7E0EA"/>
            </a:solidFill>
            <a:prstDash val="solid"/>
            <a:headEnd type="none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731520" y="1874520"/>
            <a:ext cx="155448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524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731520" y="1874520"/>
            <a:ext cx="1554480" cy="3017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1947672"/>
            <a:ext cx="1371600" cy="1097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roles / statuses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841248" y="2276856"/>
            <a:ext cx="1335024" cy="72237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670" dirty="0">
                <a:solidFill>
                  <a:srgbClr val="1220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PK 編號</a:t>
            </a:r>
            <a:endParaRPr lang="en-US" sz="670" dirty="0"/>
          </a:p>
          <a:p>
            <a:pPr algn="l" indent="0" marL="0">
              <a:buNone/>
            </a:pPr>
            <a:r>
              <a:rPr lang="en-US" sz="670" dirty="0">
                <a:solidFill>
                  <a:srgbClr val="1220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角色名稱</a:t>
            </a:r>
            <a:endParaRPr lang="en-US" sz="670" dirty="0"/>
          </a:p>
          <a:p>
            <a:pPr algn="l" indent="0" marL="0">
              <a:buNone/>
            </a:pPr>
            <a:r>
              <a:rPr lang="en-US" sz="670" dirty="0">
                <a:solidFill>
                  <a:srgbClr val="1220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狀態名稱</a:t>
            </a:r>
            <a:endParaRPr lang="en-US" sz="670" dirty="0"/>
          </a:p>
        </p:txBody>
      </p:sp>
      <p:sp>
        <p:nvSpPr>
          <p:cNvPr id="20" name="Shape 18"/>
          <p:cNvSpPr/>
          <p:nvPr/>
        </p:nvSpPr>
        <p:spPr>
          <a:xfrm>
            <a:off x="2880360" y="1691640"/>
            <a:ext cx="1828800" cy="1627632"/>
          </a:xfrm>
          <a:prstGeom prst="roundRect">
            <a:avLst>
              <a:gd name="adj" fmla="val 6742"/>
            </a:avLst>
          </a:prstGeom>
          <a:solidFill>
            <a:srgbClr val="FFFFFF"/>
          </a:solidFill>
          <a:ln w="1524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2880360" y="1691640"/>
            <a:ext cx="1828800" cy="3017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971800" y="1764792"/>
            <a:ext cx="1645920" cy="1097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users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2990088" y="2093976"/>
            <a:ext cx="1609344" cy="11155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670" dirty="0">
                <a:solidFill>
                  <a:srgbClr val="1220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PK 會員編號</a:t>
            </a:r>
            <a:endParaRPr lang="en-US" sz="670" dirty="0"/>
          </a:p>
          <a:p>
            <a:pPr algn="l" indent="0" marL="0">
              <a:buNone/>
            </a:pPr>
            <a:r>
              <a:rPr lang="en-US" sz="670" dirty="0">
                <a:solidFill>
                  <a:srgbClr val="1220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帳號／暱稱</a:t>
            </a:r>
            <a:endParaRPr lang="en-US" sz="670" dirty="0"/>
          </a:p>
          <a:p>
            <a:pPr algn="l" indent="0" marL="0">
              <a:buNone/>
            </a:pPr>
            <a:r>
              <a:rPr lang="en-US" sz="670" dirty="0">
                <a:solidFill>
                  <a:srgbClr val="1220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密碼</a:t>
            </a:r>
            <a:endParaRPr lang="en-US" sz="670" dirty="0"/>
          </a:p>
          <a:p>
            <a:pPr algn="l" indent="0" marL="0">
              <a:buNone/>
            </a:pPr>
            <a:r>
              <a:rPr lang="en-US" sz="670" dirty="0">
                <a:solidFill>
                  <a:srgbClr val="1220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role_id</a:t>
            </a:r>
            <a:endParaRPr lang="en-US" sz="670" dirty="0"/>
          </a:p>
          <a:p>
            <a:pPr algn="l" indent="0" marL="0">
              <a:buNone/>
            </a:pPr>
            <a:r>
              <a:rPr lang="en-US" sz="670" dirty="0">
                <a:solidFill>
                  <a:srgbClr val="1220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status_id</a:t>
            </a:r>
            <a:endParaRPr lang="en-US" sz="670" dirty="0"/>
          </a:p>
        </p:txBody>
      </p:sp>
      <p:sp>
        <p:nvSpPr>
          <p:cNvPr id="24" name="Shape 22"/>
          <p:cNvSpPr/>
          <p:nvPr/>
        </p:nvSpPr>
        <p:spPr>
          <a:xfrm>
            <a:off x="5303520" y="1691640"/>
            <a:ext cx="1828800" cy="1627632"/>
          </a:xfrm>
          <a:prstGeom prst="roundRect">
            <a:avLst>
              <a:gd name="adj" fmla="val 6742"/>
            </a:avLst>
          </a:prstGeom>
          <a:solidFill>
            <a:srgbClr val="FFFFFF"/>
          </a:solidFill>
          <a:ln w="15240">
            <a:solidFill>
              <a:srgbClr val="7C3AED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5303520" y="1691640"/>
            <a:ext cx="1828800" cy="30175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>
                <a:alpha val="0"/>
              </a:srgbClr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394960" y="1764792"/>
            <a:ext cx="1645920" cy="1097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games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5413248" y="2093976"/>
            <a:ext cx="1609344" cy="11155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670" dirty="0">
                <a:solidFill>
                  <a:srgbClr val="1220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PK 遊戲編號</a:t>
            </a:r>
            <a:endParaRPr lang="en-US" sz="670" dirty="0"/>
          </a:p>
          <a:p>
            <a:pPr algn="l" indent="0" marL="0">
              <a:buNone/>
            </a:pPr>
            <a:r>
              <a:rPr lang="en-US" sz="670" dirty="0">
                <a:solidFill>
                  <a:srgbClr val="1220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遊戲代碼</a:t>
            </a:r>
            <a:endParaRPr lang="en-US" sz="670" dirty="0"/>
          </a:p>
          <a:p>
            <a:pPr algn="l" indent="0" marL="0">
              <a:buNone/>
            </a:pPr>
            <a:r>
              <a:rPr lang="en-US" sz="670" dirty="0">
                <a:solidFill>
                  <a:srgbClr val="1220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遊戲名稱</a:t>
            </a:r>
            <a:endParaRPr lang="en-US" sz="670" dirty="0"/>
          </a:p>
          <a:p>
            <a:pPr algn="l" indent="0" marL="0">
              <a:buNone/>
            </a:pPr>
            <a:r>
              <a:rPr lang="en-US" sz="670" dirty="0">
                <a:solidFill>
                  <a:srgbClr val="1220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前端／後端入口</a:t>
            </a:r>
            <a:endParaRPr lang="en-US" sz="670" dirty="0"/>
          </a:p>
        </p:txBody>
      </p:sp>
      <p:sp>
        <p:nvSpPr>
          <p:cNvPr id="28" name="Shape 26"/>
          <p:cNvSpPr/>
          <p:nvPr/>
        </p:nvSpPr>
        <p:spPr>
          <a:xfrm>
            <a:off x="7726680" y="1691640"/>
            <a:ext cx="1828800" cy="1627632"/>
          </a:xfrm>
          <a:prstGeom prst="roundRect">
            <a:avLst>
              <a:gd name="adj" fmla="val 6742"/>
            </a:avLst>
          </a:prstGeom>
          <a:solidFill>
            <a:srgbClr val="FFFFFF"/>
          </a:solidFill>
          <a:ln w="15240">
            <a:solidFill>
              <a:srgbClr val="7C3AED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7726680" y="1691640"/>
            <a:ext cx="1828800" cy="30175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>
                <a:alpha val="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818120" y="1764792"/>
            <a:ext cx="1645920" cy="1097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game_modes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7836408" y="2093976"/>
            <a:ext cx="1609344" cy="11155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670" dirty="0">
                <a:solidFill>
                  <a:srgbClr val="1220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PK 模式編號</a:t>
            </a:r>
            <a:endParaRPr lang="en-US" sz="670" dirty="0"/>
          </a:p>
          <a:p>
            <a:pPr algn="l" indent="0" marL="0">
              <a:buNone/>
            </a:pPr>
            <a:r>
              <a:rPr lang="en-US" sz="670" dirty="0">
                <a:solidFill>
                  <a:srgbClr val="1220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FK 遊戲編號</a:t>
            </a:r>
            <a:endParaRPr lang="en-US" sz="670" dirty="0"/>
          </a:p>
          <a:p>
            <a:pPr algn="l" indent="0" marL="0">
              <a:buNone/>
            </a:pPr>
            <a:r>
              <a:rPr lang="en-US" sz="670" dirty="0">
                <a:solidFill>
                  <a:srgbClr val="1220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模式代碼／名稱</a:t>
            </a:r>
            <a:endParaRPr lang="en-US" sz="670" dirty="0"/>
          </a:p>
          <a:p>
            <a:pPr algn="l" indent="0" marL="0">
              <a:buNone/>
            </a:pPr>
            <a:r>
              <a:rPr lang="en-US" sz="670" dirty="0">
                <a:solidFill>
                  <a:srgbClr val="1220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玩家數限制</a:t>
            </a:r>
            <a:endParaRPr lang="en-US" sz="670" dirty="0"/>
          </a:p>
        </p:txBody>
      </p:sp>
      <p:sp>
        <p:nvSpPr>
          <p:cNvPr id="32" name="Shape 30"/>
          <p:cNvSpPr/>
          <p:nvPr/>
        </p:nvSpPr>
        <p:spPr>
          <a:xfrm>
            <a:off x="7726680" y="4224528"/>
            <a:ext cx="1920240" cy="1444752"/>
          </a:xfrm>
          <a:prstGeom prst="roundRect">
            <a:avLst>
              <a:gd name="adj" fmla="val 7595"/>
            </a:avLst>
          </a:prstGeom>
          <a:solidFill>
            <a:srgbClr val="FFFFFF"/>
          </a:solidFill>
          <a:ln w="15240">
            <a:solidFill>
              <a:srgbClr val="059669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7726680" y="4224528"/>
            <a:ext cx="1920240" cy="301752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>
                <a:alpha val="0"/>
              </a:srgbClr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818120" y="4297680"/>
            <a:ext cx="1737360" cy="1097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rooms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7836408" y="4626864"/>
            <a:ext cx="1700784" cy="93268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670" dirty="0">
                <a:solidFill>
                  <a:srgbClr val="1220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PK 房間ID</a:t>
            </a:r>
            <a:endParaRPr lang="en-US" sz="670" dirty="0"/>
          </a:p>
          <a:p>
            <a:pPr algn="l" indent="0" marL="0">
              <a:buNone/>
            </a:pPr>
            <a:r>
              <a:rPr lang="en-US" sz="670" dirty="0">
                <a:solidFill>
                  <a:srgbClr val="1220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FK 遊戲／模式</a:t>
            </a:r>
            <a:endParaRPr lang="en-US" sz="670" dirty="0"/>
          </a:p>
          <a:p>
            <a:pPr algn="l" indent="0" marL="0">
              <a:buNone/>
            </a:pPr>
            <a:r>
              <a:rPr lang="en-US" sz="670" dirty="0">
                <a:solidFill>
                  <a:srgbClr val="1220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房主帳號</a:t>
            </a:r>
            <a:endParaRPr lang="en-US" sz="670" dirty="0"/>
          </a:p>
          <a:p>
            <a:pPr algn="l" indent="0" marL="0">
              <a:buNone/>
            </a:pPr>
            <a:r>
              <a:rPr lang="en-US" sz="670" dirty="0">
                <a:solidFill>
                  <a:srgbClr val="1220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狀態</a:t>
            </a:r>
            <a:endParaRPr lang="en-US" sz="670" dirty="0"/>
          </a:p>
          <a:p>
            <a:pPr algn="l" indent="0" marL="0">
              <a:buNone/>
            </a:pPr>
            <a:r>
              <a:rPr lang="en-US" sz="670" dirty="0">
                <a:solidFill>
                  <a:srgbClr val="1220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開始／結束／過期</a:t>
            </a:r>
            <a:endParaRPr lang="en-US" sz="670" dirty="0"/>
          </a:p>
        </p:txBody>
      </p:sp>
      <p:sp>
        <p:nvSpPr>
          <p:cNvPr id="36" name="Shape 34"/>
          <p:cNvSpPr/>
          <p:nvPr/>
        </p:nvSpPr>
        <p:spPr>
          <a:xfrm>
            <a:off x="5349240" y="4315968"/>
            <a:ext cx="1828800" cy="1170432"/>
          </a:xfrm>
          <a:prstGeom prst="roundRect">
            <a:avLst>
              <a:gd name="adj" fmla="val 9375"/>
            </a:avLst>
          </a:prstGeom>
          <a:solidFill>
            <a:srgbClr val="FFFFFF"/>
          </a:solidFill>
          <a:ln w="15240">
            <a:solidFill>
              <a:srgbClr val="059669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5349240" y="4315968"/>
            <a:ext cx="1828800" cy="301752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>
                <a:alpha val="0"/>
              </a:srgbClr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440680" y="4389120"/>
            <a:ext cx="1645920" cy="1097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room_players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5458968" y="4718304"/>
            <a:ext cx="1609344" cy="6583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670" dirty="0">
                <a:solidFill>
                  <a:srgbClr val="1220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FK 房間ID</a:t>
            </a:r>
            <a:endParaRPr lang="en-US" sz="670" dirty="0"/>
          </a:p>
          <a:p>
            <a:pPr algn="l" indent="0" marL="0">
              <a:buNone/>
            </a:pPr>
            <a:r>
              <a:rPr lang="en-US" sz="670" dirty="0">
                <a:solidFill>
                  <a:srgbClr val="1220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玩家帳號</a:t>
            </a:r>
            <a:endParaRPr lang="en-US" sz="670" dirty="0"/>
          </a:p>
          <a:p>
            <a:pPr algn="l" indent="0" marL="0">
              <a:buNone/>
            </a:pPr>
            <a:r>
              <a:rPr lang="en-US" sz="670" dirty="0">
                <a:solidFill>
                  <a:srgbClr val="1220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ElementCollection</a:t>
            </a:r>
            <a:endParaRPr lang="en-US" sz="670" dirty="0"/>
          </a:p>
        </p:txBody>
      </p:sp>
      <p:sp>
        <p:nvSpPr>
          <p:cNvPr id="40" name="Shape 38"/>
          <p:cNvSpPr/>
          <p:nvPr/>
        </p:nvSpPr>
        <p:spPr>
          <a:xfrm>
            <a:off x="7726680" y="4946904"/>
            <a:ext cx="-548640" cy="-45720"/>
          </a:xfrm>
          <a:prstGeom prst="line">
            <a:avLst/>
          </a:prstGeom>
          <a:noFill/>
          <a:ln w="15240">
            <a:solidFill>
              <a:srgbClr val="D7E0EA"/>
            </a:solidFill>
            <a:prstDash val="solid"/>
            <a:headEnd type="none"/>
            <a:tailEnd type="triangle"/>
          </a:ln>
        </p:spPr>
      </p:sp>
      <p:sp>
        <p:nvSpPr>
          <p:cNvPr id="41" name="Shape 39"/>
          <p:cNvSpPr/>
          <p:nvPr/>
        </p:nvSpPr>
        <p:spPr>
          <a:xfrm>
            <a:off x="6537960" y="3319272"/>
            <a:ext cx="1600200" cy="905256"/>
          </a:xfrm>
          <a:prstGeom prst="line">
            <a:avLst/>
          </a:prstGeom>
          <a:noFill/>
          <a:ln w="15240">
            <a:solidFill>
              <a:srgbClr val="D7E0EA"/>
            </a:solidFill>
            <a:prstDash val="solid"/>
            <a:headEnd type="none"/>
            <a:tailEnd type="triangle"/>
          </a:ln>
        </p:spPr>
      </p:sp>
      <p:sp>
        <p:nvSpPr>
          <p:cNvPr id="42" name="Shape 40"/>
          <p:cNvSpPr/>
          <p:nvPr/>
        </p:nvSpPr>
        <p:spPr>
          <a:xfrm>
            <a:off x="3794760" y="3319272"/>
            <a:ext cx="1874520" cy="996696"/>
          </a:xfrm>
          <a:prstGeom prst="line">
            <a:avLst/>
          </a:prstGeom>
          <a:noFill/>
          <a:ln w="15240">
            <a:solidFill>
              <a:srgbClr val="D7E0EA"/>
            </a:solidFill>
            <a:prstDash val="solid"/>
            <a:headEnd type="none"/>
            <a:tailEnd type="triangle"/>
          </a:ln>
        </p:spPr>
      </p:sp>
      <p:sp>
        <p:nvSpPr>
          <p:cNvPr id="43" name="Shape 41"/>
          <p:cNvSpPr/>
          <p:nvPr/>
        </p:nvSpPr>
        <p:spPr>
          <a:xfrm>
            <a:off x="914400" y="4663440"/>
            <a:ext cx="3246120" cy="850392"/>
          </a:xfrm>
          <a:prstGeom prst="roundRect">
            <a:avLst>
              <a:gd name="adj" fmla="val 12903"/>
            </a:avLst>
          </a:prstGeom>
          <a:solidFill>
            <a:srgbClr val="ECFDF5"/>
          </a:solidFill>
          <a:ln w="10160">
            <a:solidFill>
              <a:srgbClr val="059669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1143000" y="4800600"/>
            <a:ext cx="2468880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5966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Lobby 關鍵角色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1143000" y="5084064"/>
            <a:ext cx="2697480" cy="292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780" dirty="0">
                <a:solidFill>
                  <a:srgbClr val="1220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把等待中的房間從遊戲本身抽離，讓 Poker、Quiz 等遊戲共用同一套建房與結束流程。</a:t>
            </a:r>
            <a:endParaRPr lang="en-US" sz="78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 w="12700">
            <a:solidFill>
              <a:srgbClr val="F7FAFC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292840" y="0"/>
            <a:ext cx="896112" cy="6858000"/>
          </a:xfrm>
          <a:prstGeom prst="rect">
            <a:avLst/>
          </a:prstGeom>
          <a:solidFill>
            <a:srgbClr val="EAF7FB">
              <a:alpha val="85000"/>
            </a:srgbClr>
          </a:solidFill>
          <a:ln w="12700">
            <a:solidFill>
              <a:srgbClr val="EAF7FB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94360" y="384048"/>
            <a:ext cx="310896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D9770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ER MODEL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594360" y="640080"/>
            <a:ext cx="9784080" cy="4389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02A4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ER Model · Board / Chat：組隊公告連到房間與即時頻道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94360" y="1170432"/>
            <a:ext cx="960120" cy="0"/>
          </a:xfrm>
          <a:prstGeom prst="line">
            <a:avLst/>
          </a:prstGeom>
          <a:noFill/>
          <a:ln w="27940">
            <a:solidFill>
              <a:srgbClr val="D9770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94360" y="6510528"/>
            <a:ext cx="10744200" cy="0"/>
          </a:xfrm>
          <a:prstGeom prst="line">
            <a:avLst/>
          </a:prstGeom>
          <a:noFill/>
          <a:ln w="6350">
            <a:solidFill>
              <a:srgbClr val="D7E0E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94360" y="6565392"/>
            <a:ext cx="283464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b="1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GAMEPLATFORM · 小組專題成果報告</a:t>
            </a:r>
            <a:endParaRPr lang="en-US" sz="680" dirty="0"/>
          </a:p>
        </p:txBody>
      </p:sp>
      <p:sp>
        <p:nvSpPr>
          <p:cNvPr id="10" name="Text 8"/>
          <p:cNvSpPr/>
          <p:nvPr/>
        </p:nvSpPr>
        <p:spPr>
          <a:xfrm>
            <a:off x="10927080" y="6565392"/>
            <a:ext cx="41148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10</a:t>
            </a:r>
            <a:endParaRPr lang="en-US" sz="680" dirty="0"/>
          </a:p>
        </p:txBody>
      </p:sp>
      <p:sp>
        <p:nvSpPr>
          <p:cNvPr id="11" name="Text 9"/>
          <p:cNvSpPr/>
          <p:nvPr/>
        </p:nvSpPr>
        <p:spPr>
          <a:xfrm>
            <a:off x="731520" y="1316736"/>
            <a:ext cx="1005840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08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Board 管理招募與申請；Chat 依 roomId 建立房間頻道，並在 RoomFinishedEvent 後清理房間頻道。</a:t>
            </a:r>
            <a:endParaRPr lang="en-US" sz="1080" dirty="0"/>
          </a:p>
        </p:txBody>
      </p:sp>
      <p:sp>
        <p:nvSpPr>
          <p:cNvPr id="12" name="Shape 10"/>
          <p:cNvSpPr/>
          <p:nvPr/>
        </p:nvSpPr>
        <p:spPr>
          <a:xfrm>
            <a:off x="2606040" y="2651760"/>
            <a:ext cx="640080" cy="0"/>
          </a:xfrm>
          <a:prstGeom prst="line">
            <a:avLst/>
          </a:prstGeom>
          <a:noFill/>
          <a:ln w="15240">
            <a:solidFill>
              <a:srgbClr val="D7E0EA"/>
            </a:solidFill>
            <a:prstDash val="solid"/>
            <a:headEnd type="none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5257800" y="2651760"/>
            <a:ext cx="640080" cy="0"/>
          </a:xfrm>
          <a:prstGeom prst="line">
            <a:avLst/>
          </a:prstGeom>
          <a:noFill/>
          <a:ln w="15240">
            <a:solidFill>
              <a:srgbClr val="D7E0EA"/>
            </a:solidFill>
            <a:prstDash val="solid"/>
            <a:headEnd type="none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7909560" y="2651760"/>
            <a:ext cx="640080" cy="0"/>
          </a:xfrm>
          <a:prstGeom prst="line">
            <a:avLst/>
          </a:prstGeom>
          <a:noFill/>
          <a:ln w="15240">
            <a:solidFill>
              <a:srgbClr val="D7E0EA"/>
            </a:solidFill>
            <a:prstDash val="solid"/>
            <a:headEnd type="none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6812280" y="3749040"/>
            <a:ext cx="0" cy="594360"/>
          </a:xfrm>
          <a:prstGeom prst="line">
            <a:avLst/>
          </a:prstGeom>
          <a:noFill/>
          <a:ln w="15240">
            <a:solidFill>
              <a:srgbClr val="D7E0EA"/>
            </a:solidFill>
            <a:prstDash val="solid"/>
            <a:headEnd type="none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3611880" y="3749040"/>
            <a:ext cx="0" cy="594360"/>
          </a:xfrm>
          <a:prstGeom prst="line">
            <a:avLst/>
          </a:prstGeom>
          <a:noFill/>
          <a:ln w="15240">
            <a:solidFill>
              <a:srgbClr val="D7E0EA"/>
            </a:solidFill>
            <a:prstDash val="solid"/>
            <a:headEnd type="none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731520" y="1965960"/>
            <a:ext cx="187452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524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731520" y="1965960"/>
            <a:ext cx="1874520" cy="3017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2960" y="2039112"/>
            <a:ext cx="1691640" cy="1097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members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841248" y="2368296"/>
            <a:ext cx="1655064" cy="9052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670" dirty="0">
                <a:solidFill>
                  <a:srgbClr val="1220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PK 成員編號</a:t>
            </a:r>
            <a:endParaRPr lang="en-US" sz="670" dirty="0"/>
          </a:p>
          <a:p>
            <a:pPr algn="l" indent="0" marL="0">
              <a:buNone/>
            </a:pPr>
            <a:r>
              <a:rPr lang="en-US" sz="670" dirty="0">
                <a:solidFill>
                  <a:srgbClr val="1220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platform_user_id</a:t>
            </a:r>
            <a:endParaRPr lang="en-US" sz="670" dirty="0"/>
          </a:p>
          <a:p>
            <a:pPr algn="l" indent="0" marL="0">
              <a:buNone/>
            </a:pPr>
            <a:r>
              <a:rPr lang="en-US" sz="670" dirty="0">
                <a:solidFill>
                  <a:srgbClr val="1220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帳號／暱稱</a:t>
            </a:r>
            <a:endParaRPr lang="en-US" sz="670" dirty="0"/>
          </a:p>
        </p:txBody>
      </p:sp>
      <p:sp>
        <p:nvSpPr>
          <p:cNvPr id="21" name="Shape 19"/>
          <p:cNvSpPr/>
          <p:nvPr/>
        </p:nvSpPr>
        <p:spPr>
          <a:xfrm>
            <a:off x="3246120" y="1874520"/>
            <a:ext cx="2011680" cy="1627632"/>
          </a:xfrm>
          <a:prstGeom prst="roundRect">
            <a:avLst>
              <a:gd name="adj" fmla="val 6742"/>
            </a:avLst>
          </a:prstGeom>
          <a:solidFill>
            <a:srgbClr val="FFFFFF"/>
          </a:solidFill>
          <a:ln w="15240">
            <a:solidFill>
              <a:srgbClr val="059669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246120" y="1874520"/>
            <a:ext cx="2011680" cy="301752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>
                <a:alpha val="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337560" y="1947672"/>
            <a:ext cx="1828800" cy="1097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team_posts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3355848" y="2276856"/>
            <a:ext cx="1792224" cy="11155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670" dirty="0">
                <a:solidFill>
                  <a:srgbClr val="1220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PK 公告編號</a:t>
            </a:r>
            <a:endParaRPr lang="en-US" sz="670" dirty="0"/>
          </a:p>
          <a:p>
            <a:pPr algn="l" indent="0" marL="0">
              <a:buNone/>
            </a:pPr>
            <a:r>
              <a:rPr lang="en-US" sz="670" dirty="0">
                <a:solidFill>
                  <a:srgbClr val="1220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FK 發文者</a:t>
            </a:r>
            <a:endParaRPr lang="en-US" sz="670" dirty="0"/>
          </a:p>
          <a:p>
            <a:pPr algn="l" indent="0" marL="0">
              <a:buNone/>
            </a:pPr>
            <a:r>
              <a:rPr lang="en-US" sz="670" dirty="0">
                <a:solidFill>
                  <a:srgbClr val="1220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game_id / mode_id</a:t>
            </a:r>
            <a:endParaRPr lang="en-US" sz="670" dirty="0"/>
          </a:p>
          <a:p>
            <a:pPr algn="l" indent="0" marL="0">
              <a:buNone/>
            </a:pPr>
            <a:r>
              <a:rPr lang="en-US" sz="670" dirty="0">
                <a:solidFill>
                  <a:srgbClr val="1220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room_id</a:t>
            </a:r>
            <a:endParaRPr lang="en-US" sz="670" dirty="0"/>
          </a:p>
          <a:p>
            <a:pPr algn="l" indent="0" marL="0">
              <a:buNone/>
            </a:pPr>
            <a:r>
              <a:rPr lang="en-US" sz="670" dirty="0">
                <a:solidFill>
                  <a:srgbClr val="1220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狀態</a:t>
            </a:r>
            <a:endParaRPr lang="en-US" sz="670" dirty="0"/>
          </a:p>
        </p:txBody>
      </p:sp>
      <p:sp>
        <p:nvSpPr>
          <p:cNvPr id="25" name="Shape 23"/>
          <p:cNvSpPr/>
          <p:nvPr/>
        </p:nvSpPr>
        <p:spPr>
          <a:xfrm>
            <a:off x="5897880" y="1874520"/>
            <a:ext cx="2011680" cy="1627632"/>
          </a:xfrm>
          <a:prstGeom prst="roundRect">
            <a:avLst>
              <a:gd name="adj" fmla="val 6742"/>
            </a:avLst>
          </a:prstGeom>
          <a:solidFill>
            <a:srgbClr val="FFFFFF"/>
          </a:solidFill>
          <a:ln w="15240">
            <a:solidFill>
              <a:srgbClr val="059669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5897880" y="1874520"/>
            <a:ext cx="2011680" cy="301752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>
                <a:alpha val="0"/>
              </a:srgbClr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89320" y="1947672"/>
            <a:ext cx="1828800" cy="1097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join_requests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6007608" y="2276856"/>
            <a:ext cx="1792224" cy="11155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670" dirty="0">
                <a:solidFill>
                  <a:srgbClr val="1220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PK 申請編號</a:t>
            </a:r>
            <a:endParaRPr lang="en-US" sz="670" dirty="0"/>
          </a:p>
          <a:p>
            <a:pPr algn="l" indent="0" marL="0">
              <a:buNone/>
            </a:pPr>
            <a:r>
              <a:rPr lang="en-US" sz="670" dirty="0">
                <a:solidFill>
                  <a:srgbClr val="1220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FK 公告</a:t>
            </a:r>
            <a:endParaRPr lang="en-US" sz="670" dirty="0"/>
          </a:p>
          <a:p>
            <a:pPr algn="l" indent="0" marL="0">
              <a:buNone/>
            </a:pPr>
            <a:r>
              <a:rPr lang="en-US" sz="670" dirty="0">
                <a:solidFill>
                  <a:srgbClr val="1220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FK 申請者</a:t>
            </a:r>
            <a:endParaRPr lang="en-US" sz="670" dirty="0"/>
          </a:p>
          <a:p>
            <a:pPr algn="l" indent="0" marL="0">
              <a:buNone/>
            </a:pPr>
            <a:r>
              <a:rPr lang="en-US" sz="670" dirty="0">
                <a:solidFill>
                  <a:srgbClr val="1220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狀態／訊息</a:t>
            </a:r>
            <a:endParaRPr lang="en-US" sz="670" dirty="0"/>
          </a:p>
        </p:txBody>
      </p:sp>
      <p:sp>
        <p:nvSpPr>
          <p:cNvPr id="29" name="Shape 27"/>
          <p:cNvSpPr/>
          <p:nvPr/>
        </p:nvSpPr>
        <p:spPr>
          <a:xfrm>
            <a:off x="8549640" y="1965960"/>
            <a:ext cx="187452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5240">
            <a:solidFill>
              <a:srgbClr val="D97706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8549640" y="1965960"/>
            <a:ext cx="1874520" cy="30175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>
                <a:alpha val="0"/>
              </a:srgbClr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641080" y="2039112"/>
            <a:ext cx="1691640" cy="1097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notifications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8659368" y="2368296"/>
            <a:ext cx="1655064" cy="9052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670" dirty="0">
                <a:solidFill>
                  <a:srgbClr val="1220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PK 通知編號</a:t>
            </a:r>
            <a:endParaRPr lang="en-US" sz="670" dirty="0"/>
          </a:p>
          <a:p>
            <a:pPr algn="l" indent="0" marL="0">
              <a:buNone/>
            </a:pPr>
            <a:r>
              <a:rPr lang="en-US" sz="670" dirty="0">
                <a:solidFill>
                  <a:srgbClr val="1220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接收者</a:t>
            </a:r>
            <a:endParaRPr lang="en-US" sz="670" dirty="0"/>
          </a:p>
          <a:p>
            <a:pPr algn="l" indent="0" marL="0">
              <a:buNone/>
            </a:pPr>
            <a:r>
              <a:rPr lang="en-US" sz="670" dirty="0">
                <a:solidFill>
                  <a:srgbClr val="1220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分類／內容</a:t>
            </a:r>
            <a:endParaRPr lang="en-US" sz="670" dirty="0"/>
          </a:p>
          <a:p>
            <a:pPr algn="l" indent="0" marL="0">
              <a:buNone/>
            </a:pPr>
            <a:r>
              <a:rPr lang="en-US" sz="670" dirty="0">
                <a:solidFill>
                  <a:srgbClr val="1220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是否已讀</a:t>
            </a:r>
            <a:endParaRPr lang="en-US" sz="670" dirty="0"/>
          </a:p>
        </p:txBody>
      </p:sp>
      <p:sp>
        <p:nvSpPr>
          <p:cNvPr id="33" name="Shape 31"/>
          <p:cNvSpPr/>
          <p:nvPr/>
        </p:nvSpPr>
        <p:spPr>
          <a:xfrm>
            <a:off x="5897880" y="4343400"/>
            <a:ext cx="1828800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5240">
            <a:solidFill>
              <a:srgbClr val="7C3AED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5897880" y="4343400"/>
            <a:ext cx="1828800" cy="30175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>
                <a:alpha val="0"/>
              </a:srgbClr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989320" y="4416552"/>
            <a:ext cx="1645920" cy="1097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rooms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6007608" y="4745736"/>
            <a:ext cx="1609344" cy="4480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670" dirty="0">
                <a:solidFill>
                  <a:srgbClr val="1220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room_id</a:t>
            </a:r>
            <a:endParaRPr lang="en-US" sz="670" dirty="0"/>
          </a:p>
          <a:p>
            <a:pPr algn="l" indent="0" marL="0">
              <a:buNone/>
            </a:pPr>
            <a:r>
              <a:rPr lang="en-US" sz="670" dirty="0">
                <a:solidFill>
                  <a:srgbClr val="1220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WAITING / PLAYING / FINISHED</a:t>
            </a:r>
            <a:endParaRPr lang="en-US" sz="670" dirty="0"/>
          </a:p>
        </p:txBody>
      </p:sp>
      <p:sp>
        <p:nvSpPr>
          <p:cNvPr id="37" name="Shape 35"/>
          <p:cNvSpPr/>
          <p:nvPr/>
        </p:nvSpPr>
        <p:spPr>
          <a:xfrm>
            <a:off x="2697480" y="4343400"/>
            <a:ext cx="1828800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5240">
            <a:solidFill>
              <a:srgbClr val="06B6D4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2697480" y="4343400"/>
            <a:ext cx="1828800" cy="301752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>
                <a:alpha val="0"/>
              </a:srgbClr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788920" y="4416552"/>
            <a:ext cx="1645920" cy="1097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Chat Channel</a:t>
            </a:r>
            <a:endParaRPr lang="en-US" sz="850" dirty="0"/>
          </a:p>
        </p:txBody>
      </p:sp>
      <p:sp>
        <p:nvSpPr>
          <p:cNvPr id="40" name="Text 38"/>
          <p:cNvSpPr/>
          <p:nvPr/>
        </p:nvSpPr>
        <p:spPr>
          <a:xfrm>
            <a:off x="2807208" y="4745736"/>
            <a:ext cx="1609344" cy="4480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670" dirty="0">
                <a:solidFill>
                  <a:srgbClr val="1220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roomId → WebSocket sessions</a:t>
            </a:r>
            <a:endParaRPr lang="en-US" sz="670" dirty="0"/>
          </a:p>
          <a:p>
            <a:pPr algn="l" indent="0" marL="0">
              <a:buNone/>
            </a:pPr>
            <a:r>
              <a:rPr lang="en-US" sz="670" dirty="0">
                <a:solidFill>
                  <a:srgbClr val="1220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ROOM_FINISHED 後關閉</a:t>
            </a:r>
            <a:endParaRPr lang="en-US" sz="670" dirty="0"/>
          </a:p>
        </p:txBody>
      </p:sp>
      <p:sp>
        <p:nvSpPr>
          <p:cNvPr id="41" name="Shape 39"/>
          <p:cNvSpPr/>
          <p:nvPr/>
        </p:nvSpPr>
        <p:spPr>
          <a:xfrm>
            <a:off x="8321040" y="4407408"/>
            <a:ext cx="2468880" cy="877824"/>
          </a:xfrm>
          <a:prstGeom prst="roundRect">
            <a:avLst>
              <a:gd name="adj" fmla="val 12500"/>
            </a:avLst>
          </a:prstGeom>
          <a:solidFill>
            <a:srgbClr val="FFFBEB"/>
          </a:solidFill>
          <a:ln w="10160">
            <a:solidFill>
              <a:srgbClr val="D97706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8549640" y="4572000"/>
            <a:ext cx="2011680" cy="1645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940" b="1" dirty="0">
                <a:solidFill>
                  <a:srgbClr val="D9770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事件串接</a:t>
            </a:r>
            <a:endParaRPr lang="en-US" sz="940" dirty="0"/>
          </a:p>
        </p:txBody>
      </p:sp>
      <p:sp>
        <p:nvSpPr>
          <p:cNvPr id="43" name="Text 41"/>
          <p:cNvSpPr/>
          <p:nvPr/>
        </p:nvSpPr>
        <p:spPr>
          <a:xfrm>
            <a:off x="8549640" y="4846320"/>
            <a:ext cx="192024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760" dirty="0">
                <a:solidFill>
                  <a:srgbClr val="1220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RoomFinishedEvent 讓 Chat 不必理解 Poker 規則。</a:t>
            </a:r>
            <a:endParaRPr lang="en-US" sz="76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 w="12700">
            <a:solidFill>
              <a:srgbClr val="F7FAFC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292840" y="0"/>
            <a:ext cx="896112" cy="6858000"/>
          </a:xfrm>
          <a:prstGeom prst="rect">
            <a:avLst/>
          </a:prstGeom>
          <a:solidFill>
            <a:srgbClr val="EAF7FB">
              <a:alpha val="85000"/>
            </a:srgbClr>
          </a:solidFill>
          <a:ln w="12700">
            <a:solidFill>
              <a:srgbClr val="EAF7FB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94360" y="384048"/>
            <a:ext cx="310896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2563E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CROSS-MODULE SEQUENCE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594360" y="640080"/>
            <a:ext cx="9784080" cy="4389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02A4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核心資料流：組隊完成後建立房間，並由 WebSocket 同步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94360" y="1170432"/>
            <a:ext cx="960120" cy="0"/>
          </a:xfrm>
          <a:prstGeom prst="line">
            <a:avLst/>
          </a:prstGeom>
          <a:noFill/>
          <a:ln w="27940">
            <a:solidFill>
              <a:srgbClr val="2563E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94360" y="6510528"/>
            <a:ext cx="10744200" cy="0"/>
          </a:xfrm>
          <a:prstGeom prst="line">
            <a:avLst/>
          </a:prstGeom>
          <a:noFill/>
          <a:ln w="6350">
            <a:solidFill>
              <a:srgbClr val="D7E0E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94360" y="6565392"/>
            <a:ext cx="283464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b="1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GAMEPLATFORM · 小組專題成果報告</a:t>
            </a:r>
            <a:endParaRPr lang="en-US" sz="680" dirty="0"/>
          </a:p>
        </p:txBody>
      </p:sp>
      <p:sp>
        <p:nvSpPr>
          <p:cNvPr id="10" name="Text 8"/>
          <p:cNvSpPr/>
          <p:nvPr/>
        </p:nvSpPr>
        <p:spPr>
          <a:xfrm>
            <a:off x="10927080" y="6565392"/>
            <a:ext cx="41148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11</a:t>
            </a:r>
            <a:endParaRPr lang="en-US" sz="680" dirty="0"/>
          </a:p>
        </p:txBody>
      </p:sp>
      <p:sp>
        <p:nvSpPr>
          <p:cNvPr id="11" name="Text 9"/>
          <p:cNvSpPr/>
          <p:nvPr/>
        </p:nvSpPr>
        <p:spPr>
          <a:xfrm>
            <a:off x="731520" y="1316736"/>
            <a:ext cx="1024128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08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以一次組隊成功流程說明多模組合作：資料先寫入 SQLite，再透過 WebSocket 推送最新房間與通知。</a:t>
            </a:r>
            <a:endParaRPr lang="en-US" sz="1080" dirty="0"/>
          </a:p>
        </p:txBody>
      </p:sp>
      <p:sp>
        <p:nvSpPr>
          <p:cNvPr id="12" name="Shape 10"/>
          <p:cNvSpPr/>
          <p:nvPr/>
        </p:nvSpPr>
        <p:spPr>
          <a:xfrm>
            <a:off x="594360" y="1965960"/>
            <a:ext cx="1417320" cy="713232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3970">
            <a:solidFill>
              <a:srgbClr val="2563E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40664" y="2084832"/>
            <a:ext cx="1124712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2563E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Board UI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740664" y="2350008"/>
            <a:ext cx="1124712" cy="23774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77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公告／申請操作</a:t>
            </a:r>
            <a:endParaRPr lang="en-US" sz="770" dirty="0"/>
          </a:p>
        </p:txBody>
      </p:sp>
      <p:sp>
        <p:nvSpPr>
          <p:cNvPr id="15" name="Shape 13"/>
          <p:cNvSpPr/>
          <p:nvPr/>
        </p:nvSpPr>
        <p:spPr>
          <a:xfrm>
            <a:off x="2011680" y="2322576"/>
            <a:ext cx="457200" cy="0"/>
          </a:xfrm>
          <a:prstGeom prst="line">
            <a:avLst/>
          </a:prstGeom>
          <a:noFill/>
          <a:ln w="15240">
            <a:solidFill>
              <a:srgbClr val="D7E0EA"/>
            </a:solidFill>
            <a:prstDash val="solid"/>
            <a:headEnd type="none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2468880" y="1965960"/>
            <a:ext cx="1417320" cy="713232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3970">
            <a:solidFill>
              <a:srgbClr val="2563E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615184" y="2084832"/>
            <a:ext cx="1124712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2563E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Controller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2615184" y="2350008"/>
            <a:ext cx="1124712" cy="23774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77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接收請求</a:t>
            </a:r>
            <a:endParaRPr lang="en-US" sz="770" dirty="0"/>
          </a:p>
        </p:txBody>
      </p:sp>
      <p:sp>
        <p:nvSpPr>
          <p:cNvPr id="19" name="Shape 17"/>
          <p:cNvSpPr/>
          <p:nvPr/>
        </p:nvSpPr>
        <p:spPr>
          <a:xfrm>
            <a:off x="3886200" y="2322576"/>
            <a:ext cx="457200" cy="0"/>
          </a:xfrm>
          <a:prstGeom prst="line">
            <a:avLst/>
          </a:prstGeom>
          <a:noFill/>
          <a:ln w="15240">
            <a:solidFill>
              <a:srgbClr val="D7E0EA"/>
            </a:solidFill>
            <a:prstDash val="solid"/>
            <a:headEnd type="none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4343400" y="1965960"/>
            <a:ext cx="1417320" cy="713232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3970">
            <a:solidFill>
              <a:srgbClr val="059669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489704" y="2084832"/>
            <a:ext cx="1124712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05966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Board Service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4489704" y="2350008"/>
            <a:ext cx="1124712" cy="23774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77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審核與滿員判斷</a:t>
            </a:r>
            <a:endParaRPr lang="en-US" sz="770" dirty="0"/>
          </a:p>
        </p:txBody>
      </p:sp>
      <p:sp>
        <p:nvSpPr>
          <p:cNvPr id="23" name="Shape 21"/>
          <p:cNvSpPr/>
          <p:nvPr/>
        </p:nvSpPr>
        <p:spPr>
          <a:xfrm>
            <a:off x="5760720" y="2322576"/>
            <a:ext cx="457200" cy="0"/>
          </a:xfrm>
          <a:prstGeom prst="line">
            <a:avLst/>
          </a:prstGeom>
          <a:noFill/>
          <a:ln w="15240">
            <a:solidFill>
              <a:srgbClr val="D7E0EA"/>
            </a:solidFill>
            <a:prstDash val="solid"/>
            <a:headEnd type="none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6217920" y="1965960"/>
            <a:ext cx="1417320" cy="713232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3970">
            <a:solidFill>
              <a:srgbClr val="7C3AED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364224" y="2084832"/>
            <a:ext cx="1124712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7C3AE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Game Management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6364224" y="2350008"/>
            <a:ext cx="1124712" cy="23774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77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驗證遊戲與模式</a:t>
            </a:r>
            <a:endParaRPr lang="en-US" sz="770" dirty="0"/>
          </a:p>
        </p:txBody>
      </p:sp>
      <p:sp>
        <p:nvSpPr>
          <p:cNvPr id="27" name="Shape 25"/>
          <p:cNvSpPr/>
          <p:nvPr/>
        </p:nvSpPr>
        <p:spPr>
          <a:xfrm>
            <a:off x="7635240" y="2322576"/>
            <a:ext cx="457200" cy="0"/>
          </a:xfrm>
          <a:prstGeom prst="line">
            <a:avLst/>
          </a:prstGeom>
          <a:noFill/>
          <a:ln w="15240">
            <a:solidFill>
              <a:srgbClr val="D7E0EA"/>
            </a:solidFill>
            <a:prstDash val="solid"/>
            <a:headEnd type="none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8092440" y="1965960"/>
            <a:ext cx="1417320" cy="713232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3970">
            <a:solidFill>
              <a:srgbClr val="059669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238744" y="2084832"/>
            <a:ext cx="1124712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05966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Lobby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8238744" y="2350008"/>
            <a:ext cx="1124712" cy="23774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77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建立 Room</a:t>
            </a:r>
            <a:endParaRPr lang="en-US" sz="770" dirty="0"/>
          </a:p>
        </p:txBody>
      </p:sp>
      <p:sp>
        <p:nvSpPr>
          <p:cNvPr id="31" name="Shape 29"/>
          <p:cNvSpPr/>
          <p:nvPr/>
        </p:nvSpPr>
        <p:spPr>
          <a:xfrm>
            <a:off x="9509760" y="2322576"/>
            <a:ext cx="457200" cy="0"/>
          </a:xfrm>
          <a:prstGeom prst="line">
            <a:avLst/>
          </a:prstGeom>
          <a:noFill/>
          <a:ln w="15240">
            <a:solidFill>
              <a:srgbClr val="D7E0EA"/>
            </a:solidFill>
            <a:prstDash val="solid"/>
            <a:headEnd type="none"/>
            <a:tailEnd type="triangle"/>
          </a:ln>
        </p:spPr>
      </p:sp>
      <p:sp>
        <p:nvSpPr>
          <p:cNvPr id="32" name="Shape 30"/>
          <p:cNvSpPr/>
          <p:nvPr/>
        </p:nvSpPr>
        <p:spPr>
          <a:xfrm>
            <a:off x="9966960" y="1965960"/>
            <a:ext cx="1417320" cy="713232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3970">
            <a:solidFill>
              <a:srgbClr val="D97706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0113264" y="2084832"/>
            <a:ext cx="1124712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D9770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Game Page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10113264" y="2350008"/>
            <a:ext cx="1124712" cy="23774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77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開啟 frontendPath</a:t>
            </a:r>
            <a:endParaRPr lang="en-US" sz="770" dirty="0"/>
          </a:p>
        </p:txBody>
      </p:sp>
      <p:sp>
        <p:nvSpPr>
          <p:cNvPr id="35" name="Shape 33"/>
          <p:cNvSpPr/>
          <p:nvPr/>
        </p:nvSpPr>
        <p:spPr>
          <a:xfrm>
            <a:off x="868680" y="3675888"/>
            <a:ext cx="4983480" cy="1005840"/>
          </a:xfrm>
          <a:prstGeom prst="roundRect">
            <a:avLst>
              <a:gd name="adj" fmla="val 10909"/>
            </a:avLst>
          </a:prstGeom>
          <a:solidFill>
            <a:srgbClr val="E0F2FE"/>
          </a:solidFill>
          <a:ln w="10160">
            <a:solidFill>
              <a:srgbClr val="06B6D4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143000" y="3977640"/>
            <a:ext cx="914400" cy="1645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960" b="1" dirty="0">
                <a:solidFill>
                  <a:srgbClr val="2563E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資料交易</a:t>
            </a:r>
            <a:endParaRPr lang="en-US" sz="960" dirty="0"/>
          </a:p>
        </p:txBody>
      </p:sp>
      <p:sp>
        <p:nvSpPr>
          <p:cNvPr id="37" name="Text 35"/>
          <p:cNvSpPr/>
          <p:nvPr/>
        </p:nvSpPr>
        <p:spPr>
          <a:xfrm>
            <a:off x="2011680" y="3931920"/>
            <a:ext cx="3291840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920" dirty="0">
                <a:solidFill>
                  <a:srgbClr val="1220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審核成功 → 建立 Room → 保存 roomId、players、status</a:t>
            </a:r>
            <a:endParaRPr lang="en-US" sz="920" dirty="0"/>
          </a:p>
        </p:txBody>
      </p:sp>
      <p:sp>
        <p:nvSpPr>
          <p:cNvPr id="38" name="Shape 36"/>
          <p:cNvSpPr/>
          <p:nvPr/>
        </p:nvSpPr>
        <p:spPr>
          <a:xfrm>
            <a:off x="6355080" y="3675888"/>
            <a:ext cx="4480560" cy="1005840"/>
          </a:xfrm>
          <a:prstGeom prst="roundRect">
            <a:avLst>
              <a:gd name="adj" fmla="val 10909"/>
            </a:avLst>
          </a:prstGeom>
          <a:solidFill>
            <a:srgbClr val="ECFDF5"/>
          </a:solidFill>
          <a:ln w="10160">
            <a:solidFill>
              <a:srgbClr val="059669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629400" y="3977640"/>
            <a:ext cx="914400" cy="1645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960" b="1" dirty="0">
                <a:solidFill>
                  <a:srgbClr val="05966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即時同步</a:t>
            </a:r>
            <a:endParaRPr lang="en-US" sz="960" dirty="0"/>
          </a:p>
        </p:txBody>
      </p:sp>
      <p:sp>
        <p:nvSpPr>
          <p:cNvPr id="40" name="Text 38"/>
          <p:cNvSpPr/>
          <p:nvPr/>
        </p:nvSpPr>
        <p:spPr>
          <a:xfrm>
            <a:off x="7479792" y="3931920"/>
            <a:ext cx="2834640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920" dirty="0">
                <a:solidFill>
                  <a:srgbClr val="1220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Room WebSocket 推送玩家名單、等待室狀態與房間結束事件</a:t>
            </a:r>
            <a:endParaRPr lang="en-US" sz="920" dirty="0"/>
          </a:p>
        </p:txBody>
      </p:sp>
      <p:sp>
        <p:nvSpPr>
          <p:cNvPr id="41" name="Shape 39"/>
          <p:cNvSpPr/>
          <p:nvPr/>
        </p:nvSpPr>
        <p:spPr>
          <a:xfrm>
            <a:off x="1051560" y="5376672"/>
            <a:ext cx="9875520" cy="0"/>
          </a:xfrm>
          <a:prstGeom prst="line">
            <a:avLst/>
          </a:prstGeom>
          <a:noFill/>
          <a:ln w="12700">
            <a:solidFill>
              <a:srgbClr val="D7E0EA"/>
            </a:solidFill>
            <a:prstDash val="solid"/>
            <a:headEnd type="triangle"/>
            <a:tailEnd type="triangle"/>
          </a:ln>
        </p:spPr>
      </p:sp>
      <p:sp>
        <p:nvSpPr>
          <p:cNvPr id="42" name="Text 40"/>
          <p:cNvSpPr/>
          <p:nvPr/>
        </p:nvSpPr>
        <p:spPr>
          <a:xfrm>
            <a:off x="3154680" y="5266944"/>
            <a:ext cx="5669280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雙向狀態：使用者操作寫回後端；後端事件再推回前端畫面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 w="12700">
            <a:solidFill>
              <a:srgbClr val="F7FAFC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292840" y="0"/>
            <a:ext cx="896112" cy="6858000"/>
          </a:xfrm>
          <a:prstGeom prst="rect">
            <a:avLst/>
          </a:prstGeom>
          <a:solidFill>
            <a:srgbClr val="EAF7FB">
              <a:alpha val="85000"/>
            </a:srgbClr>
          </a:solidFill>
          <a:ln w="12700">
            <a:solidFill>
              <a:srgbClr val="EAF7FB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94360" y="384048"/>
            <a:ext cx="310896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6B6D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WORKING PRODUCT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594360" y="640080"/>
            <a:ext cx="9784080" cy="4389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02A4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實際產品畫面：從遊戲大廳到房間等待，再進入對局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94360" y="1170432"/>
            <a:ext cx="960120" cy="0"/>
          </a:xfrm>
          <a:prstGeom prst="line">
            <a:avLst/>
          </a:prstGeom>
          <a:noFill/>
          <a:ln w="27940">
            <a:solidFill>
              <a:srgbClr val="06B6D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94360" y="6510528"/>
            <a:ext cx="10744200" cy="0"/>
          </a:xfrm>
          <a:prstGeom prst="line">
            <a:avLst/>
          </a:prstGeom>
          <a:noFill/>
          <a:ln w="6350">
            <a:solidFill>
              <a:srgbClr val="D7E0E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94360" y="6565392"/>
            <a:ext cx="283464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b="1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GAMEPLATFORM · 小組專題成果報告</a:t>
            </a:r>
            <a:endParaRPr lang="en-US" sz="680" dirty="0"/>
          </a:p>
        </p:txBody>
      </p:sp>
      <p:sp>
        <p:nvSpPr>
          <p:cNvPr id="10" name="Text 8"/>
          <p:cNvSpPr/>
          <p:nvPr/>
        </p:nvSpPr>
        <p:spPr>
          <a:xfrm>
            <a:off x="10927080" y="6565392"/>
            <a:ext cx="41148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12</a:t>
            </a:r>
            <a:endParaRPr lang="en-US" sz="680" dirty="0"/>
          </a:p>
        </p:txBody>
      </p:sp>
      <p:sp>
        <p:nvSpPr>
          <p:cNvPr id="11" name="Text 9"/>
          <p:cNvSpPr/>
          <p:nvPr/>
        </p:nvSpPr>
        <p:spPr>
          <a:xfrm>
            <a:off x="731520" y="1316736"/>
            <a:ext cx="1024128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08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所有畫面均由目前專案實際執行後擷取；同一個登入帳號貫穿大廳、房間與遊戲。</a:t>
            </a:r>
            <a:endParaRPr lang="en-US" sz="1080" dirty="0"/>
          </a:p>
        </p:txBody>
      </p:sp>
      <p:sp>
        <p:nvSpPr>
          <p:cNvPr id="12" name="Shape 10"/>
          <p:cNvSpPr/>
          <p:nvPr/>
        </p:nvSpPr>
        <p:spPr>
          <a:xfrm>
            <a:off x="649224" y="1792224"/>
            <a:ext cx="3273552" cy="1874520"/>
          </a:xfrm>
          <a:prstGeom prst="roundRect">
            <a:avLst>
              <a:gd name="adj" fmla="val 5854"/>
            </a:avLst>
          </a:prstGeom>
          <a:solidFill>
            <a:srgbClr val="FFFFFF"/>
          </a:solidFill>
          <a:ln w="10160">
            <a:solidFill>
              <a:srgbClr val="D7E0EA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pic>
        <p:nvPicPr>
          <p:cNvPr id="13" name="Image 0" descr="/mnt/data/gp3/gammPlatform/PPT/screenshots/02-game-lobby.png">    </p:cNvPr>
          <p:cNvPicPr>
            <a:picLocks noChangeAspect="1"/>
          </p:cNvPicPr>
          <p:nvPr/>
        </p:nvPicPr>
        <p:blipFill>
          <a:blip r:embed="rId1"/>
          <a:srcRect l="32" r="32" t="0" b="0"/>
          <a:stretch/>
        </p:blipFill>
        <p:spPr>
          <a:xfrm>
            <a:off x="685800" y="1828800"/>
            <a:ext cx="3200400" cy="1801368"/>
          </a:xfrm>
          <a:prstGeom prst="rect">
            <a:avLst/>
          </a:prstGeom>
        </p:spPr>
      </p:pic>
      <p:sp>
        <p:nvSpPr>
          <p:cNvPr id="14" name="Shape 11"/>
          <p:cNvSpPr/>
          <p:nvPr/>
        </p:nvSpPr>
        <p:spPr>
          <a:xfrm>
            <a:off x="4398264" y="1792224"/>
            <a:ext cx="3273552" cy="1874520"/>
          </a:xfrm>
          <a:prstGeom prst="roundRect">
            <a:avLst>
              <a:gd name="adj" fmla="val 5854"/>
            </a:avLst>
          </a:prstGeom>
          <a:solidFill>
            <a:srgbClr val="FFFFFF"/>
          </a:solidFill>
          <a:ln w="10160">
            <a:solidFill>
              <a:srgbClr val="D7E0EA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pic>
        <p:nvPicPr>
          <p:cNvPr id="15" name="Image 1" descr="/mnt/data/gp3/gammPlatform/PPT/screenshots/05-lobby-create-room.png">    </p:cNvPr>
          <p:cNvPicPr>
            <a:picLocks noChangeAspect="1"/>
          </p:cNvPicPr>
          <p:nvPr/>
        </p:nvPicPr>
        <p:blipFill>
          <a:blip r:embed="rId2"/>
          <a:srcRect l="32" r="32" t="0" b="0"/>
          <a:stretch/>
        </p:blipFill>
        <p:spPr>
          <a:xfrm>
            <a:off x="4434840" y="1828800"/>
            <a:ext cx="3200400" cy="1801368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8147304" y="1792224"/>
            <a:ext cx="3273552" cy="1874520"/>
          </a:xfrm>
          <a:prstGeom prst="roundRect">
            <a:avLst>
              <a:gd name="adj" fmla="val 5854"/>
            </a:avLst>
          </a:prstGeom>
          <a:solidFill>
            <a:srgbClr val="FFFFFF"/>
          </a:solidFill>
          <a:ln w="10160">
            <a:solidFill>
              <a:srgbClr val="D7E0EA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pic>
        <p:nvPicPr>
          <p:cNvPr id="17" name="Image 2" descr="/mnt/data/gp3/gammPlatform/PPT/screenshots/06-waiting-room.png">    </p:cNvPr>
          <p:cNvPicPr>
            <a:picLocks noChangeAspect="1"/>
          </p:cNvPicPr>
          <p:nvPr/>
        </p:nvPicPr>
        <p:blipFill>
          <a:blip r:embed="rId3"/>
          <a:srcRect l="32" r="32" t="0" b="0"/>
          <a:stretch/>
        </p:blipFill>
        <p:spPr>
          <a:xfrm>
            <a:off x="8183880" y="1828800"/>
            <a:ext cx="3200400" cy="1801368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914400" y="3858768"/>
            <a:ext cx="1463040" cy="1645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940" b="1" dirty="0">
                <a:solidFill>
                  <a:srgbClr val="2563E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01 遊戲大廳</a:t>
            </a:r>
            <a:endParaRPr lang="en-US" sz="940" dirty="0"/>
          </a:p>
        </p:txBody>
      </p:sp>
      <p:sp>
        <p:nvSpPr>
          <p:cNvPr id="19" name="Text 14"/>
          <p:cNvSpPr/>
          <p:nvPr/>
        </p:nvSpPr>
        <p:spPr>
          <a:xfrm>
            <a:off x="914400" y="4096512"/>
            <a:ext cx="2011680" cy="14630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選擇遊戲與模式入口</a:t>
            </a:r>
            <a:endParaRPr lang="en-US" sz="750" dirty="0"/>
          </a:p>
        </p:txBody>
      </p:sp>
      <p:sp>
        <p:nvSpPr>
          <p:cNvPr id="20" name="Text 15"/>
          <p:cNvSpPr/>
          <p:nvPr/>
        </p:nvSpPr>
        <p:spPr>
          <a:xfrm>
            <a:off x="4663440" y="3858768"/>
            <a:ext cx="1463040" cy="1645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940" b="1" dirty="0">
                <a:solidFill>
                  <a:srgbClr val="7C3AE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02 建立房間</a:t>
            </a:r>
            <a:endParaRPr lang="en-US" sz="940" dirty="0"/>
          </a:p>
        </p:txBody>
      </p:sp>
      <p:sp>
        <p:nvSpPr>
          <p:cNvPr id="21" name="Text 16"/>
          <p:cNvSpPr/>
          <p:nvPr/>
        </p:nvSpPr>
        <p:spPr>
          <a:xfrm>
            <a:off x="4663440" y="4096512"/>
            <a:ext cx="2011680" cy="14630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設定名稱與玩家人數</a:t>
            </a:r>
            <a:endParaRPr lang="en-US" sz="750" dirty="0"/>
          </a:p>
        </p:txBody>
      </p:sp>
      <p:sp>
        <p:nvSpPr>
          <p:cNvPr id="22" name="Text 17"/>
          <p:cNvSpPr/>
          <p:nvPr/>
        </p:nvSpPr>
        <p:spPr>
          <a:xfrm>
            <a:off x="8412480" y="3858768"/>
            <a:ext cx="1463040" cy="1645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940" b="1" dirty="0">
                <a:solidFill>
                  <a:srgbClr val="05966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03 房間等待</a:t>
            </a:r>
            <a:endParaRPr lang="en-US" sz="940" dirty="0"/>
          </a:p>
        </p:txBody>
      </p:sp>
      <p:sp>
        <p:nvSpPr>
          <p:cNvPr id="23" name="Text 18"/>
          <p:cNvSpPr/>
          <p:nvPr/>
        </p:nvSpPr>
        <p:spPr>
          <a:xfrm>
            <a:off x="8412480" y="4096512"/>
            <a:ext cx="2194560" cy="14630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房號、房主、玩家名單同步</a:t>
            </a:r>
            <a:endParaRPr lang="en-US" sz="750" dirty="0"/>
          </a:p>
        </p:txBody>
      </p:sp>
      <p:sp>
        <p:nvSpPr>
          <p:cNvPr id="24" name="Shape 19"/>
          <p:cNvSpPr/>
          <p:nvPr/>
        </p:nvSpPr>
        <p:spPr>
          <a:xfrm>
            <a:off x="2011680" y="4983480"/>
            <a:ext cx="8183880" cy="548640"/>
          </a:xfrm>
          <a:prstGeom prst="roundRect">
            <a:avLst>
              <a:gd name="adj" fmla="val 20000"/>
            </a:avLst>
          </a:prstGeom>
          <a:solidFill>
            <a:srgbClr val="0B1220"/>
          </a:solidFill>
          <a:ln w="10160">
            <a:solidFill>
              <a:srgbClr val="0B1220"/>
            </a:solidFill>
            <a:prstDash val="solid"/>
          </a:ln>
        </p:spPr>
      </p:sp>
      <p:sp>
        <p:nvSpPr>
          <p:cNvPr id="25" name="Text 20"/>
          <p:cNvSpPr/>
          <p:nvPr/>
        </p:nvSpPr>
        <p:spPr>
          <a:xfrm>
            <a:off x="2240280" y="5148072"/>
            <a:ext cx="7726680" cy="1645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970" dirty="0">
                <a:solidFill>
                  <a:srgbClr val="E2E8F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大廳直接建立房間；組隊滿員也會自動建立房間，最後都進入同一個等待室流程。</a:t>
            </a:r>
            <a:endParaRPr lang="en-US" sz="97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 w="12700">
            <a:solidFill>
              <a:srgbClr val="F7FAFC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292840" y="0"/>
            <a:ext cx="896112" cy="6858000"/>
          </a:xfrm>
          <a:prstGeom prst="rect">
            <a:avLst/>
          </a:prstGeom>
          <a:solidFill>
            <a:srgbClr val="EAF7FB">
              <a:alpha val="85000"/>
            </a:srgbClr>
          </a:solidFill>
          <a:ln w="12700">
            <a:solidFill>
              <a:srgbClr val="EAF7FB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94360" y="384048"/>
            <a:ext cx="310896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5966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POKER GAME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594360" y="640080"/>
            <a:ext cx="9784080" cy="4389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02A4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田忌撲克：完成選牌、比牌與三輪結果呈現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94360" y="1170432"/>
            <a:ext cx="960120" cy="0"/>
          </a:xfrm>
          <a:prstGeom prst="line">
            <a:avLst/>
          </a:prstGeom>
          <a:noFill/>
          <a:ln w="27940">
            <a:solidFill>
              <a:srgbClr val="05966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94360" y="6510528"/>
            <a:ext cx="10744200" cy="0"/>
          </a:xfrm>
          <a:prstGeom prst="line">
            <a:avLst/>
          </a:prstGeom>
          <a:noFill/>
          <a:ln w="6350">
            <a:solidFill>
              <a:srgbClr val="D7E0E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94360" y="6565392"/>
            <a:ext cx="283464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b="1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GAMEPLATFORM · 小組專題成果報告</a:t>
            </a:r>
            <a:endParaRPr lang="en-US" sz="680" dirty="0"/>
          </a:p>
        </p:txBody>
      </p:sp>
      <p:sp>
        <p:nvSpPr>
          <p:cNvPr id="10" name="Text 8"/>
          <p:cNvSpPr/>
          <p:nvPr/>
        </p:nvSpPr>
        <p:spPr>
          <a:xfrm>
            <a:off x="10927080" y="6565392"/>
            <a:ext cx="41148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13</a:t>
            </a:r>
            <a:endParaRPr lang="en-US" sz="680" dirty="0"/>
          </a:p>
        </p:txBody>
      </p:sp>
      <p:sp>
        <p:nvSpPr>
          <p:cNvPr id="11" name="Text 9"/>
          <p:cNvSpPr/>
          <p:nvPr/>
        </p:nvSpPr>
        <p:spPr>
          <a:xfrm>
            <a:off x="731520" y="1316736"/>
            <a:ext cx="1024128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08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Poker 頁集中呈現房間資訊、玩家身分、目前輪次、手牌選擇、對手狀態與三輪結果。</a:t>
            </a:r>
            <a:endParaRPr lang="en-US" sz="1080" dirty="0"/>
          </a:p>
        </p:txBody>
      </p:sp>
      <p:sp>
        <p:nvSpPr>
          <p:cNvPr id="12" name="Shape 10"/>
          <p:cNvSpPr/>
          <p:nvPr/>
        </p:nvSpPr>
        <p:spPr>
          <a:xfrm>
            <a:off x="713232" y="1746504"/>
            <a:ext cx="7022592" cy="3986784"/>
          </a:xfrm>
          <a:prstGeom prst="roundRect">
            <a:avLst>
              <a:gd name="adj" fmla="val 2752"/>
            </a:avLst>
          </a:prstGeom>
          <a:solidFill>
            <a:srgbClr val="FFFFFF"/>
          </a:solidFill>
          <a:ln w="10160">
            <a:solidFill>
              <a:srgbClr val="D7E0EA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pic>
        <p:nvPicPr>
          <p:cNvPr id="13" name="Image 0" descr="/mnt/data/gp3/gammPlatform/PPT/screenshots/09-poker-result.png">    </p:cNvPr>
          <p:cNvPicPr>
            <a:picLocks noChangeAspect="1"/>
          </p:cNvPicPr>
          <p:nvPr/>
        </p:nvPicPr>
        <p:blipFill>
          <a:blip r:embed="rId1"/>
          <a:srcRect l="34" r="34" t="0" b="0"/>
          <a:stretch/>
        </p:blipFill>
        <p:spPr>
          <a:xfrm>
            <a:off x="749808" y="1783080"/>
            <a:ext cx="6949440" cy="3913632"/>
          </a:xfrm>
          <a:prstGeom prst="rect">
            <a:avLst/>
          </a:prstGeom>
        </p:spPr>
      </p:pic>
      <p:sp>
        <p:nvSpPr>
          <p:cNvPr id="14" name="Shape 11"/>
          <p:cNvSpPr/>
          <p:nvPr/>
        </p:nvSpPr>
        <p:spPr>
          <a:xfrm>
            <a:off x="8229600" y="1874520"/>
            <a:ext cx="256032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3970">
            <a:solidFill>
              <a:srgbClr val="059669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15" name="Text 12"/>
          <p:cNvSpPr/>
          <p:nvPr/>
        </p:nvSpPr>
        <p:spPr>
          <a:xfrm>
            <a:off x="8375904" y="1993392"/>
            <a:ext cx="2267712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05966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三輪對戰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8375904" y="2258568"/>
            <a:ext cx="2267712" cy="3017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77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 1 輪 3 張牌；第 2、3 輪各 5 張牌。</a:t>
            </a:r>
            <a:endParaRPr lang="en-US" sz="770" dirty="0"/>
          </a:p>
        </p:txBody>
      </p:sp>
      <p:sp>
        <p:nvSpPr>
          <p:cNvPr id="17" name="Shape 14"/>
          <p:cNvSpPr/>
          <p:nvPr/>
        </p:nvSpPr>
        <p:spPr>
          <a:xfrm>
            <a:off x="8229600" y="2880360"/>
            <a:ext cx="256032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3970">
            <a:solidFill>
              <a:srgbClr val="06B6D4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18" name="Text 15"/>
          <p:cNvSpPr/>
          <p:nvPr/>
        </p:nvSpPr>
        <p:spPr>
          <a:xfrm>
            <a:off x="8375904" y="2999232"/>
            <a:ext cx="2267712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06B6D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即時狀態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8375904" y="3264408"/>
            <a:ext cx="2267712" cy="3017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77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房號、連線狀態與玩家名單在畫面中同步。</a:t>
            </a:r>
            <a:endParaRPr lang="en-US" sz="770" dirty="0"/>
          </a:p>
        </p:txBody>
      </p:sp>
      <p:sp>
        <p:nvSpPr>
          <p:cNvPr id="20" name="Shape 17"/>
          <p:cNvSpPr/>
          <p:nvPr/>
        </p:nvSpPr>
        <p:spPr>
          <a:xfrm>
            <a:off x="8229600" y="3886200"/>
            <a:ext cx="256032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3970">
            <a:solidFill>
              <a:srgbClr val="7C3AED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21" name="Text 18"/>
          <p:cNvSpPr/>
          <p:nvPr/>
        </p:nvSpPr>
        <p:spPr>
          <a:xfrm>
            <a:off x="8375904" y="4005072"/>
            <a:ext cx="2267712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7C3AE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自動選牌</a:t>
            </a:r>
            <a:endParaRPr lang="en-US" sz="1050" dirty="0"/>
          </a:p>
        </p:txBody>
      </p:sp>
      <p:sp>
        <p:nvSpPr>
          <p:cNvPr id="22" name="Text 19"/>
          <p:cNvSpPr/>
          <p:nvPr/>
        </p:nvSpPr>
        <p:spPr>
          <a:xfrm>
            <a:off x="8375904" y="4270248"/>
            <a:ext cx="2267712" cy="3017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77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依目前可用手牌計算候選組合，選出最高強度。</a:t>
            </a:r>
            <a:endParaRPr lang="en-US" sz="770" dirty="0"/>
          </a:p>
        </p:txBody>
      </p:sp>
      <p:sp>
        <p:nvSpPr>
          <p:cNvPr id="23" name="Shape 20"/>
          <p:cNvSpPr/>
          <p:nvPr/>
        </p:nvSpPr>
        <p:spPr>
          <a:xfrm>
            <a:off x="8229600" y="4892040"/>
            <a:ext cx="256032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3970">
            <a:solidFill>
              <a:srgbClr val="D97706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24" name="Text 21"/>
          <p:cNvSpPr/>
          <p:nvPr/>
        </p:nvSpPr>
        <p:spPr>
          <a:xfrm>
            <a:off x="8375904" y="5010912"/>
            <a:ext cx="2267712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D9770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結果呈現</a:t>
            </a:r>
            <a:endParaRPr lang="en-US" sz="1050" dirty="0"/>
          </a:p>
        </p:txBody>
      </p:sp>
      <p:sp>
        <p:nvSpPr>
          <p:cNvPr id="25" name="Text 22"/>
          <p:cNvSpPr/>
          <p:nvPr/>
        </p:nvSpPr>
        <p:spPr>
          <a:xfrm>
            <a:off x="8375904" y="5276088"/>
            <a:ext cx="2267712" cy="3017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77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逐輪比較後顯示勝負與最後總結。</a:t>
            </a:r>
            <a:endParaRPr lang="en-US" sz="77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 w="12700">
            <a:solidFill>
              <a:srgbClr val="F7FAFC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E11D48"/>
          </a:solidFill>
          <a:ln w="12700">
            <a:solidFill>
              <a:srgbClr val="E11D48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292840" y="0"/>
            <a:ext cx="896112" cy="6858000"/>
          </a:xfrm>
          <a:prstGeom prst="rect">
            <a:avLst/>
          </a:prstGeom>
          <a:solidFill>
            <a:srgbClr val="EAF7FB">
              <a:alpha val="85000"/>
            </a:srgbClr>
          </a:solidFill>
          <a:ln w="12700">
            <a:solidFill>
              <a:srgbClr val="EAF7FB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94360" y="384048"/>
            <a:ext cx="310896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E11D4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POKER ALGORITHM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594360" y="640080"/>
            <a:ext cx="9784080" cy="4389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02A4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Poker 演算法：把牌型轉成可直接比較的 strength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94360" y="1170432"/>
            <a:ext cx="960120" cy="0"/>
          </a:xfrm>
          <a:prstGeom prst="line">
            <a:avLst/>
          </a:prstGeom>
          <a:noFill/>
          <a:ln w="27940">
            <a:solidFill>
              <a:srgbClr val="E11D4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94360" y="6510528"/>
            <a:ext cx="10744200" cy="0"/>
          </a:xfrm>
          <a:prstGeom prst="line">
            <a:avLst/>
          </a:prstGeom>
          <a:noFill/>
          <a:ln w="6350">
            <a:solidFill>
              <a:srgbClr val="D7E0E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94360" y="6565392"/>
            <a:ext cx="283464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b="1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GAMEPLATFORM · 小組專題成果報告</a:t>
            </a:r>
            <a:endParaRPr lang="en-US" sz="680" dirty="0"/>
          </a:p>
        </p:txBody>
      </p:sp>
      <p:sp>
        <p:nvSpPr>
          <p:cNvPr id="10" name="Text 8"/>
          <p:cNvSpPr/>
          <p:nvPr/>
        </p:nvSpPr>
        <p:spPr>
          <a:xfrm>
            <a:off x="10927080" y="6565392"/>
            <a:ext cx="41148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14</a:t>
            </a:r>
            <a:endParaRPr lang="en-US" sz="680" dirty="0"/>
          </a:p>
        </p:txBody>
      </p:sp>
      <p:sp>
        <p:nvSpPr>
          <p:cNvPr id="11" name="Text 9"/>
          <p:cNvSpPr/>
          <p:nvPr/>
        </p:nvSpPr>
        <p:spPr>
          <a:xfrm>
            <a:off x="731520" y="1298448"/>
            <a:ext cx="1024128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06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修改建議要求恢復撲克牌範例，並直接拆解強度編碼。下例依目前 Round.java：同花 = 5。</a:t>
            </a:r>
            <a:endParaRPr lang="en-US" sz="1060" dirty="0"/>
          </a:p>
        </p:txBody>
      </p:sp>
      <p:pic>
        <p:nvPicPr>
          <p:cNvPr id="12" name="Image 0" descr="/mnt/data/gp3/gammPlatform/backend/src/main/resources/static/assets/Games/poker/cards/card_a_d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7675" y="1901952"/>
            <a:ext cx="503802" cy="731520"/>
          </a:xfrm>
          <a:prstGeom prst="rect">
            <a:avLst/>
          </a:prstGeom>
        </p:spPr>
      </p:pic>
      <p:pic>
        <p:nvPicPr>
          <p:cNvPr id="13" name="Image 1" descr="/mnt/data/gp3/gammPlatform/backend/src/main/resources/static/assets/Games/poker/cards/card_a_d6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31179" y="1901952"/>
            <a:ext cx="503802" cy="731520"/>
          </a:xfrm>
          <a:prstGeom prst="rect">
            <a:avLst/>
          </a:prstGeom>
        </p:spPr>
      </p:pic>
      <p:pic>
        <p:nvPicPr>
          <p:cNvPr id="14" name="Image 2" descr="/mnt/data/gp3/gammPlatform/backend/src/main/resources/static/assets/Games/poker/cards/card_a_d8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34683" y="1901952"/>
            <a:ext cx="503802" cy="731520"/>
          </a:xfrm>
          <a:prstGeom prst="rect">
            <a:avLst/>
          </a:prstGeom>
        </p:spPr>
      </p:pic>
      <p:pic>
        <p:nvPicPr>
          <p:cNvPr id="15" name="Image 3" descr="/mnt/data/gp3/gammPlatform/backend/src/main/resources/static/assets/Games/poker/cards/card_a_d9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38187" y="1901952"/>
            <a:ext cx="503802" cy="731520"/>
          </a:xfrm>
          <a:prstGeom prst="rect">
            <a:avLst/>
          </a:prstGeom>
        </p:spPr>
      </p:pic>
      <p:pic>
        <p:nvPicPr>
          <p:cNvPr id="16" name="Image 4" descr="/mnt/data/gp3/gammPlatform/backend/src/main/resources/static/assets/Games/poker/cards/card_a_dk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41691" y="1901952"/>
            <a:ext cx="503802" cy="731520"/>
          </a:xfrm>
          <a:prstGeom prst="rect">
            <a:avLst/>
          </a:prstGeom>
        </p:spPr>
      </p:pic>
      <p:sp>
        <p:nvSpPr>
          <p:cNvPr id="17" name="Text 10"/>
          <p:cNvSpPr/>
          <p:nvPr/>
        </p:nvSpPr>
        <p:spPr>
          <a:xfrm>
            <a:off x="914400" y="2770632"/>
            <a:ext cx="3566160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920" b="1" dirty="0">
                <a:solidFill>
                  <a:srgbClr val="1220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範例：♦2、♦6、♦8、♦9、♦K = 同花</a:t>
            </a:r>
            <a:endParaRPr lang="en-US" sz="920" dirty="0"/>
          </a:p>
        </p:txBody>
      </p:sp>
      <p:sp>
        <p:nvSpPr>
          <p:cNvPr id="18" name="Shape 11"/>
          <p:cNvSpPr/>
          <p:nvPr/>
        </p:nvSpPr>
        <p:spPr>
          <a:xfrm>
            <a:off x="4709160" y="1783080"/>
            <a:ext cx="6263640" cy="1207008"/>
          </a:xfrm>
          <a:prstGeom prst="roundRect">
            <a:avLst>
              <a:gd name="adj" fmla="val 9091"/>
            </a:avLst>
          </a:prstGeom>
          <a:solidFill>
            <a:srgbClr val="0B1220"/>
          </a:solidFill>
          <a:ln w="10160">
            <a:solidFill>
              <a:srgbClr val="E11D48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19" name="Text 12"/>
          <p:cNvSpPr/>
          <p:nvPr/>
        </p:nvSpPr>
        <p:spPr>
          <a:xfrm>
            <a:off x="4983480" y="2057400"/>
            <a:ext cx="256032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513090806021</a:t>
            </a:r>
            <a:endParaRPr lang="en-US" sz="1800" dirty="0"/>
          </a:p>
        </p:txBody>
      </p:sp>
      <p:sp>
        <p:nvSpPr>
          <p:cNvPr id="20" name="Text 13"/>
          <p:cNvSpPr/>
          <p:nvPr/>
        </p:nvSpPr>
        <p:spPr>
          <a:xfrm>
            <a:off x="7360920" y="2121408"/>
            <a:ext cx="310896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ECAC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 5｜13｜09｜08｜06｜02｜1</a:t>
            </a:r>
            <a:endParaRPr lang="en-US" sz="1150" dirty="0"/>
          </a:p>
        </p:txBody>
      </p:sp>
      <p:sp>
        <p:nvSpPr>
          <p:cNvPr id="21" name="Text 14"/>
          <p:cNvSpPr/>
          <p:nvPr/>
        </p:nvSpPr>
        <p:spPr>
          <a:xfrm>
            <a:off x="7443216" y="2514600"/>
            <a:ext cx="2834640" cy="14630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牌型  K   9   8   6   2  花色</a:t>
            </a:r>
            <a:endParaRPr lang="en-US" sz="750" dirty="0"/>
          </a:p>
        </p:txBody>
      </p:sp>
      <p:sp>
        <p:nvSpPr>
          <p:cNvPr id="22" name="Shape 15"/>
          <p:cNvSpPr/>
          <p:nvPr/>
        </p:nvSpPr>
        <p:spPr>
          <a:xfrm>
            <a:off x="868680" y="3749040"/>
            <a:ext cx="283464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5240">
            <a:solidFill>
              <a:srgbClr val="E11D48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868680" y="3749040"/>
            <a:ext cx="2834640" cy="301752"/>
          </a:xfrm>
          <a:prstGeom prst="rect">
            <a:avLst/>
          </a:prstGeom>
          <a:solidFill>
            <a:srgbClr val="E11D48"/>
          </a:solidFill>
          <a:ln w="12700">
            <a:solidFill>
              <a:srgbClr val="E11D48">
                <a:alpha val="0"/>
              </a:srgbClr>
            </a:solidFill>
            <a:prstDash val="solid"/>
          </a:ln>
        </p:spPr>
      </p:sp>
      <p:sp>
        <p:nvSpPr>
          <p:cNvPr id="24" name="Text 17"/>
          <p:cNvSpPr/>
          <p:nvPr/>
        </p:nvSpPr>
        <p:spPr>
          <a:xfrm>
            <a:off x="960120" y="3822192"/>
            <a:ext cx="2651760" cy="1097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強度編碼</a:t>
            </a:r>
            <a:endParaRPr lang="en-US" sz="850" dirty="0"/>
          </a:p>
        </p:txBody>
      </p:sp>
      <p:sp>
        <p:nvSpPr>
          <p:cNvPr id="25" name="Text 18"/>
          <p:cNvSpPr/>
          <p:nvPr/>
        </p:nvSpPr>
        <p:spPr>
          <a:xfrm>
            <a:off x="978408" y="4151376"/>
            <a:ext cx="2615184" cy="108813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670" dirty="0">
                <a:solidFill>
                  <a:srgbClr val="1220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牌型編號 × 10^11</a:t>
            </a:r>
            <a:endParaRPr lang="en-US" sz="670" dirty="0"/>
          </a:p>
          <a:p>
            <a:pPr algn="l" indent="0" marL="0">
              <a:buNone/>
            </a:pPr>
            <a:r>
              <a:rPr lang="en-US" sz="670" dirty="0">
                <a:solidFill>
                  <a:srgbClr val="1220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主要點數 × 10^9</a:t>
            </a:r>
            <a:endParaRPr lang="en-US" sz="670" dirty="0"/>
          </a:p>
          <a:p>
            <a:pPr algn="l" indent="0" marL="0">
              <a:buNone/>
            </a:pPr>
            <a:r>
              <a:rPr lang="en-US" sz="670" dirty="0">
                <a:solidFill>
                  <a:srgbClr val="1220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次要點數依序往後</a:t>
            </a:r>
            <a:endParaRPr lang="en-US" sz="670" dirty="0"/>
          </a:p>
          <a:p>
            <a:pPr algn="l" indent="0" marL="0">
              <a:buNone/>
            </a:pPr>
            <a:r>
              <a:rPr lang="en-US" sz="670" dirty="0">
                <a:solidFill>
                  <a:srgbClr val="1220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最後加入花色強度</a:t>
            </a:r>
            <a:endParaRPr lang="en-US" sz="670" dirty="0"/>
          </a:p>
          <a:p>
            <a:pPr algn="l" indent="0" marL="0">
              <a:buNone/>
            </a:pPr>
            <a:r>
              <a:rPr lang="en-US" sz="670" dirty="0">
                <a:solidFill>
                  <a:srgbClr val="1220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比較時只需比 long 大小</a:t>
            </a:r>
            <a:endParaRPr lang="en-US" sz="670" dirty="0"/>
          </a:p>
        </p:txBody>
      </p:sp>
      <p:sp>
        <p:nvSpPr>
          <p:cNvPr id="26" name="Shape 19"/>
          <p:cNvSpPr/>
          <p:nvPr/>
        </p:nvSpPr>
        <p:spPr>
          <a:xfrm>
            <a:off x="4069080" y="3749040"/>
            <a:ext cx="283464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5240">
            <a:solidFill>
              <a:srgbClr val="7C3AED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27" name="Shape 20"/>
          <p:cNvSpPr/>
          <p:nvPr/>
        </p:nvSpPr>
        <p:spPr>
          <a:xfrm>
            <a:off x="4069080" y="3749040"/>
            <a:ext cx="2834640" cy="30175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>
                <a:alpha val="0"/>
              </a:srgbClr>
            </a:solidFill>
            <a:prstDash val="solid"/>
          </a:ln>
        </p:spPr>
      </p:sp>
      <p:sp>
        <p:nvSpPr>
          <p:cNvPr id="28" name="Text 21"/>
          <p:cNvSpPr/>
          <p:nvPr/>
        </p:nvSpPr>
        <p:spPr>
          <a:xfrm>
            <a:off x="4160520" y="3822192"/>
            <a:ext cx="2651760" cy="1097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組合搜尋</a:t>
            </a:r>
            <a:endParaRPr lang="en-US" sz="850" dirty="0"/>
          </a:p>
        </p:txBody>
      </p:sp>
      <p:sp>
        <p:nvSpPr>
          <p:cNvPr id="29" name="Text 22"/>
          <p:cNvSpPr/>
          <p:nvPr/>
        </p:nvSpPr>
        <p:spPr>
          <a:xfrm>
            <a:off x="4178808" y="4151376"/>
            <a:ext cx="2615184" cy="108813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670" dirty="0">
                <a:solidFill>
                  <a:srgbClr val="1220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從未使用手牌中列舉 C(n,k)</a:t>
            </a:r>
            <a:endParaRPr lang="en-US" sz="670" dirty="0"/>
          </a:p>
          <a:p>
            <a:pPr algn="l" indent="0" marL="0">
              <a:buNone/>
            </a:pPr>
            <a:r>
              <a:rPr lang="en-US" sz="670" dirty="0">
                <a:solidFill>
                  <a:srgbClr val="1220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每組呼叫 strength(cards)</a:t>
            </a:r>
            <a:endParaRPr lang="en-US" sz="670" dirty="0"/>
          </a:p>
          <a:p>
            <a:pPr algn="l" indent="0" marL="0">
              <a:buNone/>
            </a:pPr>
            <a:r>
              <a:rPr lang="en-US" sz="670" dirty="0">
                <a:solidFill>
                  <a:srgbClr val="1220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保留最高分組合</a:t>
            </a:r>
            <a:endParaRPr lang="en-US" sz="670" dirty="0"/>
          </a:p>
          <a:p>
            <a:pPr algn="l" indent="0" marL="0">
              <a:buNone/>
            </a:pPr>
            <a:r>
              <a:rPr lang="en-US" sz="670" dirty="0">
                <a:solidFill>
                  <a:srgbClr val="1220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依第 3 → 第 2 → 第 1 輪選牌</a:t>
            </a:r>
            <a:endParaRPr lang="en-US" sz="670" dirty="0"/>
          </a:p>
        </p:txBody>
      </p:sp>
      <p:sp>
        <p:nvSpPr>
          <p:cNvPr id="30" name="Shape 23"/>
          <p:cNvSpPr/>
          <p:nvPr/>
        </p:nvSpPr>
        <p:spPr>
          <a:xfrm>
            <a:off x="7269480" y="3749040"/>
            <a:ext cx="283464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5240">
            <a:solidFill>
              <a:srgbClr val="059669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31" name="Shape 24"/>
          <p:cNvSpPr/>
          <p:nvPr/>
        </p:nvSpPr>
        <p:spPr>
          <a:xfrm>
            <a:off x="7269480" y="3749040"/>
            <a:ext cx="2834640" cy="301752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>
                <a:alpha val="0"/>
              </a:srgbClr>
            </a:solidFill>
            <a:prstDash val="solid"/>
          </a:ln>
        </p:spPr>
      </p:sp>
      <p:sp>
        <p:nvSpPr>
          <p:cNvPr id="32" name="Text 25"/>
          <p:cNvSpPr/>
          <p:nvPr/>
        </p:nvSpPr>
        <p:spPr>
          <a:xfrm>
            <a:off x="7360920" y="3822192"/>
            <a:ext cx="2651760" cy="1097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設計優點</a:t>
            </a:r>
            <a:endParaRPr lang="en-US" sz="850" dirty="0"/>
          </a:p>
        </p:txBody>
      </p:sp>
      <p:sp>
        <p:nvSpPr>
          <p:cNvPr id="33" name="Text 26"/>
          <p:cNvSpPr/>
          <p:nvPr/>
        </p:nvSpPr>
        <p:spPr>
          <a:xfrm>
            <a:off x="7379208" y="4151376"/>
            <a:ext cx="2615184" cy="108813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670" dirty="0">
                <a:solidFill>
                  <a:srgbClr val="1220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比大量 if/else 更集中</a:t>
            </a:r>
            <a:endParaRPr lang="en-US" sz="670" dirty="0"/>
          </a:p>
          <a:p>
            <a:pPr algn="l" indent="0" marL="0">
              <a:buNone/>
            </a:pPr>
            <a:r>
              <a:rPr lang="en-US" sz="670" dirty="0">
                <a:solidFill>
                  <a:srgbClr val="1220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牌型規則只在一處維護</a:t>
            </a:r>
            <a:endParaRPr lang="en-US" sz="670" dirty="0"/>
          </a:p>
          <a:p>
            <a:pPr algn="l" indent="0" marL="0">
              <a:buNone/>
            </a:pPr>
            <a:r>
              <a:rPr lang="en-US" sz="670" dirty="0">
                <a:solidFill>
                  <a:srgbClr val="1220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 自動選牌可直接最大化分數</a:t>
            </a:r>
            <a:endParaRPr lang="en-US" sz="670" dirty="0"/>
          </a:p>
          <a:p>
            <a:pPr algn="l" indent="0" marL="0">
              <a:buNone/>
            </a:pPr>
            <a:r>
              <a:rPr lang="en-US" sz="670" dirty="0">
                <a:solidFill>
                  <a:srgbClr val="1220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比較邏輯簡單且可測試</a:t>
            </a:r>
            <a:endParaRPr lang="en-US" sz="67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 w="12700">
            <a:solidFill>
              <a:srgbClr val="F7FAFC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292840" y="0"/>
            <a:ext cx="896112" cy="6858000"/>
          </a:xfrm>
          <a:prstGeom prst="rect">
            <a:avLst/>
          </a:prstGeom>
          <a:solidFill>
            <a:srgbClr val="EAF7FB">
              <a:alpha val="85000"/>
            </a:srgbClr>
          </a:solidFill>
          <a:ln w="12700">
            <a:solidFill>
              <a:srgbClr val="EAF7FB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94360" y="384048"/>
            <a:ext cx="310896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5966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VERIFICATION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594360" y="640080"/>
            <a:ext cx="9784080" cy="4389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02A4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驗證結果：核心流程與測試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94360" y="1170432"/>
            <a:ext cx="960120" cy="0"/>
          </a:xfrm>
          <a:prstGeom prst="line">
            <a:avLst/>
          </a:prstGeom>
          <a:noFill/>
          <a:ln w="27940">
            <a:solidFill>
              <a:srgbClr val="05966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94360" y="6510528"/>
            <a:ext cx="10744200" cy="0"/>
          </a:xfrm>
          <a:prstGeom prst="line">
            <a:avLst/>
          </a:prstGeom>
          <a:noFill/>
          <a:ln w="6350">
            <a:solidFill>
              <a:srgbClr val="D7E0E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94360" y="6565392"/>
            <a:ext cx="283464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b="1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GAMEPLATFORM · 小組專題成果報告</a:t>
            </a:r>
            <a:endParaRPr lang="en-US" sz="680" dirty="0"/>
          </a:p>
        </p:txBody>
      </p:sp>
      <p:sp>
        <p:nvSpPr>
          <p:cNvPr id="10" name="Text 8"/>
          <p:cNvSpPr/>
          <p:nvPr/>
        </p:nvSpPr>
        <p:spPr>
          <a:xfrm>
            <a:off x="10927080" y="6565392"/>
            <a:ext cx="41148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15</a:t>
            </a:r>
            <a:endParaRPr lang="en-US" sz="680" dirty="0"/>
          </a:p>
        </p:txBody>
      </p:sp>
      <p:sp>
        <p:nvSpPr>
          <p:cNvPr id="11" name="Text 9"/>
          <p:cNvSpPr/>
          <p:nvPr/>
        </p:nvSpPr>
        <p:spPr>
          <a:xfrm>
            <a:off x="731520" y="1316736"/>
            <a:ext cx="1024128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08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測試數字用來支撐目前可展示成果；現場展示聚焦於已確認的核心流程與操作結果。</a:t>
            </a:r>
            <a:endParaRPr lang="en-US" sz="1080" dirty="0"/>
          </a:p>
        </p:txBody>
      </p:sp>
      <p:sp>
        <p:nvSpPr>
          <p:cNvPr id="12" name="Shape 10"/>
          <p:cNvSpPr/>
          <p:nvPr/>
        </p:nvSpPr>
        <p:spPr>
          <a:xfrm>
            <a:off x="960120" y="1874520"/>
            <a:ext cx="2880360" cy="1143000"/>
          </a:xfrm>
          <a:prstGeom prst="roundRect">
            <a:avLst>
              <a:gd name="adj" fmla="val 9600"/>
            </a:avLst>
          </a:prstGeom>
          <a:solidFill>
            <a:srgbClr val="FFFFFF"/>
          </a:solidFill>
          <a:ln w="1016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1170432" y="2212848"/>
            <a:ext cx="749808" cy="32918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563E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42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874520" y="2148840"/>
            <a:ext cx="1005840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040" b="1" dirty="0">
                <a:solidFill>
                  <a:srgbClr val="1220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後端測試</a:t>
            </a:r>
            <a:endParaRPr lang="en-US" sz="1040" dirty="0"/>
          </a:p>
        </p:txBody>
      </p:sp>
      <p:sp>
        <p:nvSpPr>
          <p:cNvPr id="15" name="Text 13"/>
          <p:cNvSpPr/>
          <p:nvPr/>
        </p:nvSpPr>
        <p:spPr>
          <a:xfrm>
            <a:off x="1874520" y="2423160"/>
            <a:ext cx="164592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72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Spring · Board · Poker</a:t>
            </a:r>
            <a:endParaRPr lang="en-US" sz="720" dirty="0"/>
          </a:p>
          <a:p>
            <a:pPr algn="l" indent="0" marL="0">
              <a:buNone/>
            </a:pPr>
            <a:r>
              <a:rPr lang="en-US" sz="72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JWT · Game Management</a:t>
            </a:r>
            <a:endParaRPr lang="en-US" sz="720" dirty="0"/>
          </a:p>
        </p:txBody>
      </p:sp>
      <p:sp>
        <p:nvSpPr>
          <p:cNvPr id="16" name="Shape 14"/>
          <p:cNvSpPr/>
          <p:nvPr/>
        </p:nvSpPr>
        <p:spPr>
          <a:xfrm>
            <a:off x="4663440" y="1874520"/>
            <a:ext cx="2880360" cy="1143000"/>
          </a:xfrm>
          <a:prstGeom prst="roundRect">
            <a:avLst>
              <a:gd name="adj" fmla="val 9600"/>
            </a:avLst>
          </a:prstGeom>
          <a:solidFill>
            <a:srgbClr val="FFFFFF"/>
          </a:solidFill>
          <a:ln w="10160">
            <a:solidFill>
              <a:srgbClr val="7C3AED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4873752" y="2212848"/>
            <a:ext cx="749808" cy="32918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7C3AE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16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5577840" y="2148840"/>
            <a:ext cx="1005840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040" b="1" dirty="0">
                <a:solidFill>
                  <a:srgbClr val="1220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前端測試</a:t>
            </a:r>
            <a:endParaRPr lang="en-US" sz="1040" dirty="0"/>
          </a:p>
        </p:txBody>
      </p:sp>
      <p:sp>
        <p:nvSpPr>
          <p:cNvPr id="19" name="Text 17"/>
          <p:cNvSpPr/>
          <p:nvPr/>
        </p:nvSpPr>
        <p:spPr>
          <a:xfrm>
            <a:off x="5577840" y="2423160"/>
            <a:ext cx="164592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72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登入 · 分頁 · 即時連線</a:t>
            </a:r>
            <a:endParaRPr lang="en-US" sz="720" dirty="0"/>
          </a:p>
          <a:p>
            <a:pPr algn="l" indent="0" marL="0">
              <a:buNone/>
            </a:pPr>
            <a:r>
              <a:rPr lang="en-US" sz="72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重新連線</a:t>
            </a:r>
            <a:endParaRPr lang="en-US" sz="720" dirty="0"/>
          </a:p>
        </p:txBody>
      </p:sp>
      <p:sp>
        <p:nvSpPr>
          <p:cNvPr id="20" name="Shape 18"/>
          <p:cNvSpPr/>
          <p:nvPr/>
        </p:nvSpPr>
        <p:spPr>
          <a:xfrm>
            <a:off x="8366760" y="1874520"/>
            <a:ext cx="2880360" cy="1143000"/>
          </a:xfrm>
          <a:prstGeom prst="roundRect">
            <a:avLst>
              <a:gd name="adj" fmla="val 9600"/>
            </a:avLst>
          </a:prstGeom>
          <a:solidFill>
            <a:srgbClr val="FFFFFF"/>
          </a:solidFill>
          <a:ln w="10160">
            <a:solidFill>
              <a:srgbClr val="059669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8577072" y="2212848"/>
            <a:ext cx="749808" cy="32918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05966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58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9281160" y="2148840"/>
            <a:ext cx="1005840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040" b="1" dirty="0">
                <a:solidFill>
                  <a:srgbClr val="1220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合計通過</a:t>
            </a:r>
            <a:endParaRPr lang="en-US" sz="1040" dirty="0"/>
          </a:p>
        </p:txBody>
      </p:sp>
      <p:sp>
        <p:nvSpPr>
          <p:cNvPr id="23" name="Text 21"/>
          <p:cNvSpPr/>
          <p:nvPr/>
        </p:nvSpPr>
        <p:spPr>
          <a:xfrm>
            <a:off x="9281160" y="2423160"/>
            <a:ext cx="164592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72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 failure · 0 error</a:t>
            </a:r>
            <a:endParaRPr lang="en-US" sz="720" dirty="0"/>
          </a:p>
          <a:p>
            <a:pPr algn="l" indent="0" marL="0">
              <a:buNone/>
            </a:pPr>
            <a:r>
              <a:rPr lang="en-US" sz="72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 skipped</a:t>
            </a:r>
            <a:endParaRPr lang="en-US" sz="720" dirty="0"/>
          </a:p>
        </p:txBody>
      </p:sp>
      <p:sp>
        <p:nvSpPr>
          <p:cNvPr id="24" name="Shape 22"/>
          <p:cNvSpPr/>
          <p:nvPr/>
        </p:nvSpPr>
        <p:spPr>
          <a:xfrm>
            <a:off x="914400" y="3886200"/>
            <a:ext cx="10241280" cy="1143000"/>
          </a:xfrm>
          <a:prstGeom prst="roundRect">
            <a:avLst>
              <a:gd name="adj" fmla="val 9600"/>
            </a:avLst>
          </a:prstGeom>
          <a:solidFill>
            <a:srgbClr val="ECFDF5"/>
          </a:solidFill>
          <a:ln w="10160">
            <a:solidFill>
              <a:srgbClr val="059669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234440" y="4187952"/>
            <a:ext cx="1417320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05966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已驗證展示路線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2560320" y="4160520"/>
            <a:ext cx="6035040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010" dirty="0">
                <a:solidFill>
                  <a:srgbClr val="1220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登入 → 遊戲大廳 → 建立房間 → 等待室 → Poker → 自動選牌 → 三輪結果</a:t>
            </a:r>
            <a:endParaRPr lang="en-US" sz="1010" dirty="0"/>
          </a:p>
        </p:txBody>
      </p:sp>
      <p:sp>
        <p:nvSpPr>
          <p:cNvPr id="27" name="Text 25"/>
          <p:cNvSpPr/>
          <p:nvPr/>
        </p:nvSpPr>
        <p:spPr>
          <a:xfrm>
            <a:off x="2560320" y="4498848"/>
            <a:ext cx="630936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87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展示焦點聚焦於會員登入、遊戲大廳、建房等待室與 Poker 對局；其他入口以平台目錄項目呈現。</a:t>
            </a:r>
            <a:endParaRPr lang="en-US" sz="870" dirty="0"/>
          </a:p>
        </p:txBody>
      </p:sp>
      <p:sp>
        <p:nvSpPr>
          <p:cNvPr id="28" name="Text 26"/>
          <p:cNvSpPr/>
          <p:nvPr/>
        </p:nvSpPr>
        <p:spPr>
          <a:xfrm>
            <a:off x="1920240" y="5715000"/>
            <a:ext cx="832104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920" dirty="0">
                <a:solidFill>
                  <a:srgbClr val="D9770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自動測試支撐功能穩定度；現場展示以已確認路線為主。</a:t>
            </a:r>
            <a:endParaRPr lang="en-US" sz="92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 w="12700">
            <a:solidFill>
              <a:srgbClr val="F7FAFC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292840" y="0"/>
            <a:ext cx="896112" cy="6858000"/>
          </a:xfrm>
          <a:prstGeom prst="rect">
            <a:avLst/>
          </a:prstGeom>
          <a:solidFill>
            <a:srgbClr val="EAF7FB">
              <a:alpha val="85000"/>
            </a:srgbClr>
          </a:solidFill>
          <a:ln w="12700">
            <a:solidFill>
              <a:srgbClr val="EAF7FB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94360" y="384048"/>
            <a:ext cx="310896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7C3AE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DEMO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594360" y="640080"/>
            <a:ext cx="9784080" cy="4389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02A4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從會員到遊戲：平台已形成可展示的端到端流程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94360" y="1170432"/>
            <a:ext cx="960120" cy="0"/>
          </a:xfrm>
          <a:prstGeom prst="line">
            <a:avLst/>
          </a:prstGeom>
          <a:noFill/>
          <a:ln w="27940">
            <a:solidFill>
              <a:srgbClr val="7C3AE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94360" y="6510528"/>
            <a:ext cx="10744200" cy="0"/>
          </a:xfrm>
          <a:prstGeom prst="line">
            <a:avLst/>
          </a:prstGeom>
          <a:noFill/>
          <a:ln w="6350">
            <a:solidFill>
              <a:srgbClr val="D7E0E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94360" y="6565392"/>
            <a:ext cx="283464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b="1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GAMEPLATFORM · 小組專題成果報告</a:t>
            </a:r>
            <a:endParaRPr lang="en-US" sz="680" dirty="0"/>
          </a:p>
        </p:txBody>
      </p:sp>
      <p:sp>
        <p:nvSpPr>
          <p:cNvPr id="10" name="Text 8"/>
          <p:cNvSpPr/>
          <p:nvPr/>
        </p:nvSpPr>
        <p:spPr>
          <a:xfrm>
            <a:off x="10927080" y="6565392"/>
            <a:ext cx="41148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16</a:t>
            </a:r>
            <a:endParaRPr lang="en-US" sz="680" dirty="0"/>
          </a:p>
        </p:txBody>
      </p:sp>
      <p:sp>
        <p:nvSpPr>
          <p:cNvPr id="11" name="Text 9"/>
          <p:cNvSpPr/>
          <p:nvPr/>
        </p:nvSpPr>
        <p:spPr>
          <a:xfrm>
            <a:off x="960120" y="1444752"/>
            <a:ext cx="987552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本次成果的重點，是把多個功能模組串成可以現場展示的完整使用路線。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1600200" y="2331720"/>
            <a:ext cx="228600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1397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1746504" y="2450592"/>
            <a:ext cx="1993392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2563E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端到端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1746504" y="2715768"/>
            <a:ext cx="1993392" cy="5760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77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登入 → 房間 → 遊戲</a:t>
            </a:r>
            <a:endParaRPr lang="en-US" sz="770" dirty="0"/>
          </a:p>
        </p:txBody>
      </p:sp>
      <p:sp>
        <p:nvSpPr>
          <p:cNvPr id="15" name="Shape 13"/>
          <p:cNvSpPr/>
          <p:nvPr/>
        </p:nvSpPr>
        <p:spPr>
          <a:xfrm>
            <a:off x="4937760" y="2331720"/>
            <a:ext cx="228600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13970">
            <a:solidFill>
              <a:srgbClr val="7C3AED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084064" y="2450592"/>
            <a:ext cx="1993392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7C3AE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模組化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5084064" y="2715768"/>
            <a:ext cx="1993392" cy="5760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77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共用平台 + 獨立遊戲</a:t>
            </a:r>
            <a:endParaRPr lang="en-US" sz="770" dirty="0"/>
          </a:p>
        </p:txBody>
      </p:sp>
      <p:sp>
        <p:nvSpPr>
          <p:cNvPr id="18" name="Shape 16"/>
          <p:cNvSpPr/>
          <p:nvPr/>
        </p:nvSpPr>
        <p:spPr>
          <a:xfrm>
            <a:off x="8275320" y="2331720"/>
            <a:ext cx="228600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13970">
            <a:solidFill>
              <a:srgbClr val="059669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8421624" y="2450592"/>
            <a:ext cx="1993392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05966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可驗證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8421624" y="2715768"/>
            <a:ext cx="1993392" cy="5760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77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58 項測試 + 實機流程</a:t>
            </a:r>
            <a:endParaRPr lang="en-US" sz="770" dirty="0"/>
          </a:p>
        </p:txBody>
      </p:sp>
      <p:sp>
        <p:nvSpPr>
          <p:cNvPr id="21" name="Shape 19"/>
          <p:cNvSpPr/>
          <p:nvPr/>
        </p:nvSpPr>
        <p:spPr>
          <a:xfrm>
            <a:off x="2606040" y="4297680"/>
            <a:ext cx="6995160" cy="777240"/>
          </a:xfrm>
          <a:prstGeom prst="roundRect">
            <a:avLst>
              <a:gd name="adj" fmla="val 14118"/>
            </a:avLst>
          </a:prstGeom>
          <a:solidFill>
            <a:srgbClr val="0B1220"/>
          </a:solidFill>
          <a:ln w="10160">
            <a:solidFill>
              <a:srgbClr val="0B1220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2606040" y="4572000"/>
            <a:ext cx="6995160" cy="1645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DEMO · Q&amp;A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2606040" y="4370832"/>
            <a:ext cx="6995160" cy="1097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850" dirty="0">
                <a:solidFill>
                  <a:srgbClr val="06B6D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GamePlatform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icrosoft JhengHe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JhengHe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OpenAI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遊戲對戰平台</dc:title>
  <dc:subject>GamePlatform project presentation</dc:subject>
  <dc:creator>OpenAI</dc:creator>
  <cp:lastModifiedBy>OpenAI</cp:lastModifiedBy>
  <cp:revision>1</cp:revision>
  <dcterms:created xsi:type="dcterms:W3CDTF">2026-09-04T04:30:33Z</dcterms:created>
  <dcterms:modified xsi:type="dcterms:W3CDTF">2026-09-04T04:30:33Z</dcterms:modified>
</cp:coreProperties>
</file>