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59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封面使用實際登入頁，強調這是一個網頁平台作品，而不是單一遊戲畫面。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以端到端流程開場，避免讓報告看起來像只有 Poker 單一遊戲。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本頁直接使用素材資料夾中的完整 UI 使用者流程圖。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此頁對應素材建議：主流程更明顯、補上組隊自動建立房間，並區分兩種開房方式。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根據素材中的「瀏覽器→Spring Boot→SQLite」與專案樹說明重繪成架構頁。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強調模組化架構與責任邊界，不呈現分工。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依修改建議將 Authentication Flow 提前，因為登入身分是後續大廳、房間與遊戲的共同基礎。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以中文欄位說明替代資料庫欄位名，降低聽眾閱讀負擔。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加入 Lobby 說明，並將 Game/GameMode/Room/RoomPlayers 關聯集中呈現。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呈現 Board/Chat 與 Room 的資料銜接，保留必要關係，不塞完整欄位。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修正「Working Product 應為雙向」的表述：使用者操作與後端狀態同步是雙向資料流。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這頁保留實際畫面，但排版改為三連畫面，直接對應使用流程。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 Poker 結果頁作為主要證據，說明已完成遊戲核心流程。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 Round.java 的牌型編號、點數排序與花色權重拆解 handStrength 範例。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依使用者建議，避免把非展示焦點寫成問題，只呈現驗證成果與展示範圍。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結尾不做未來擴充，聚焦已完成成果與現場展示。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p3/gammPlatform/PPT/screenshots/01-login.png"/>
          <p:cNvPicPr>
            <a:picLocks noChangeAspect="1"/>
          </p:cNvPicPr>
          <p:nvPr/>
        </p:nvPicPr>
        <p:blipFill>
          <a:blip r:embed="rId3"/>
          <a:srcRect l="24575" r="24575"/>
          <a:stretch/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035040" y="0"/>
            <a:ext cx="365760" cy="6858000"/>
          </a:xfrm>
          <a:prstGeom prst="rect">
            <a:avLst/>
          </a:prstGeom>
          <a:solidFill>
            <a:srgbClr val="0B1220">
              <a:alpha val="90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31520" y="1481328"/>
            <a:ext cx="4480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遊戲對戰平台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4297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從會員登入、遊戲大廳、組隊與房間，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到進入遊戲的一體化平台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3255264"/>
            <a:ext cx="804672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456432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全端工程師職訓 · 小組專題成果報告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31520" y="5715000"/>
            <a:ext cx="1097280" cy="256032"/>
          </a:xfrm>
          <a:prstGeom prst="roundRect">
            <a:avLst>
              <a:gd name="adj" fmla="val 32143"/>
            </a:avLst>
          </a:prstGeom>
          <a:solidFill>
            <a:srgbClr val="06B6D4">
              <a:alpha val="92000"/>
            </a:srgbClr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5765292"/>
            <a:ext cx="10241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1920240" y="5715000"/>
            <a:ext cx="731520" cy="256032"/>
          </a:xfrm>
          <a:prstGeom prst="roundRect">
            <a:avLst>
              <a:gd name="adj" fmla="val 32143"/>
            </a:avLst>
          </a:prstGeom>
          <a:solidFill>
            <a:srgbClr val="059669">
              <a:alpha val="92000"/>
            </a:srgbClr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56816" y="5765292"/>
            <a:ext cx="6583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2743200" y="5715000"/>
            <a:ext cx="914400" cy="256032"/>
          </a:xfrm>
          <a:prstGeom prst="roundRect">
            <a:avLst>
              <a:gd name="adj" fmla="val 32143"/>
            </a:avLst>
          </a:prstGeom>
          <a:solidFill>
            <a:srgbClr val="2563EB">
              <a:alpha val="92000"/>
            </a:srgbClr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79776" y="5765292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3749040" y="5715000"/>
            <a:ext cx="1005840" cy="256032"/>
          </a:xfrm>
          <a:prstGeom prst="roundRect">
            <a:avLst>
              <a:gd name="adj" fmla="val 32143"/>
            </a:avLst>
          </a:prstGeom>
          <a:solidFill>
            <a:srgbClr val="7C3AED">
              <a:alpha val="92000"/>
            </a:srgbClr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85616" y="5765292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4846320" y="5715000"/>
            <a:ext cx="640080" cy="256032"/>
          </a:xfrm>
          <a:prstGeom prst="roundRect">
            <a:avLst>
              <a:gd name="adj" fmla="val 32143"/>
            </a:avLst>
          </a:prstGeom>
          <a:solidFill>
            <a:srgbClr val="D97706">
              <a:alpha val="92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82896" y="5765292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GOAL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我們做的不是單一遊戲，而是一條完整遊玩流程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本專題把登入、遊戲目錄、組隊公告、房間等待與實際遊戲串成同一條體驗。個別遊戲只需要專注自己的規則。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87552" y="214884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登入身分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與會員資料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664208" y="2258568"/>
            <a:ext cx="1005840" cy="201168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4952" y="214884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986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889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目錄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721608" y="2258568"/>
            <a:ext cx="1005840" cy="201168"/>
          </a:xfrm>
          <a:prstGeom prst="chevron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2148840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建立／加入房間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 Room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779008" y="2258568"/>
            <a:ext cx="1005840" cy="201168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9752" y="2148840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134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等待同步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037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836408" y="2258568"/>
            <a:ext cx="1005840" cy="201168"/>
          </a:xfrm>
          <a:prstGeom prst="chevron">
            <a:avLst/>
          </a:prstGeom>
          <a:solidFill>
            <a:srgbClr val="059669">
              <a:alpha val="9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17152" y="214884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71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708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9611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 roomId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325880" y="4133088"/>
            <a:ext cx="9509760" cy="941832"/>
          </a:xfrm>
          <a:prstGeom prst="roundRect">
            <a:avLst>
              <a:gd name="adj" fmla="val 11650"/>
            </a:avLst>
          </a:prstGeom>
          <a:solidFill>
            <a:srgbClr val="0B1220"/>
          </a:solidFill>
          <a:ln w="10160">
            <a:solidFill>
              <a:srgbClr val="0B122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600200" y="4416552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平台價值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34640" y="4370832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共用會員、遊戲目錄與房間流程；不同遊戲沿用同一套入口，不需要各自重做登入與建房。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UI 使用者流程圖：實際專案畫面串接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298448"/>
            <a:ext cx="10058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素材中的 V6 流程圖已把玩家、隊長、管理員與主要畫面串起來；報告時可用本頁快速總覽全站功能。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03504" y="1664208"/>
            <a:ext cx="10817352" cy="4233672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0" descr="/mnt/data/material_ui_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764" y="1700784"/>
            <a:ext cx="6656832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6035040"/>
            <a:ext cx="786384" cy="219456"/>
          </a:xfrm>
          <a:prstGeom prst="roundRect">
            <a:avLst>
              <a:gd name="adj" fmla="val 29167"/>
            </a:avLst>
          </a:prstGeom>
          <a:solidFill>
            <a:srgbClr val="2563EB">
              <a:alpha val="12000"/>
            </a:srgbClr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607618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主流程</a:t>
            </a:r>
            <a:endParaRPr lang="en-US" sz="630" dirty="0"/>
          </a:p>
        </p:txBody>
      </p:sp>
      <p:sp>
        <p:nvSpPr>
          <p:cNvPr id="16" name="Text 13"/>
          <p:cNvSpPr/>
          <p:nvPr/>
        </p:nvSpPr>
        <p:spPr>
          <a:xfrm>
            <a:off x="1691640" y="6044184"/>
            <a:ext cx="67665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登入／註冊 → 平台主頁 → 遊戲大廳 → 建立房間 → 等待室 → 進入遊戲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8641080" y="6035040"/>
            <a:ext cx="786384" cy="219456"/>
          </a:xfrm>
          <a:prstGeom prst="roundRect">
            <a:avLst>
              <a:gd name="adj" fmla="val 29167"/>
            </a:avLst>
          </a:prstGeom>
          <a:solidFill>
            <a:srgbClr val="059669">
              <a:alpha val="12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77656" y="607618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組隊流程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9509760" y="6044184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 → 申請加入 → 隊長審核 → 隊伍額滿 → 自動建房</a:t>
            </a:r>
            <a:endParaRPr lang="en-US" sz="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主要流程拆解：兩種方式最後都進入等待室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149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依修改建議補上雙路徑：一般玩家從大廳直接建房；組隊玩家由公告流程滿員後自動建立房間。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82296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一般玩家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6070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登入／註冊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6070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取得會員身分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2240280" y="2551176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9748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4378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遊戲大廳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4378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選遊戲與模式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4023360" y="2551176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8056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2686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設定人數／名稱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5806440" y="2551176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6364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994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房間等待室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994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玩家名單同步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7589520" y="2551176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4672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9302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9302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roomId 啟動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82296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組隊玩家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40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發公告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6070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建立招募需求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1993392" y="4315968"/>
            <a:ext cx="3383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33172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7802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申請加入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7802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玩家送出請求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3410712" y="4315968"/>
            <a:ext cx="3383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74904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隊長審核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9534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核准隊員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4828032" y="4315968"/>
            <a:ext cx="3383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16636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1266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隊伍額滿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1266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符合人數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6245352" y="4315968"/>
            <a:ext cx="3383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8368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998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自動建房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2998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Room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7662672" y="4315968"/>
            <a:ext cx="38404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04672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9302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房間等待室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19302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同步名單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8586216" y="4654296"/>
            <a:ext cx="1097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955280" y="3246120"/>
            <a:ext cx="1188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080760" y="3273552"/>
            <a:ext cx="3566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等待室與遊戲頁可雙向返回／同步狀態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Spring Boot 專案：前端靜態頁、API、WebSocket 同源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正式專案已把實際使用的前端移到後端 static，由 Spring Boot 同時提供頁面、API、WebSocket、JWT 驗證與 SQLite 存取。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9264" y="2221992"/>
            <a:ext cx="1719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9264" y="2487168"/>
            <a:ext cx="171907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同一個網址開啟網頁</a:t>
            </a:r>
            <a:endParaRPr lang="en-US" sz="770" dirty="0"/>
          </a:p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· CSS · JavaScript · jQuery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2834640" y="2578608"/>
            <a:ext cx="868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03320" y="1755648"/>
            <a:ext cx="4343400" cy="2148840"/>
          </a:xfrm>
          <a:prstGeom prst="roundRect">
            <a:avLst>
              <a:gd name="adj" fmla="val 5106"/>
            </a:avLst>
          </a:prstGeom>
          <a:solidFill>
            <a:srgbClr val="0B1220"/>
          </a:solidFill>
          <a:ln w="1016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7764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 : 8080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331720"/>
            <a:ext cx="35204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DCE6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靜態前端頁面  ·  REST API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DCE6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  ·  JWT 驗證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DCE6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→ Service → Repository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565392" y="1956816"/>
            <a:ext cx="786384" cy="219456"/>
          </a:xfrm>
          <a:prstGeom prst="roundRect">
            <a:avLst>
              <a:gd name="adj" fmla="val 29167"/>
            </a:avLst>
          </a:prstGeom>
          <a:solidFill>
            <a:srgbClr val="06B6D4">
              <a:alpha val="12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99796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同源整合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6537960" y="2267712"/>
            <a:ext cx="1143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 CORS 與部署設定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046720" y="2578608"/>
            <a:ext cx="86868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15400" y="210312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61704" y="2221992"/>
            <a:ext cx="18562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61704" y="2487168"/>
            <a:ext cx="185623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JPA / Hibernate + JDBC</a:t>
            </a:r>
            <a:endParaRPr lang="en-US" sz="770" dirty="0"/>
          </a:p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會員、遊戲、模式、房間、公告、題庫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1005840" y="466344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3444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專案結構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java/com/example/demo/modules：User · Lobby · Chat · Board · Game Management · Poker · Quiz · TJ Poker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48840" y="5120640"/>
            <a:ext cx="6035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resources/static：實際前端頁面、圖片與遊戲素材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MODULES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模組責任：共用平台功能 + 個別遊戲模組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25880"/>
            <a:ext cx="9692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這一頁只說系統責任，不是組員分工。平台模組提供共同能力，遊戲模組只處理自己的規則與對局。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2402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0160">
            <a:solidFill>
              <a:srgbClr val="06B6D4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2532888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2871216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共用身分 · 目錄 · 房間流程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68680" y="182880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14984" y="1947672"/>
            <a:ext cx="18562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14984" y="2212848"/>
            <a:ext cx="18562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登入、JWT、會員資料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68680" y="365760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14984" y="3776472"/>
            <a:ext cx="18562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4984" y="4041648"/>
            <a:ext cx="18562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遊戲與模式目錄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3657600" y="443484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03904" y="4553712"/>
            <a:ext cx="18562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03904" y="4818888"/>
            <a:ext cx="18562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建房、入房、等待、生命週期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8229600" y="3657600"/>
            <a:ext cx="1691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75904" y="3776472"/>
            <a:ext cx="1399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75904" y="4041648"/>
            <a:ext cx="1399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組隊公告、申請、通知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9646920" y="1828800"/>
            <a:ext cx="1691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793224" y="1947672"/>
            <a:ext cx="1399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93224" y="2212848"/>
            <a:ext cx="1399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大廳與房間即時訊息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7452360" y="1828800"/>
            <a:ext cx="1691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E11D48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98664" y="1947672"/>
            <a:ext cx="1399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98664" y="2212848"/>
            <a:ext cx="1399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Poker、Quiz、TJ Poker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3017520" y="2203704"/>
            <a:ext cx="1691640" cy="475488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017520" y="4032504"/>
            <a:ext cx="169164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27448" y="4434840"/>
            <a:ext cx="758952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52360" y="2788920"/>
            <a:ext cx="36576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52360" y="2907792"/>
            <a:ext cx="173736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52360" y="3072384"/>
            <a:ext cx="365760" cy="96012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身分流程：不同頁面共用同一個登入狀態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登入結果可存在前端，但真正能否操作仍由後端 Security Filter 驗證 token、期限與帳號狀態。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+ password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868680" y="196596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95728" y="2633472"/>
            <a:ext cx="5486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99232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45536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45536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userId · account · role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3136392" y="196596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63440" y="2633472"/>
            <a:ext cx="5486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66944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13248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13248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Bearer token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5404104" y="1965960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31152" y="2633472"/>
            <a:ext cx="548640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34656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Filter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80960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驗簽 · 到期 · 狀態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7671816" y="196596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71816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198864" y="2633472"/>
            <a:ext cx="5486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802368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948672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Modules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948672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Board · Lobby · Games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9939528" y="1965960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39528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143000" y="4160520"/>
            <a:ext cx="9921240" cy="1051560"/>
          </a:xfrm>
          <a:prstGeom prst="roundRect">
            <a:avLst>
              <a:gd name="adj" fmla="val 10435"/>
            </a:avLst>
          </a:prstGeom>
          <a:solidFill>
            <a:srgbClr val="0B1220"/>
          </a:solidFill>
          <a:ln w="1016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17320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登入狀態修正重點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2926080" y="4407408"/>
            <a:ext cx="7040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UI 不能只看 localStorage 的 account；受保護功能必須用後端驗證過的 JWT 狀態作為依據。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CATALOG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Game、GameMode、Room：用資料控制遊戲入口與房間規則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依修改要求，欄位用中文說明；重點是讓房間不必寫死每款遊戲的玩家數、入口與模式。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847088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1847088"/>
            <a:ext cx="233172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920240"/>
            <a:ext cx="21488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遊戲資料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86968" y="2249424"/>
            <a:ext cx="211226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遊戲編號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遊戲代碼／遊戲名稱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遊戲說明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前端入口路徑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API 路徑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圖示路徑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是否啟用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3611880" y="1847088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1847088"/>
            <a:ext cx="233172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920240"/>
            <a:ext cx="21488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GameMode 遊戲模式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21608" y="2249424"/>
            <a:ext cx="211226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模式編號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所屬遊戲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模式代碼／模式名稱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最小玩家數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最大玩家數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電腦玩家數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是否啟用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6446520" y="1847088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1847088"/>
            <a:ext cx="233172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920240"/>
            <a:ext cx="21488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 房間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56248" y="2249424"/>
            <a:ext cx="211226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房間 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遊戲／模式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房主帳號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玩家名單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目前狀態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開始／結束／過期時間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結束原因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9281160" y="1847088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81160" y="1847088"/>
            <a:ext cx="20574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1920240"/>
            <a:ext cx="1874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 遊戲頁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390888" y="2249424"/>
            <a:ext cx="183794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poker_client.html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quiz_client.html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?room=房間ID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依房間資料啟動對局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3108960" y="2926080"/>
            <a:ext cx="50292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43600" y="2926080"/>
            <a:ext cx="50292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778240" y="2926080"/>
            <a:ext cx="50292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188720" y="4754880"/>
            <a:ext cx="9326880" cy="868680"/>
          </a:xfrm>
          <a:prstGeom prst="roundRect">
            <a:avLst>
              <a:gd name="adj" fmla="val 12632"/>
            </a:avLst>
          </a:prstGeom>
          <a:solidFill>
            <a:srgbClr val="E0F2F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例：田忌撲克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97480" y="4974336"/>
            <a:ext cx="6995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遊戲資料提供 Poker 入口；GameMode 決定「玩家對戰／對戰電腦」與人數限制；Room 保存本次對局的房號、玩家與狀態。</a:t>
            </a:r>
            <a:endParaRPr lang="en-US" sz="10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 / Lobby：會員、遊戲目錄與房間生命週期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 是遊戲大廳與房間系統，負責建房、等待、開始遊戲，以及遊戲結束後的房間狀態收斂。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286000" y="2450592"/>
            <a:ext cx="59436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2450592"/>
            <a:ext cx="59436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2450592"/>
            <a:ext cx="59436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69680" y="3703320"/>
            <a:ext cx="0" cy="521208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1874520"/>
            <a:ext cx="1554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1874520"/>
            <a:ext cx="155448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947672"/>
            <a:ext cx="13716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 / statuses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1248" y="2276856"/>
            <a:ext cx="13350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角色名稱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狀態名稱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2880360" y="1691640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80360" y="1691640"/>
            <a:ext cx="182880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176479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90088" y="2093976"/>
            <a:ext cx="16093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會員編號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帳號／暱稱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status_id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5303520" y="1691640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1691640"/>
            <a:ext cx="1828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76479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13248" y="2093976"/>
            <a:ext cx="16093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遊戲編號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遊戲代碼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前端／後端入口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7726680" y="1691640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26680" y="1691640"/>
            <a:ext cx="1828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76479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game_modes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36408" y="2093976"/>
            <a:ext cx="16093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模式編號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遊戲編號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模式代碼／名稱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玩家數限制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726680" y="4224528"/>
            <a:ext cx="192024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26680" y="4224528"/>
            <a:ext cx="192024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4297680"/>
            <a:ext cx="17373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36408" y="4626864"/>
            <a:ext cx="170078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房間ID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遊戲／模式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房主帳號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開始／結束／過期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5349240" y="4315968"/>
            <a:ext cx="18288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49240" y="4315968"/>
            <a:ext cx="182880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4389120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room_players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58968" y="4718304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房間ID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玩家帳號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ElementCollection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7726680" y="4946904"/>
            <a:ext cx="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37960" y="3319272"/>
            <a:ext cx="1600200" cy="905256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794760" y="3319272"/>
            <a:ext cx="1874520" cy="996696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4400" y="4663440"/>
            <a:ext cx="3246120" cy="850392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3000" y="4800600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 關鍵角色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3000" y="5084064"/>
            <a:ext cx="2697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把等待中的房間從遊戲本身抽離，讓 Poker、Quiz 等遊戲共用同一套建房與結束流程。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Board / Chat：組隊公告連到房間與即時頻道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058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管理招募與申請；Chat 依 roomId 建立房間頻道，並在 RoomFinishedEvent 後清理房間頻道。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606040" y="2651760"/>
            <a:ext cx="64008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2651760"/>
            <a:ext cx="64008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09560" y="2651760"/>
            <a:ext cx="64008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2280" y="3749040"/>
            <a:ext cx="0" cy="59436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11880" y="3749040"/>
            <a:ext cx="0" cy="59436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196596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1965960"/>
            <a:ext cx="187452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039112"/>
            <a:ext cx="1691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" y="2368296"/>
            <a:ext cx="1655064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成員編號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platform_user_id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帳號／暱稱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3246120" y="1874520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874520"/>
            <a:ext cx="201168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947672"/>
            <a:ext cx="1828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team_posts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55848" y="2276856"/>
            <a:ext cx="179222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公告編號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發文者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/ mode_id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5897880" y="1874520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97880" y="1874520"/>
            <a:ext cx="201168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947672"/>
            <a:ext cx="1828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join_requests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07608" y="2276856"/>
            <a:ext cx="179222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申請編號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公告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申請者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狀態／訊息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8549640" y="196596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1965960"/>
            <a:ext cx="18745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2039112"/>
            <a:ext cx="1691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59368" y="2368296"/>
            <a:ext cx="1655064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通知編號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接收者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分類／內容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是否已讀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5897880" y="434340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97880" y="4343400"/>
            <a:ext cx="1828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441655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07608" y="4745736"/>
            <a:ext cx="16093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WAITING / PLAYING / FINISHED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2697480" y="434340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697480" y="4343400"/>
            <a:ext cx="1828800" cy="3017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441655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 Channel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807208" y="4745736"/>
            <a:ext cx="16093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roomId → WebSocket sessions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ROOM_FINISHED 後關閉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8321040" y="4407408"/>
            <a:ext cx="2468880" cy="877824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4572000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事件串接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854964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RoomFinishedEvent 讓 Chat 不必理解 Poker 規則。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CROSS-MODULE SEQUENCE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核心資料流：組隊完成後建立房間，並由 WebSocket 同步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以一次組隊成功流程說明多模組合作：資料先寫入 SQLite，再透過 WebSocket 推送最新房間與通知。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9436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UI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公告／申請操作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201168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6888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1518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接收請求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388620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4340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970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Service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8970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審核與滿員判斷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576072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1792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6422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驗證遊戲與模式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763524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9244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874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3874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Room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950976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6696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1326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11326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 frontendPath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868680" y="3675888"/>
            <a:ext cx="4983480" cy="100584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397764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資料交易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2011680" y="3931920"/>
            <a:ext cx="3291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審核成功 → 建立 Room → 保存 roomId、players、status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355080" y="3675888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397764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即時同步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7479792" y="3931920"/>
            <a:ext cx="2834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 WebSocket 推送玩家名單、等待室狀態與房間結束事件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1051560" y="5376672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  <a:headEnd type="triangl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154680" y="5266944"/>
            <a:ext cx="5669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雙向狀態：使用者操作寫回後端；後端事件再推回前端畫面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 PRODUCT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實際產品畫面：從遊戲大廳到房間等待，再進入對局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所有畫面均由目前專案實際執行後擷取；同一個登入帳號貫穿大廳、房間與遊戲。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9224" y="1792224"/>
            <a:ext cx="327355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0" descr="/mnt/data/gp3/gammPlatform/PPT/screenshots/02-game-lobby.png"/>
          <p:cNvPicPr>
            <a:picLocks noChangeAspect="1"/>
          </p:cNvPicPr>
          <p:nvPr/>
        </p:nvPicPr>
        <p:blipFill>
          <a:blip r:embed="rId3"/>
          <a:srcRect l="32" r="32"/>
          <a:stretch/>
        </p:blipFill>
        <p:spPr>
          <a:xfrm>
            <a:off x="685800" y="1828800"/>
            <a:ext cx="3200400" cy="180136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98264" y="1792224"/>
            <a:ext cx="327355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1" descr="/mnt/data/gp3/gammPlatform/PPT/screenshots/05-lobby-create-room.png"/>
          <p:cNvPicPr>
            <a:picLocks noChangeAspect="1"/>
          </p:cNvPicPr>
          <p:nvPr/>
        </p:nvPicPr>
        <p:blipFill>
          <a:blip r:embed="rId4"/>
          <a:srcRect l="32" r="32"/>
          <a:stretch/>
        </p:blipFill>
        <p:spPr>
          <a:xfrm>
            <a:off x="4434840" y="1828800"/>
            <a:ext cx="3200400" cy="18013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47304" y="1792224"/>
            <a:ext cx="327355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/mnt/data/gp3/gammPlatform/PPT/screenshots/06-waiting-room.png"/>
          <p:cNvPicPr>
            <a:picLocks noChangeAspect="1"/>
          </p:cNvPicPr>
          <p:nvPr/>
        </p:nvPicPr>
        <p:blipFill>
          <a:blip r:embed="rId5"/>
          <a:srcRect l="32" r="32"/>
          <a:stretch/>
        </p:blipFill>
        <p:spPr>
          <a:xfrm>
            <a:off x="8183880" y="1828800"/>
            <a:ext cx="3200400" cy="1801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858768"/>
            <a:ext cx="1463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遊戲大廳</a:t>
            </a:r>
            <a:endParaRPr lang="en-US" sz="940" dirty="0"/>
          </a:p>
        </p:txBody>
      </p:sp>
      <p:sp>
        <p:nvSpPr>
          <p:cNvPr id="19" name="Text 14"/>
          <p:cNvSpPr/>
          <p:nvPr/>
        </p:nvSpPr>
        <p:spPr>
          <a:xfrm>
            <a:off x="914400" y="4096512"/>
            <a:ext cx="2011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選擇遊戲與模式入口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4663440" y="3858768"/>
            <a:ext cx="1463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建立房間</a:t>
            </a:r>
            <a:endParaRPr lang="en-US" sz="940" dirty="0"/>
          </a:p>
        </p:txBody>
      </p:sp>
      <p:sp>
        <p:nvSpPr>
          <p:cNvPr id="21" name="Text 16"/>
          <p:cNvSpPr/>
          <p:nvPr/>
        </p:nvSpPr>
        <p:spPr>
          <a:xfrm>
            <a:off x="4663440" y="4096512"/>
            <a:ext cx="2011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設定名稱與玩家人數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8412480" y="3858768"/>
            <a:ext cx="1463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房間等待</a:t>
            </a:r>
            <a:endParaRPr lang="en-US" sz="940" dirty="0"/>
          </a:p>
        </p:txBody>
      </p:sp>
      <p:sp>
        <p:nvSpPr>
          <p:cNvPr id="23" name="Text 18"/>
          <p:cNvSpPr/>
          <p:nvPr/>
        </p:nvSpPr>
        <p:spPr>
          <a:xfrm>
            <a:off x="8412480" y="4096512"/>
            <a:ext cx="2194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房號、房主、玩家名單同步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2011680" y="4983480"/>
            <a:ext cx="8183880" cy="54864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0160">
            <a:solidFill>
              <a:srgbClr val="0B122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240280" y="5148072"/>
            <a:ext cx="7726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大廳直接建立房間；組隊滿員也會自動建立房間，最後都進入同一個等待室流程。</a:t>
            </a:r>
            <a:endParaRPr lang="en-US" sz="9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GAME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田忌撲克：完成選牌、比牌與三輪結果呈現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頁集中呈現房間資訊、玩家身分、目前輪次、手牌選擇、對手狀態與三輪結果。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13232" y="1746504"/>
            <a:ext cx="7022592" cy="3986784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0" descr="/mnt/data/gp3/gammPlatform/PPT/screenshots/09-poker-result.png"/>
          <p:cNvPicPr>
            <a:picLocks noChangeAspect="1"/>
          </p:cNvPicPr>
          <p:nvPr/>
        </p:nvPicPr>
        <p:blipFill>
          <a:blip r:embed="rId3"/>
          <a:srcRect l="34" r="34"/>
          <a:stretch/>
        </p:blipFill>
        <p:spPr>
          <a:xfrm>
            <a:off x="749808" y="1783080"/>
            <a:ext cx="6949440" cy="39136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0" y="187452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75904" y="1993392"/>
            <a:ext cx="2267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三輪對戰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375904" y="2258568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輪 3 張牌；第 2、3 輪各 5 張牌。</a:t>
            </a:r>
            <a:endParaRPr lang="en-US" sz="770" dirty="0"/>
          </a:p>
        </p:txBody>
      </p:sp>
      <p:sp>
        <p:nvSpPr>
          <p:cNvPr id="17" name="Shape 14"/>
          <p:cNvSpPr/>
          <p:nvPr/>
        </p:nvSpPr>
        <p:spPr>
          <a:xfrm>
            <a:off x="8229600" y="288036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75904" y="2999232"/>
            <a:ext cx="2267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即時狀態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375904" y="3264408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房號、連線狀態與玩家名單在畫面中同步。</a:t>
            </a:r>
            <a:endParaRPr lang="en-US" sz="770" dirty="0"/>
          </a:p>
        </p:txBody>
      </p:sp>
      <p:sp>
        <p:nvSpPr>
          <p:cNvPr id="20" name="Shape 17"/>
          <p:cNvSpPr/>
          <p:nvPr/>
        </p:nvSpPr>
        <p:spPr>
          <a:xfrm>
            <a:off x="8229600" y="388620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375904" y="4005072"/>
            <a:ext cx="2267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75904" y="4270248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依目前可用手牌計算候選組合，選出最高強度。</a:t>
            </a:r>
            <a:endParaRPr lang="en-US" sz="770" dirty="0"/>
          </a:p>
        </p:txBody>
      </p:sp>
      <p:sp>
        <p:nvSpPr>
          <p:cNvPr id="23" name="Shape 20"/>
          <p:cNvSpPr/>
          <p:nvPr/>
        </p:nvSpPr>
        <p:spPr>
          <a:xfrm>
            <a:off x="8229600" y="48920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75904" y="5010912"/>
            <a:ext cx="2267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結果呈現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375904" y="5276088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逐輪比較後顯示勝負與最後總結。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演算法：把牌型轉成可直接比較的 strength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E11D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修改建議要求恢復撲克牌範例，並直接拆解強度編碼。下例依目前 Round.java：同花 = 5。</a:t>
            </a:r>
            <a:endParaRPr lang="en-US" sz="1060" dirty="0"/>
          </a:p>
        </p:txBody>
      </p:sp>
      <p:pic>
        <p:nvPicPr>
          <p:cNvPr id="12" name="Image 0" descr="/mnt/data/gp3/gammPlatform/backend/src/main/resources/static/assets/Games/poker/cards/card_a_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5" y="1901952"/>
            <a:ext cx="503802" cy="731520"/>
          </a:xfrm>
          <a:prstGeom prst="rect">
            <a:avLst/>
          </a:prstGeom>
        </p:spPr>
      </p:pic>
      <p:pic>
        <p:nvPicPr>
          <p:cNvPr id="13" name="Image 1" descr="/mnt/data/gp3/gammPlatform/backend/src/main/resources/static/assets/Games/poker/cards/card_a_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9" y="1901952"/>
            <a:ext cx="503802" cy="731520"/>
          </a:xfrm>
          <a:prstGeom prst="rect">
            <a:avLst/>
          </a:prstGeom>
        </p:spPr>
      </p:pic>
      <p:pic>
        <p:nvPicPr>
          <p:cNvPr id="14" name="Image 2" descr="/mnt/data/gp3/gammPlatform/backend/src/main/resources/static/assets/Games/poker/cards/card_a_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4683" y="1901952"/>
            <a:ext cx="503802" cy="731520"/>
          </a:xfrm>
          <a:prstGeom prst="rect">
            <a:avLst/>
          </a:prstGeom>
        </p:spPr>
      </p:pic>
      <p:pic>
        <p:nvPicPr>
          <p:cNvPr id="15" name="Image 3" descr="/mnt/data/gp3/gammPlatform/backend/src/main/resources/static/assets/Games/poker/cards/card_a_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8187" y="1901952"/>
            <a:ext cx="503802" cy="731520"/>
          </a:xfrm>
          <a:prstGeom prst="rect">
            <a:avLst/>
          </a:prstGeom>
        </p:spPr>
      </p:pic>
      <p:pic>
        <p:nvPicPr>
          <p:cNvPr id="16" name="Image 4" descr="/mnt/data/gp3/gammPlatform/backend/src/main/resources/static/assets/Games/poker/cards/card_a_d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1691" y="1901952"/>
            <a:ext cx="503802" cy="7315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2770632"/>
            <a:ext cx="3566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範例：♦2、♦6、♦8、♦9、♦K = 同花</a:t>
            </a:r>
            <a:endParaRPr lang="en-US" sz="920" dirty="0"/>
          </a:p>
        </p:txBody>
      </p:sp>
      <p:sp>
        <p:nvSpPr>
          <p:cNvPr id="18" name="Shape 11"/>
          <p:cNvSpPr/>
          <p:nvPr/>
        </p:nvSpPr>
        <p:spPr>
          <a:xfrm>
            <a:off x="4709160" y="1783080"/>
            <a:ext cx="6263640" cy="1207008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 w="10160">
            <a:solidFill>
              <a:srgbClr val="E11D48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4983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513090806021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7360920" y="212140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5｜13｜09｜08｜06｜02｜1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7443216" y="2514600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牌型  K   9   8   6   2  花色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868680" y="374904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11D48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68680" y="3749040"/>
            <a:ext cx="2834640" cy="3017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960120" y="3822192"/>
            <a:ext cx="26517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強度編碼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978408" y="4151376"/>
            <a:ext cx="26151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牌型編號 × 10^11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主要點數 × 10^9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次要點數依序往後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最後加入花色強度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比較時只需比 long 大小</a:t>
            </a:r>
            <a:endParaRPr lang="en-US" sz="670" dirty="0"/>
          </a:p>
        </p:txBody>
      </p:sp>
      <p:sp>
        <p:nvSpPr>
          <p:cNvPr id="26" name="Shape 19"/>
          <p:cNvSpPr/>
          <p:nvPr/>
        </p:nvSpPr>
        <p:spPr>
          <a:xfrm>
            <a:off x="4069080" y="374904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069080" y="3749040"/>
            <a:ext cx="283464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160520" y="3822192"/>
            <a:ext cx="26517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組合搜尋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178808" y="4151376"/>
            <a:ext cx="26151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從未使用手牌中列舉 C(n,k)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每組呼叫 strength(cards)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保留最高分組合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依第 3 → 第 2 → 第 1 輪選牌</a:t>
            </a:r>
            <a:endParaRPr lang="en-US" sz="670" dirty="0"/>
          </a:p>
        </p:txBody>
      </p:sp>
      <p:sp>
        <p:nvSpPr>
          <p:cNvPr id="30" name="Shape 23"/>
          <p:cNvSpPr/>
          <p:nvPr/>
        </p:nvSpPr>
        <p:spPr>
          <a:xfrm>
            <a:off x="7269480" y="374904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269480" y="3749040"/>
            <a:ext cx="283464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360920" y="3822192"/>
            <a:ext cx="26517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設計優點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7379208" y="4151376"/>
            <a:ext cx="26151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比大量 if/else 更集中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牌型規則只在一處維護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自動選牌可直接最大化分數</a:t>
            </a:r>
            <a:endParaRPr lang="en-US" sz="670" dirty="0"/>
          </a:p>
          <a:p>
            <a:pPr marL="0" indent="0" algn="l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比較邏輯簡單且可測試</a:t>
            </a:r>
            <a:endParaRPr lang="en-US" sz="6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驗證結果：核心流程與測試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測試數字用來支撐目前可展示成果；現場展示聚焦於已確認的核心流程與操作結果。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960120" y="1874520"/>
            <a:ext cx="2880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70432" y="2212848"/>
            <a:ext cx="7498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74520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後端測試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87452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· Board · Poker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· Game Management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2880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2212848"/>
            <a:ext cx="7498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前端測試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557784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分頁 · 即時連線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重新連線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366760" y="1874520"/>
            <a:ext cx="2880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77072" y="2212848"/>
            <a:ext cx="7498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合計通過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28116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failure · 0 error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skipped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914400" y="3886200"/>
            <a:ext cx="10241280" cy="1143000"/>
          </a:xfrm>
          <a:prstGeom prst="roundRect">
            <a:avLst>
              <a:gd name="adj" fmla="val 9600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187952"/>
            <a:ext cx="1417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已驗證展示路線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60320" y="4160520"/>
            <a:ext cx="6035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遊戲大廳 → 建立房間 → 等待室 → Poker → 自動選牌 → 三輪結果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2560320" y="4498848"/>
            <a:ext cx="6309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展示焦點聚焦於會員登入、遊戲大廳、建房等待室與 Poker 對局；其他入口以平台目錄項目呈現。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1920240" y="5715000"/>
            <a:ext cx="8321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自動測試支撐功能穩定度；現場展示以已確認路線為主。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從會員到遊戲：平台已形成可展示的端到端流程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960120" y="1444752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本次成果的重點，是把多個功能模組串成可以現場展示的完整使用路線。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00200" y="23317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46504" y="2450592"/>
            <a:ext cx="19933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46504" y="2715768"/>
            <a:ext cx="19933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房間 → 遊戲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84064" y="2450592"/>
            <a:ext cx="19933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84064" y="2715768"/>
            <a:ext cx="19933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共用平台 + 獨立遊戲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275320" y="23317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21624" y="2450592"/>
            <a:ext cx="19933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21624" y="2715768"/>
            <a:ext cx="19933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項測試 + 實機流程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2606040" y="4297680"/>
            <a:ext cx="6995160" cy="777240"/>
          </a:xfrm>
          <a:prstGeom prst="roundRect">
            <a:avLst>
              <a:gd name="adj" fmla="val 14118"/>
            </a:avLst>
          </a:prstGeom>
          <a:solidFill>
            <a:srgbClr val="0B1220"/>
          </a:solidFill>
          <a:ln w="10160">
            <a:solidFill>
              <a:srgbClr val="0B122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4572000"/>
            <a:ext cx="6995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· Q&amp;A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606040" y="4370832"/>
            <a:ext cx="6995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</Words>
  <Application>Microsoft Office PowerPoint</Application>
  <PresentationFormat>寬螢幕</PresentationFormat>
  <Paragraphs>376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遊戲對戰平台</dc:title>
  <dc:subject>GamePlatform project presentation</dc:subject>
  <dc:creator>OpenAI</dc:creator>
  <cp:lastModifiedBy>student</cp:lastModifiedBy>
  <cp:revision>1</cp:revision>
  <dcterms:created xsi:type="dcterms:W3CDTF">2026-09-04T04:30:33Z</dcterms:created>
  <dcterms:modified xsi:type="dcterms:W3CDTF">2026-09-04T05:36:20Z</dcterms:modified>
</cp:coreProperties>
</file>