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8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425696" cy="6858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10528" y="832104"/>
            <a:ext cx="5038344" cy="3639312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19672" y="850392"/>
            <a:ext cx="5020056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a3ee7892-e793-4869-8dfe-8b6687969b4e.png"/>
          <p:cNvPicPr>
            <a:picLocks noChangeAspect="1"/>
          </p:cNvPicPr>
          <p:nvPr/>
        </p:nvPicPr>
        <p:blipFill>
          <a:blip r:embed="rId3"/>
          <a:srcRect l="12258" r="12258"/>
          <a:stretch/>
        </p:blipFill>
        <p:spPr>
          <a:xfrm>
            <a:off x="6537960" y="1143000"/>
            <a:ext cx="4983480" cy="32735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4124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162288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308592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962656" y="2587752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正式專題主要採用 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 決定要開啟哪個遊戲頁面；room 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58952" y="20208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3774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58952" y="39227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93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2423160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487168" y="2423160"/>
            <a:ext cx="18288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606040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2862072"/>
            <a:ext cx="1572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 · status_id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938528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892040" y="1938528"/>
            <a:ext cx="15727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010912" y="20208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0056" y="2377440"/>
            <a:ext cx="1316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game_code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frontend_path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backend_path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8404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892040" y="3840480"/>
            <a:ext cx="175564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5010912" y="39227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0056" y="4279392"/>
            <a:ext cx="1499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mode_code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min/max players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16368" y="2331720"/>
            <a:ext cx="19659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516368" y="2331720"/>
            <a:ext cx="19659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7635240" y="241401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644384" y="2770632"/>
            <a:ext cx="1709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 (8碼)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host_account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12680" y="2596896"/>
            <a:ext cx="1481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012680" y="2596896"/>
            <a:ext cx="148132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131552" y="267919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30358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player_account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6816" y="2560320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956816" y="4142232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656832" y="2578608"/>
            <a:ext cx="59436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839712" y="4315968"/>
            <a:ext cx="512064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564624" y="3118104"/>
            <a:ext cx="32004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984248" y="2139696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2057400" y="2208276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84248" y="371246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2057400" y="378104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93408" y="214884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6766560" y="221742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76288" y="388620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6949440" y="395478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27066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9610344" y="277520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5623560"/>
            <a:ext cx="6263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 同時保存 game_id 與 mode_id；room_players 是 Room.players 的 ElementCollection 關聯表。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· nickname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 ·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42048" y="1572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242048" y="1572768"/>
            <a:ext cx="1883664" cy="3291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360920" y="1655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011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post_id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3858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242048" y="3858768"/>
            <a:ext cx="188366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360920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4297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post_id · message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0" y="2450592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784080" y="2450592"/>
            <a:ext cx="14173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9902952" y="253288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 / modes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912096" y="288950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766560" y="243230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766560" y="435254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208008" y="2907792"/>
            <a:ext cx="40233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463040" y="5440680"/>
            <a:ext cx="9372600" cy="475488"/>
          </a:xfrm>
          <a:prstGeom prst="roundRect">
            <a:avLst>
              <a:gd name="adj" fmla="val 23077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463040" y="5440680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691640" y="5568696"/>
            <a:ext cx="9006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重點：組隊模組不直接取代會員／房間資料表，而是保存必要的識別資訊與自己的流程狀態。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7782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2412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a3ee7892-e793-4869-8dfe-8b6687969b4e.png"/>
          <p:cNvPicPr>
            <a:picLocks noChangeAspect="1"/>
          </p:cNvPicPr>
          <p:nvPr/>
        </p:nvPicPr>
        <p:blipFill>
          <a:blip r:embed="rId3"/>
          <a:srcRect l="8135" r="8135"/>
          <a:stretch/>
        </p:blipFill>
        <p:spPr>
          <a:xfrm>
            <a:off x="658368" y="1847088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07408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4416552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07992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654296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800600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4-board-create-team.png"/>
          <p:cNvPicPr>
            <a:picLocks noChangeAspect="1"/>
          </p:cNvPicPr>
          <p:nvPr/>
        </p:nvPicPr>
        <p:blipFill>
          <a:blip r:embed="rId4"/>
          <a:srcRect l="2854" r="2854"/>
          <a:stretch/>
        </p:blipFill>
        <p:spPr>
          <a:xfrm>
            <a:off x="4434840" y="1847088"/>
            <a:ext cx="3273552" cy="19385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83880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8193024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8284464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430768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8577072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2" descr="/mnt/data/ppt_build/screenshots/06-waiting-room.png"/>
          <p:cNvPicPr>
            <a:picLocks noChangeAspect="1"/>
          </p:cNvPicPr>
          <p:nvPr/>
        </p:nvPicPr>
        <p:blipFill>
          <a:blip r:embed="rId5"/>
          <a:srcRect l="2854" r="2854"/>
          <a:stretch/>
        </p:blipFill>
        <p:spPr>
          <a:xfrm>
            <a:off x="8211312" y="1847088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58368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6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52144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34840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0"/>
          <p:cNvSpPr/>
          <p:nvPr/>
        </p:nvSpPr>
        <p:spPr>
          <a:xfrm>
            <a:off x="4599432" y="445312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1"/>
          <p:cNvSpPr txBox="1"/>
          <p:nvPr/>
        </p:nvSpPr>
        <p:spPr>
          <a:xfrm>
            <a:off x="4599432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28616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28616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11312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5"/>
          <p:cNvSpPr/>
          <p:nvPr/>
        </p:nvSpPr>
        <p:spPr>
          <a:xfrm>
            <a:off x="8375904" y="445312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 txBox="1"/>
          <p:nvPr/>
        </p:nvSpPr>
        <p:spPr>
          <a:xfrm>
            <a:off x="837590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05088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Poker 演算法：把牌型轉成可直接比較的 strength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以 ♦2、♦6、♦8、♦9、♦K 同花為例，將牌型、點數與花色編碼成單一 long 值。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13</a:t>
            </a:r>
            <a:endParaRPr lang="en-US" sz="900" dirty="0"/>
          </a:p>
        </p:txBody>
      </p:sp>
      <p:pic>
        <p:nvPicPr>
          <p:cNvPr id="11" name="Picture 10" descr="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5648"/>
            <a:ext cx="448056" cy="650577"/>
          </a:xfrm>
          <a:prstGeom prst="rect">
            <a:avLst/>
          </a:prstGeom>
        </p:spPr>
      </p:pic>
      <p:pic>
        <p:nvPicPr>
          <p:cNvPr id="12" name="Picture 11" descr="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755648"/>
            <a:ext cx="448056" cy="650577"/>
          </a:xfrm>
          <a:prstGeom prst="rect">
            <a:avLst/>
          </a:prstGeom>
        </p:spPr>
      </p:pic>
      <p:pic>
        <p:nvPicPr>
          <p:cNvPr id="13" name="Picture 12" descr="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755648"/>
            <a:ext cx="448056" cy="650577"/>
          </a:xfrm>
          <a:prstGeom prst="rect">
            <a:avLst/>
          </a:prstGeom>
        </p:spPr>
      </p:pic>
      <p:pic>
        <p:nvPicPr>
          <p:cNvPr id="14" name="Picture 13" descr="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39" y="1755648"/>
            <a:ext cx="448056" cy="650577"/>
          </a:xfrm>
          <a:prstGeom prst="rect">
            <a:avLst/>
          </a:prstGeom>
        </p:spPr>
      </p:pic>
      <p:pic>
        <p:nvPicPr>
          <p:cNvPr id="15" name="Picture 14" descr="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1" y="1755648"/>
            <a:ext cx="448056" cy="6505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999232"/>
            <a:ext cx="36576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100" b="0">
                <a:solidFill>
                  <a:srgbClr val="0B1D31"/>
                </a:solidFill>
                <a:latin typeface="Microsoft JhengHei"/>
              </a:rPr>
              <a:t>範例：♦2、♦6、♦8、♦9、♦K ＝ 同花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27632"/>
            <a:ext cx="5806440" cy="1389888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1975104"/>
            <a:ext cx="2240280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JhengHei"/>
              </a:rPr>
              <a:t>513090806021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029968"/>
            <a:ext cx="2926080" cy="31089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400" b="1">
                <a:solidFill>
                  <a:srgbClr val="FFDCE2"/>
                </a:solidFill>
                <a:latin typeface="Microsoft JhengHei"/>
              </a:rPr>
              <a:t>=  5  |  13  |  09  |  08  |  06  |  02  | 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32888"/>
            <a:ext cx="4800600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950" b="0">
                <a:solidFill>
                  <a:srgbClr val="DEE5F1"/>
                </a:solidFill>
                <a:latin typeface="Microsoft JhengHei"/>
              </a:rPr>
              <a:t>牌型  同花        最大K        9        8        6        2       花色♦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" y="4005072"/>
            <a:ext cx="2788920" cy="310896"/>
          </a:xfrm>
          <a:prstGeom prst="rect">
            <a:avLst/>
          </a:prstGeom>
          <a:solidFill>
            <a:srgbClr val="E7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強度編碼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牌型放在最高位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點數由大到小排列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kicker／花色放在低位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比較時只看 long 大小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2788920" cy="310896"/>
          </a:xfrm>
          <a:prstGeom prst="rect">
            <a:avLst/>
          </a:prstGeom>
          <a:solidFill>
            <a:srgbClr val="703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41648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規則集中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牌型規則集中維護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牌組統一轉成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避免大量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13448" y="4005072"/>
            <a:ext cx="2788920" cy="310896"/>
          </a:xfrm>
          <a:prstGeom prst="rect">
            <a:avLst/>
          </a:prstGeom>
          <a:solidFill>
            <a:srgbClr val="04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23176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自動選牌基礎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find_best_cards() 列舉組合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每組計算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保留最高分牌組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049B71"/>
                </a:solidFill>
                <a:latin typeface="Aptos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700" b="0">
                <a:solidFill>
                  <a:srgbClr val="0D1B30"/>
                </a:solidFill>
                <a:latin typeface="Aptos"/>
              </a:rPr>
              <a:t>自動選牌：find_best_cards() 找出本輪最強手牌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列舉本輪可用牌的候選組合，將每一組轉成 strength，比較後保留分數最高的牌組。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14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371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255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5139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71C52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扣除已用牌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前面輪次已選牌不再使用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864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38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決定張數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第 1 輪 3 張；第 2/3 輪 5 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列舉組合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從剩餘手牌取 C(n,k)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49B71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計算分數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score() → hand_strength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45167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保留最高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更新 best_score 與 best[]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907792"/>
            <a:ext cx="5166360" cy="2176272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3090672"/>
            <a:ext cx="4526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find_best_cards() 核心概念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474720"/>
            <a:ext cx="45537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best_score = -1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for each combination C(n, k):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score = score(current, count)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if score &gt; best_score: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best_score = score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 = current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07792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298094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1C52"/>
                </a:solidFill>
                <a:latin typeface="Aptos"/>
              </a:rPr>
              <a:t>回合策略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80944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依目前流程先選第 3 輪 5 張，再選第 2 輪，最後處理第 1 輪 3 張。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602736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1072" y="367588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038FF"/>
                </a:solidFill>
                <a:latin typeface="Aptos"/>
              </a:rPr>
              <a:t>目前輪次自動選牌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675888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auto_choose_current_round() 只重算目前輪次；已完成輪次保持鎖定。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297680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437083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49B71"/>
                </a:solidFill>
                <a:latin typeface="Aptos"/>
              </a:rPr>
              <a:t>與 strength 的關係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370832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每一組候選牌都交給 score()，再由 Round.determine_hand_strength() 取得分數。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074920"/>
            <a:ext cx="493776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27648" y="5175504"/>
            <a:ext cx="45262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D1B30"/>
                </a:solidFill>
                <a:latin typeface="Aptos"/>
              </a:rPr>
              <a:t>重點：比牌規則只維護一份，自動選牌只需要反覆比較 strength。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自動化測試與主要流程驗證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0">
                <a:solidFill>
                  <a:srgbClr val="5E6F86"/>
                </a:solidFill>
                <a:latin typeface="Microsoft JhengHei"/>
              </a:rPr>
              <a:t>測試結果用於支撐目前成果，並搭配實機操作確認主要展示流程。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6012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Spring、Board、Poker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JWT、Game Management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66344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登入、分頁、即時連線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與重新連線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8388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36676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手動流程驗證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84124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904488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大廳 → 建房 → 等待 → Poker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904488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已完成實機流程。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416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41248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自動選牌與三輪結果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434840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已完成操作驗證。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4946904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841248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965192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1200" b="0">
                <a:solidFill>
                  <a:srgbClr val="0B1D31"/>
                </a:solidFill>
                <a:latin typeface="Microsoft JhengHei"/>
              </a:rPr>
              <a:t>組隊公告 → 申請 → 通知 → 建立房間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4297680" y="4965192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00" b="0">
                <a:solidFill>
                  <a:srgbClr val="5E6F86"/>
                </a:solidFill>
                <a:latin typeface="Microsoft JhengHei"/>
              </a:rPr>
              <a:t>完成主要展示流程驗證。</a:t>
            </a:r>
          </a:p>
        </p:txBody>
      </p:sp>
      <p:sp>
        <p:nvSpPr>
          <p:cNvPr id="36" name="Shape 34"/>
          <p:cNvSpPr/>
          <p:nvPr/>
        </p:nvSpPr>
        <p:spPr>
          <a:xfrm>
            <a:off x="7086600" y="56692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086600" y="56692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315200" y="5797296"/>
            <a:ext cx="36576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1">
                <a:solidFill>
                  <a:srgbClr val="0B1D31"/>
                </a:solidFill>
                <a:latin typeface="Microsoft JhengHei"/>
              </a:rPr>
              <a:t>以已完成流程作為 Demo 主軸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Microsoft Office PowerPoint</Application>
  <PresentationFormat>寬螢幕</PresentationFormat>
  <Paragraphs>356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Aptos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student</cp:lastModifiedBy>
  <cp:revision>2</cp:revision>
  <dcterms:created xsi:type="dcterms:W3CDTF">2026-09-03T07:23:02Z</dcterms:created>
  <dcterms:modified xsi:type="dcterms:W3CDTF">2026-09-04T06:49:25Z</dcterms:modified>
</cp:coreProperties>
</file>