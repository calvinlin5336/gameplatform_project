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22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60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0" y="0"/>
            <a:ext cx="4419600" cy="6858000"/>
          </a:xfrm>
          <a:prstGeom prst="rect">
            <a:avLst>
              <a:gd name="adj" fmla="val 247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510528" y="832104"/>
            <a:ext cx="5038344" cy="3639312"/>
          </a:xfrm>
          <a:prstGeom prst="roundRect">
            <a:avLst>
              <a:gd name="adj" fmla="val 2764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519672" y="850392"/>
            <a:ext cx="5020056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611112" y="94183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757416" y="94183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903720" y="94183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9" name="Image 0" descr="/mnt/data/a3ee7892-e793-4869-8dfe-8b6687969b4e.png">    </p:cNvPr>
          <p:cNvPicPr>
            <a:picLocks noChangeAspect="1"/>
          </p:cNvPicPr>
          <p:nvPr/>
        </p:nvPicPr>
        <p:blipFill>
          <a:blip r:embed="rId1"/>
          <a:srcRect l="12258" r="12258" t="0" b="0"/>
          <a:stretch/>
        </p:blipFill>
        <p:spPr>
          <a:xfrm>
            <a:off x="6537960" y="1143000"/>
            <a:ext cx="4983480" cy="32735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37960" y="3950208"/>
            <a:ext cx="4983480" cy="466344"/>
          </a:xfrm>
          <a:prstGeom prst="rect">
            <a:avLst>
              <a:gd name="adj" fmla="val 23529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94944" y="960120"/>
            <a:ext cx="21031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94944" y="1353312"/>
            <a:ext cx="5303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遊戲對戰平台</a:t>
            </a:r>
            <a:endParaRPr lang="en-US" sz="38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" y="2176272"/>
            <a:ext cx="4800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從會員登入、遊戲大廳、組隊與房間，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到進入遊戲的一體化平台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13232" y="3182112"/>
            <a:ext cx="658368" cy="54864"/>
          </a:xfrm>
          <a:prstGeom prst="rect">
            <a:avLst>
              <a:gd name="adj" fmla="val 20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713232" y="3401568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全端工程師職訓 · 小組專題成果報告</a:t>
            </a:r>
            <a:endParaRPr lang="en-US" sz="1330" dirty="0"/>
          </a:p>
        </p:txBody>
      </p:sp>
      <p:sp>
        <p:nvSpPr>
          <p:cNvPr id="16" name="Shape 13"/>
          <p:cNvSpPr/>
          <p:nvPr/>
        </p:nvSpPr>
        <p:spPr>
          <a:xfrm>
            <a:off x="71323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78638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181051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88366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90779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298094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005072" y="5596128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2F6FB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078224" y="5664708"/>
            <a:ext cx="813816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10863072" y="6144768"/>
            <a:ext cx="71323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GOAL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我們做的不是單一遊戲，而是一條完整的遊玩流程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玩家真正需要的，是從登入、找到遊戲，到和其他玩家一起開始遊戲都能順暢銜接。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77824" y="244144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77824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集中顯示遊戲與模式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670048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980944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145536" y="244144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145536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尋找玩家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大廳與組隊公告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248656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413248" y="2441448"/>
            <a:ext cx="237744" cy="23774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413248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742432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742432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依模式驗證人數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205472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516368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680960" y="244144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7680960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010144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等待同步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10144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房主與玩家名單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473184" y="256032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784080" y="2240280"/>
            <a:ext cx="1874520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948672" y="2441448"/>
            <a:ext cx="237744" cy="23774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9948672" y="24414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277856" y="236829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開始遊戲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0277856" y="2688336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帶入房號與身分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325880" y="4251960"/>
            <a:ext cx="955548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325880" y="4251960"/>
            <a:ext cx="73152" cy="713232"/>
          </a:xfrm>
          <a:prstGeom prst="rect">
            <a:avLst>
              <a:gd name="adj" fmla="val 1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1554480" y="4379976"/>
            <a:ext cx="918972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共用會員、遊戲目錄與房間流程，個別遊戲只專注自己的規則與對局。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MODULES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六個模組共同組成遊戲平台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這一頁只看「系統責任」，不是組員分工。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2148840"/>
            <a:ext cx="2944368" cy="960120"/>
          </a:xfrm>
          <a:prstGeom prst="roundRect">
            <a:avLst>
              <a:gd name="adj" fmla="val 11429"/>
            </a:avLst>
          </a:prstGeom>
          <a:solidFill>
            <a:srgbClr val="F0F6FF"/>
          </a:solidFill>
          <a:ln w="1016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64608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724912"/>
            <a:ext cx="244144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共用身分、目錄與流程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" y="1883664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41248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</a:t>
            </a:r>
            <a:endParaRPr lang="en-US" sz="133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2313432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· JWT · 會員管理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94944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841248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33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 · 模式 · 入口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303580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318211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330" dirty="0"/>
          </a:p>
        </p:txBody>
      </p:sp>
      <p:sp>
        <p:nvSpPr>
          <p:cNvPr id="22" name="Text 20"/>
          <p:cNvSpPr txBox="1"/>
          <p:nvPr/>
        </p:nvSpPr>
        <p:spPr>
          <a:xfrm>
            <a:off x="318211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建房 · 入房 · 等待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876288" y="4617720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022592" y="4736592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</a:t>
            </a:r>
            <a:endParaRPr lang="en-US" sz="1330" dirty="0"/>
          </a:p>
        </p:txBody>
      </p:sp>
      <p:sp>
        <p:nvSpPr>
          <p:cNvPr id="25" name="Text 23"/>
          <p:cNvSpPr txBox="1"/>
          <p:nvPr/>
        </p:nvSpPr>
        <p:spPr>
          <a:xfrm>
            <a:off x="7022592" y="5047488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 · 申請 · 通知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9162288" y="1883664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9308592" y="2002536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</a:t>
            </a:r>
            <a:endParaRPr lang="en-US" sz="1330" dirty="0"/>
          </a:p>
        </p:txBody>
      </p:sp>
      <p:sp>
        <p:nvSpPr>
          <p:cNvPr id="28" name="Text 26"/>
          <p:cNvSpPr txBox="1"/>
          <p:nvPr/>
        </p:nvSpPr>
        <p:spPr>
          <a:xfrm>
            <a:off x="9308592" y="2313432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聊天室即時訊息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9162288" y="4005072"/>
            <a:ext cx="2267712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9308592" y="4123944"/>
            <a:ext cx="19751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330" dirty="0"/>
          </a:p>
        </p:txBody>
      </p:sp>
      <p:sp>
        <p:nvSpPr>
          <p:cNvPr id="31" name="Text 29"/>
          <p:cNvSpPr txBox="1"/>
          <p:nvPr/>
        </p:nvSpPr>
        <p:spPr>
          <a:xfrm>
            <a:off x="9308592" y="4434840"/>
            <a:ext cx="197510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· Quiz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2962656" y="2587752"/>
            <a:ext cx="137160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616952" y="2587752"/>
            <a:ext cx="135331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089904" y="3182112"/>
            <a:ext cx="0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089904" y="3182112"/>
            <a:ext cx="0" cy="123444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187952" y="4416552"/>
            <a:ext cx="3776472" cy="0"/>
          </a:xfrm>
          <a:prstGeom prst="line">
            <a:avLst/>
          </a:prstGeom>
          <a:noFill/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前端、Spring Boot 與 SQLite 串起所有模組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正式專題主要採用 HTML、CSS、JavaScript 與 jQuery，後端由 Spring Boot 提供 API。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32688" y="187452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170432" y="202996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09397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· CSS · JavaScript · jQuery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33488" y="211226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畫面、表單與操作狀態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897880" y="278892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32688" y="320040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170432" y="335584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2670048" y="341985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 · WebSocket · JWT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33488" y="343814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→ Service → Repository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4114800"/>
            <a:ext cx="347472" cy="219456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32688" y="4526280"/>
            <a:ext cx="101498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170432" y="4681728"/>
            <a:ext cx="14173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670048" y="4745736"/>
            <a:ext cx="3931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4764024"/>
            <a:ext cx="34290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JPA／Hibernate + JDBC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874520" y="5669280"/>
            <a:ext cx="8412480" cy="384048"/>
          </a:xfrm>
          <a:prstGeom prst="roundRect">
            <a:avLst>
              <a:gd name="adj" fmla="val 28571"/>
            </a:avLst>
          </a:prstGeom>
          <a:solidFill>
            <a:srgbClr val="EEF7FF"/>
          </a:solidFill>
          <a:ln w="10160">
            <a:solidFill>
              <a:srgbClr val="D9EAF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2048256" y="5760720"/>
            <a:ext cx="8065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Game Management · Lobby · Board · Chat · Poker · Quiz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USER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網頁使用流程：從登入到進入遊戲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同一個平台身分貫穿所有步驟，遊戲頁不需要再次建立獨立帳號。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152144" y="2130552"/>
            <a:ext cx="438912" cy="43891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1521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5852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 JWT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197510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026664" y="2130552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02666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45973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245973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384962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901184" y="2130552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90118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3425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選模式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433425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 GameMode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572414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775704" y="2130552"/>
            <a:ext cx="438912" cy="43891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677570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20877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組隊／建房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620877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驗證人數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59866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8650224" y="2130552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865022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8329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808329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同步玩家名單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9473184" y="2267712"/>
            <a:ext cx="310896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24744" y="2130552"/>
            <a:ext cx="438912" cy="43891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10524744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957816" y="2788920"/>
            <a:ext cx="1572768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進入遊戲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9957816" y="3108960"/>
            <a:ext cx="15727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 room ID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188720" y="4315968"/>
            <a:ext cx="9802368" cy="777240"/>
          </a:xfrm>
          <a:prstGeom prst="roundRect">
            <a:avLst>
              <a:gd name="adj" fmla="val 14118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188720" y="4315968"/>
            <a:ext cx="73152" cy="777240"/>
          </a:xfrm>
          <a:prstGeom prst="rect">
            <a:avLst>
              <a:gd name="adj" fmla="val 1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1417320" y="4443984"/>
            <a:ext cx="9436608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 決定要開啟哪個遊戲頁面；room ID 讓遊戲取得本次房間、模式與玩家資訊。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/ MODE / ROOM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Game、GameMode 與 Room 把遊戲設定從房間邏輯中抽離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保存遊戲入口，GameMode 保存模式限制，Room 保存一次等待中的對局。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04672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86968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77824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/ QUIZ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遊戲名稱 · 入口路徑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 · 啟用狀態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2980944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474720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3621024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GameMode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03320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694176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PLAYER / COMPUTER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minPlayers · maxPlayers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computerPlayers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797296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291072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437376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519672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510528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gameId + modeId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hostAccount · players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613648" y="2944368"/>
            <a:ext cx="338328" cy="109728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107424" y="1883664"/>
            <a:ext cx="2212848" cy="25146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9253728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36024" y="2560320"/>
            <a:ext cx="1755648" cy="0"/>
          </a:xfrm>
          <a:prstGeom prst="line">
            <a:avLst/>
          </a:prstGeom>
          <a:noFill/>
          <a:ln w="1270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9326880" y="2816352"/>
            <a:ext cx="1783080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poker_client.html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?room=XXXXXXXX</a:t>
            </a:r>
            <a:endParaRPr lang="en-US" sz="10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依房間資料啟動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1828800" y="5074920"/>
            <a:ext cx="8549640" cy="713232"/>
          </a:xfrm>
          <a:prstGeom prst="roundRect">
            <a:avLst>
              <a:gd name="adj" fmla="val 15385"/>
            </a:avLst>
          </a:prstGeom>
          <a:solidFill>
            <a:srgbClr val="FBFDFF"/>
          </a:solidFill>
          <a:ln w="1397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828800" y="5074920"/>
            <a:ext cx="73152" cy="713232"/>
          </a:xfrm>
          <a:prstGeom prst="rect">
            <a:avLst>
              <a:gd name="adj" fmla="val 15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2057400" y="5202936"/>
            <a:ext cx="81838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房間只依 gameId / modeId 查規則，不需要把 Poker 或 Quiz 的特殊玩法寫死在通用房間模組。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CORE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 ER Model：會員、遊戲目錄與房間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先看會直接影響「登入 → 選遊戲 → 建房 → 進遊戲」的資料表。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7</a:t>
            </a:r>
            <a:endParaRPr lang="en-US" sz="900" dirty="0"/>
          </a:p>
        </p:txBody>
      </p:sp>
      <p:cxnSp>
        <p:nvCxnSpPr>
          <p:cNvPr id="11" name="Connector 10"/>
          <p:cNvCxnSpPr/>
          <p:nvPr/>
        </p:nvCxnSpPr>
        <p:spPr>
          <a:xfrm>
            <a:off x="2331720" y="2514600"/>
            <a:ext cx="365760" cy="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331720" y="3154680"/>
            <a:ext cx="365760" cy="73152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736592" y="2560320"/>
            <a:ext cx="274320" cy="41148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39712" y="2560320"/>
            <a:ext cx="566928" cy="22860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903720" y="3429000"/>
            <a:ext cx="502920" cy="548639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19488" y="3063240"/>
            <a:ext cx="393192" cy="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1874519"/>
            <a:ext cx="16002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79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874519"/>
            <a:ext cx="1600200" cy="310896"/>
          </a:xfrm>
          <a:prstGeom prst="rect">
            <a:avLst/>
          </a:prstGeom>
          <a:solidFill>
            <a:srgbClr val="079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1938527"/>
            <a:ext cx="1453896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295144"/>
            <a:ext cx="1380744" cy="557783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PK 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role_name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83280"/>
            <a:ext cx="1600200" cy="1051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79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3383280"/>
            <a:ext cx="1600200" cy="310896"/>
          </a:xfrm>
          <a:prstGeom prst="rect">
            <a:avLst/>
          </a:prstGeom>
          <a:solidFill>
            <a:srgbClr val="079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" y="3447288"/>
            <a:ext cx="1453896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statuses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3803904"/>
            <a:ext cx="1380744" cy="557783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PK 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status_name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2331720"/>
            <a:ext cx="1874519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79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88920" y="2331720"/>
            <a:ext cx="1874519" cy="310896"/>
          </a:xfrm>
          <a:prstGeom prst="rect">
            <a:avLst/>
          </a:prstGeom>
          <a:solidFill>
            <a:srgbClr val="079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62072" y="2395727"/>
            <a:ext cx="1728216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8648" y="2752344"/>
            <a:ext cx="1655063" cy="1197864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PK 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account (UQ)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username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role_id · status_id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1874519"/>
            <a:ext cx="1664208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3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74920" y="1874519"/>
            <a:ext cx="1664208" cy="310896"/>
          </a:xfrm>
          <a:prstGeom prst="rect">
            <a:avLst/>
          </a:prstGeom>
          <a:solidFill>
            <a:srgbClr val="6F3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1938527"/>
            <a:ext cx="1517904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games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2295144"/>
            <a:ext cx="1444752" cy="832103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950" b="0">
                <a:solidFill>
                  <a:srgbClr val="14243A"/>
                </a:solidFill>
                <a:latin typeface="Aptos"/>
              </a:rPr>
              <a:t>PK game_id</a:t>
            </a:r>
          </a:p>
          <a:p>
            <a:pPr algn="l"/>
            <a:r>
              <a:rPr sz="950" b="0">
                <a:solidFill>
                  <a:srgbClr val="14243A"/>
                </a:solidFill>
                <a:latin typeface="Aptos"/>
              </a:rPr>
              <a:t>game_code (UQ)</a:t>
            </a:r>
          </a:p>
          <a:p>
            <a:pPr algn="l"/>
            <a:r>
              <a:rPr sz="950" b="0">
                <a:solidFill>
                  <a:srgbClr val="14243A"/>
                </a:solidFill>
                <a:latin typeface="Aptos"/>
              </a:rPr>
              <a:t>frontend_path</a:t>
            </a:r>
          </a:p>
          <a:p>
            <a:pPr algn="l"/>
            <a:r>
              <a:rPr sz="950" b="0">
                <a:solidFill>
                  <a:srgbClr val="14243A"/>
                </a:solidFill>
                <a:latin typeface="Aptos"/>
              </a:rPr>
              <a:t>backend_path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3611880"/>
            <a:ext cx="1874519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3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74920" y="3611880"/>
            <a:ext cx="1874519" cy="310896"/>
          </a:xfrm>
          <a:prstGeom prst="rect">
            <a:avLst/>
          </a:prstGeom>
          <a:solidFill>
            <a:srgbClr val="6F3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48072" y="3675888"/>
            <a:ext cx="1728216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game_modes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4648" y="4032504"/>
            <a:ext cx="1655063" cy="832103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950" b="0">
                <a:solidFill>
                  <a:srgbClr val="14243A"/>
                </a:solidFill>
                <a:latin typeface="Aptos"/>
              </a:rPr>
              <a:t>PK mode_id</a:t>
            </a:r>
          </a:p>
          <a:p>
            <a:pPr algn="l"/>
            <a:r>
              <a:rPr sz="950" b="0">
                <a:solidFill>
                  <a:srgbClr val="14243A"/>
                </a:solidFill>
                <a:latin typeface="Aptos"/>
              </a:rPr>
              <a:t>FK game_id</a:t>
            </a:r>
          </a:p>
          <a:p>
            <a:pPr algn="l"/>
            <a:r>
              <a:rPr sz="950" b="0">
                <a:solidFill>
                  <a:srgbClr val="14243A"/>
                </a:solidFill>
                <a:latin typeface="Aptos"/>
              </a:rPr>
              <a:t>mode_code</a:t>
            </a:r>
          </a:p>
          <a:p>
            <a:pPr algn="l"/>
            <a:r>
              <a:rPr sz="950" b="0">
                <a:solidFill>
                  <a:srgbClr val="14243A"/>
                </a:solidFill>
                <a:latin typeface="Aptos"/>
              </a:rPr>
              <a:t>min/max players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79792" y="2331720"/>
            <a:ext cx="2057400" cy="1691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79792" y="2331720"/>
            <a:ext cx="2057400" cy="310896"/>
          </a:xfrm>
          <a:prstGeom prst="rect">
            <a:avLst/>
          </a:prstGeom>
          <a:solidFill>
            <a:srgbClr val="00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52944" y="2395727"/>
            <a:ext cx="1911095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rooms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2752344"/>
            <a:ext cx="1837943" cy="1197864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PK id (8碼)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game_id · mode_id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host_account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status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948672" y="2514600"/>
            <a:ext cx="1627632" cy="1325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48672" y="2514600"/>
            <a:ext cx="1627632" cy="310896"/>
          </a:xfrm>
          <a:prstGeom prst="rect">
            <a:avLst/>
          </a:prstGeom>
          <a:solidFill>
            <a:srgbClr val="00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21824" y="2578608"/>
            <a:ext cx="1481328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room_players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2935224"/>
            <a:ext cx="1408176" cy="832103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room_id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player_account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49424" y="2057400"/>
            <a:ext cx="530352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3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49424" y="2121408"/>
            <a:ext cx="530352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ctr"/>
            <a:r>
              <a:rPr sz="950" b="1">
                <a:solidFill>
                  <a:srgbClr val="6F35F2"/>
                </a:solidFill>
                <a:latin typeface="Aptos"/>
              </a:rPr>
              <a:t>1 : 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249424" y="3730752"/>
            <a:ext cx="530352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3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9424" y="3794760"/>
            <a:ext cx="530352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ctr"/>
            <a:r>
              <a:rPr sz="950" b="1">
                <a:solidFill>
                  <a:srgbClr val="6F35F2"/>
                </a:solidFill>
                <a:latin typeface="Aptos"/>
              </a:rPr>
              <a:t>1 : 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12864" y="2121408"/>
            <a:ext cx="530352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3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12864" y="2185415"/>
            <a:ext cx="530352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ctr"/>
            <a:r>
              <a:rPr sz="950" b="1">
                <a:solidFill>
                  <a:srgbClr val="6F35F2"/>
                </a:solidFill>
                <a:latin typeface="Aptos"/>
              </a:rPr>
              <a:t>1 : 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59168" y="3822191"/>
            <a:ext cx="530352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3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59168" y="3886200"/>
            <a:ext cx="530352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ctr"/>
            <a:r>
              <a:rPr sz="950" b="1">
                <a:solidFill>
                  <a:srgbClr val="6F35F2"/>
                </a:solidFill>
                <a:latin typeface="Aptos"/>
              </a:rPr>
              <a:t>1 : 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00032" y="2688336"/>
            <a:ext cx="530352" cy="2926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3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00032" y="2752344"/>
            <a:ext cx="530352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ctr"/>
            <a:r>
              <a:rPr sz="950" b="1">
                <a:solidFill>
                  <a:srgbClr val="6F35F2"/>
                </a:solidFill>
                <a:latin typeface="Aptos"/>
              </a:rPr>
              <a:t>1 : 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325880" y="5321808"/>
            <a:ext cx="9555480" cy="4754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3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508760" y="5449824"/>
            <a:ext cx="9189720" cy="210312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50" b="0">
                <a:solidFill>
                  <a:srgbClr val="14243A"/>
                </a:solidFill>
                <a:latin typeface="Aptos"/>
              </a:rPr>
              <a:t>rooms 同時保存 game_id 與 mode_id；room_players 是 Room.players 的 ElementCollection 關聯表。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BOARD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延伸 ER Model：組隊公告如何連到會員、遊戲與房間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有自己的 Entity，但透過 platform_user_id、game_id、mode_id、room_id 與其他模組銜接。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8</a:t>
            </a:r>
            <a:endParaRPr lang="en-US" sz="900" dirty="0"/>
          </a:p>
        </p:txBody>
      </p:sp>
      <p:cxnSp>
        <p:nvCxnSpPr>
          <p:cNvPr id="11" name="Connector 10"/>
          <p:cNvCxnSpPr/>
          <p:nvPr/>
        </p:nvCxnSpPr>
        <p:spPr>
          <a:xfrm>
            <a:off x="2148840" y="2514600"/>
            <a:ext cx="411480" cy="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80560" y="2514600"/>
            <a:ext cx="411480" cy="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040880" y="2057400"/>
            <a:ext cx="457199" cy="36576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40880" y="3063240"/>
            <a:ext cx="457199" cy="118872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98280" y="2057400"/>
            <a:ext cx="457200" cy="45720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40880" y="2697480"/>
            <a:ext cx="2514600" cy="365760"/>
          </a:xfrm>
          <a:prstGeom prst="line">
            <a:avLst/>
          </a:prstGeom>
          <a:ln w="25400">
            <a:solidFill>
              <a:srgbClr val="D6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1938528"/>
            <a:ext cx="160020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79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1938528"/>
            <a:ext cx="1600200" cy="310896"/>
          </a:xfrm>
          <a:prstGeom prst="rect">
            <a:avLst/>
          </a:prstGeom>
          <a:solidFill>
            <a:srgbClr val="079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2002536"/>
            <a:ext cx="1453896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users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2359152"/>
            <a:ext cx="1380744" cy="694944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30" b="0">
                <a:solidFill>
                  <a:srgbClr val="14243A"/>
                </a:solidFill>
                <a:latin typeface="Aptos"/>
              </a:rPr>
              <a:t>PK id</a:t>
            </a:r>
          </a:p>
          <a:p>
            <a:pPr algn="l"/>
            <a:r>
              <a:rPr sz="1030" b="0">
                <a:solidFill>
                  <a:srgbClr val="14243A"/>
                </a:solidFill>
                <a:latin typeface="Aptos"/>
              </a:rPr>
              <a:t>account</a:t>
            </a:r>
          </a:p>
          <a:p>
            <a:pPr algn="l"/>
            <a:r>
              <a:rPr sz="1030" b="0">
                <a:solidFill>
                  <a:srgbClr val="14243A"/>
                </a:solidFill>
                <a:latin typeface="Aptos"/>
              </a:rPr>
              <a:t>username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1938528"/>
            <a:ext cx="196596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06040" y="1938528"/>
            <a:ext cx="1965960" cy="310896"/>
          </a:xfrm>
          <a:prstGeom prst="rect">
            <a:avLst/>
          </a:prstGeom>
          <a:solidFill>
            <a:srgbClr val="E1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9192" y="2002536"/>
            <a:ext cx="1819656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members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2359152"/>
            <a:ext cx="1746504" cy="694944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980" b="0">
                <a:solidFill>
                  <a:srgbClr val="14243A"/>
                </a:solidFill>
                <a:latin typeface="Aptos"/>
              </a:rPr>
              <a:t>PK id</a:t>
            </a:r>
          </a:p>
          <a:p>
            <a:pPr algn="l"/>
            <a:r>
              <a:rPr sz="980" b="0">
                <a:solidFill>
                  <a:srgbClr val="14243A"/>
                </a:solidFill>
                <a:latin typeface="Aptos"/>
              </a:rPr>
              <a:t>platform_user_id (UQ)</a:t>
            </a:r>
          </a:p>
          <a:p>
            <a:pPr algn="l"/>
            <a:r>
              <a:rPr sz="980" b="0">
                <a:solidFill>
                  <a:srgbClr val="14243A"/>
                </a:solidFill>
                <a:latin typeface="Aptos"/>
              </a:rPr>
              <a:t>account · nickname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19472" y="1719072"/>
            <a:ext cx="2148840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1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19472" y="1719072"/>
            <a:ext cx="2148840" cy="310896"/>
          </a:xfrm>
          <a:prstGeom prst="rect">
            <a:avLst/>
          </a:prstGeom>
          <a:solidFill>
            <a:srgbClr val="E1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92624" y="1783080"/>
            <a:ext cx="2002536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team_posts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2139696"/>
            <a:ext cx="1929384" cy="1133856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PK 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FK member_id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game_id · mode_id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room_id · status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16368" y="1417320"/>
            <a:ext cx="205740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91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16368" y="1417320"/>
            <a:ext cx="2057400" cy="310896"/>
          </a:xfrm>
          <a:prstGeom prst="rect">
            <a:avLst/>
          </a:prstGeom>
          <a:solidFill>
            <a:srgbClr val="E91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0" y="1481328"/>
            <a:ext cx="1911095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join_requests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1837944"/>
            <a:ext cx="1837943" cy="804671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PK 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FK post_id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FK member_id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16368" y="3685032"/>
            <a:ext cx="2057400" cy="12984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9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16368" y="3685032"/>
            <a:ext cx="2057400" cy="310896"/>
          </a:xfrm>
          <a:prstGeom prst="rect">
            <a:avLst/>
          </a:prstGeom>
          <a:solidFill>
            <a:srgbClr val="009B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3749040"/>
            <a:ext cx="1911095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notifications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6096" y="4105656"/>
            <a:ext cx="1837943" cy="804671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PK 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FK member_id</a:t>
            </a:r>
          </a:p>
          <a:p>
            <a:pPr algn="l"/>
            <a:r>
              <a:rPr sz="1000" b="0">
                <a:solidFill>
                  <a:srgbClr val="14243A"/>
                </a:solidFill>
                <a:latin typeface="Aptos"/>
              </a:rPr>
              <a:t>post_id · message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65792" y="2340864"/>
            <a:ext cx="1664208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F3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65792" y="2340864"/>
            <a:ext cx="1664208" cy="310896"/>
          </a:xfrm>
          <a:prstGeom prst="rect">
            <a:avLst/>
          </a:prstGeom>
          <a:solidFill>
            <a:srgbClr val="6F3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38944" y="2404872"/>
            <a:ext cx="1517904" cy="201168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ptos"/>
              </a:rPr>
              <a:t>games / modes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19" y="2761488"/>
            <a:ext cx="1444752" cy="694944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050" b="0">
                <a:solidFill>
                  <a:srgbClr val="14243A"/>
                </a:solidFill>
                <a:latin typeface="Aptos"/>
              </a:rPr>
              <a:t>game_id</a:t>
            </a:r>
          </a:p>
          <a:p>
            <a:pPr algn="l"/>
            <a:r>
              <a:rPr sz="1050" b="0">
                <a:solidFill>
                  <a:srgbClr val="14243A"/>
                </a:solidFill>
                <a:latin typeface="Aptos"/>
              </a:rPr>
              <a:t>mode_id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" y="5321808"/>
            <a:ext cx="101041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1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2960" y="5321808"/>
            <a:ext cx="73152" cy="502920"/>
          </a:xfrm>
          <a:prstGeom prst="rect">
            <a:avLst/>
          </a:prstGeom>
          <a:solidFill>
            <a:srgbClr val="E1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458968"/>
            <a:ext cx="9738360" cy="219456"/>
          </a:xfrm>
          <a:prstGeom prst="rect">
            <a:avLst/>
          </a:prstGeom>
          <a:noFill/>
        </p:spPr>
        <p:txBody>
          <a:bodyPr wrap="square" lIns="73152" rIns="73152">
            <a:noAutofit/>
          </a:bodyPr>
          <a:lstStyle/>
          <a:p>
            <a:pPr algn="l"/>
            <a:r>
              <a:rPr sz="1180" b="0">
                <a:solidFill>
                  <a:srgbClr val="14243A"/>
                </a:solidFill>
                <a:latin typeface="Aptos"/>
              </a:rPr>
              <a:t>重點：組隊模組不直接取代會員／房間資料表，而是保存必要識別資訊與自己的流程狀態。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AUTHENTICATION FLOW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讓不同頁面共享同一個登入身分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前端保存登入結果；每次受保護請求仍由後端重新驗證 token 與帳號狀態。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307592" y="217627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307592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</a:t>
            </a:r>
            <a:endParaRPr lang="en-US" sz="124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+ password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2487168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871216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557016" y="217627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3557016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80944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</a:t>
            </a:r>
            <a:endParaRPr lang="en-US" sz="1240" dirty="0"/>
          </a:p>
        </p:txBody>
      </p:sp>
      <p:sp>
        <p:nvSpPr>
          <p:cNvPr id="21" name="Text 19"/>
          <p:cNvSpPr txBox="1"/>
          <p:nvPr/>
        </p:nvSpPr>
        <p:spPr>
          <a:xfrm>
            <a:off x="2980944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userId · account · role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36592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120640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806440" y="2176272"/>
            <a:ext cx="365760" cy="365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5806440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30368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Authorization</a:t>
            </a:r>
            <a:endParaRPr lang="en-US" sz="1240" dirty="0"/>
          </a:p>
        </p:txBody>
      </p:sp>
      <p:sp>
        <p:nvSpPr>
          <p:cNvPr id="27" name="Text 25"/>
          <p:cNvSpPr txBox="1"/>
          <p:nvPr/>
        </p:nvSpPr>
        <p:spPr>
          <a:xfrm>
            <a:off x="5230368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Bearer token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986016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70064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055864" y="217627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8055864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79792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Filter</a:t>
            </a:r>
            <a:endParaRPr lang="en-US" sz="1240" dirty="0"/>
          </a:p>
        </p:txBody>
      </p:sp>
      <p:sp>
        <p:nvSpPr>
          <p:cNvPr id="33" name="Text 31"/>
          <p:cNvSpPr txBox="1"/>
          <p:nvPr/>
        </p:nvSpPr>
        <p:spPr>
          <a:xfrm>
            <a:off x="7479792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驗簽 · 到期 · 狀態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9235440" y="2606040"/>
            <a:ext cx="237744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619488" y="2011680"/>
            <a:ext cx="1783080" cy="131673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305288" y="2176272"/>
            <a:ext cx="365760" cy="3657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10305288" y="2176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729216" y="2660904"/>
            <a:ext cx="156362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Modules</a:t>
            </a:r>
            <a:endParaRPr lang="en-US" sz="1240" dirty="0"/>
          </a:p>
        </p:txBody>
      </p:sp>
      <p:sp>
        <p:nvSpPr>
          <p:cNvPr id="39" name="Text 37"/>
          <p:cNvSpPr txBox="1"/>
          <p:nvPr/>
        </p:nvSpPr>
        <p:spPr>
          <a:xfrm>
            <a:off x="9729216" y="2944368"/>
            <a:ext cx="156362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Board · Lobby · Games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591056" y="4526280"/>
            <a:ext cx="9006840" cy="731520"/>
          </a:xfrm>
          <a:prstGeom prst="roundRect">
            <a:avLst>
              <a:gd name="adj" fmla="val 15000"/>
            </a:avLst>
          </a:prstGeom>
          <a:solidFill>
            <a:srgbClr val="FBFDFF"/>
          </a:solidFill>
          <a:ln w="1397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591056" y="4526280"/>
            <a:ext cx="73152" cy="731520"/>
          </a:xfrm>
          <a:prstGeom prst="rect">
            <a:avLst>
              <a:gd name="adj" fmla="val 1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1819656" y="4654296"/>
            <a:ext cx="86410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localStorage 只保存資料；真正能不能操作，仍以後端驗證結果為準。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CROSS-MODULE SEQUENCE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核心功能資料流：組隊完成後建立房間並導向遊戲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用一次核心流程說明前端、Controller、Service、Game Management、Lobby 與 DB 如何串接。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303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UI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選遊戲／模式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送出組隊資料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202996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37744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245059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接收請求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取得登入身分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95020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29768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37083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Service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申請／核准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判斷人數到齊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87044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1792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29107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gameId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modeId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79068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13816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821131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加入玩家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9710928" y="2587752"/>
            <a:ext cx="228600" cy="91440"/>
          </a:xfrm>
          <a:prstGeom prst="right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058400" y="1984248"/>
            <a:ext cx="148132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10131552" y="2185416"/>
            <a:ext cx="133502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2633472"/>
            <a:ext cx="1298448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frontendPath</a:t>
            </a:r>
            <a:endParaRPr lang="en-US" sz="86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room ID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71032" y="3675888"/>
            <a:ext cx="274320" cy="457200"/>
          </a:xfrm>
          <a:prstGeom prst="downArrow">
            <a:avLst/>
          </a:prstGeom>
          <a:solidFill>
            <a:srgbClr val="D7E0EB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840480" y="4434840"/>
            <a:ext cx="4535424" cy="685800"/>
          </a:xfrm>
          <a:prstGeom prst="roundRect">
            <a:avLst>
              <a:gd name="adj" fmla="val 16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3840480" y="4434840"/>
            <a:ext cx="73152" cy="685800"/>
          </a:xfrm>
          <a:prstGeom prst="rect">
            <a:avLst>
              <a:gd name="adj" fmla="val 1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4069080" y="4562856"/>
            <a:ext cx="41696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 + WebSocket：資料交易成功後才保存／推送玩家名單、通知與房間狀態。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WORKING PRODUCT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實際畫面把平台流程連成一致體驗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遊戲大廳 → 組隊設定 → 房間等待，畫面都使用同一個登入身分。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1554480"/>
            <a:ext cx="3310128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77824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24128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16" name="Image 0" descr="/mnt/data/a3ee7892-e793-4869-8dfe-8b6687969b4e.png">    </p:cNvPr>
          <p:cNvPicPr>
            <a:picLocks noChangeAspect="1"/>
          </p:cNvPicPr>
          <p:nvPr/>
        </p:nvPicPr>
        <p:blipFill>
          <a:blip r:embed="rId1"/>
          <a:srcRect l="8135" r="8135" t="0" b="0"/>
          <a:stretch/>
        </p:blipFill>
        <p:spPr>
          <a:xfrm>
            <a:off x="658368" y="1847088"/>
            <a:ext cx="3273552" cy="193852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407408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416552" y="1554480"/>
            <a:ext cx="3310128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4507992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4654296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4800600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22" name="Image 1" descr="/mnt/data/ppt_build/screenshots/04-board-create-team.png">    </p:cNvPr>
          <p:cNvPicPr>
            <a:picLocks noChangeAspect="1"/>
          </p:cNvPicPr>
          <p:nvPr/>
        </p:nvPicPr>
        <p:blipFill>
          <a:blip r:embed="rId2"/>
          <a:srcRect l="2854" r="2854" t="0" b="0"/>
          <a:stretch/>
        </p:blipFill>
        <p:spPr>
          <a:xfrm>
            <a:off x="4434840" y="1847088"/>
            <a:ext cx="3273552" cy="1938528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8183880" y="1536192"/>
            <a:ext cx="3328416" cy="2304288"/>
          </a:xfrm>
          <a:prstGeom prst="roundRect">
            <a:avLst>
              <a:gd name="adj" fmla="val 4365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4" name="Shape 20"/>
          <p:cNvSpPr/>
          <p:nvPr/>
        </p:nvSpPr>
        <p:spPr>
          <a:xfrm>
            <a:off x="8193024" y="1554480"/>
            <a:ext cx="3310128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8284464" y="1645920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8430768" y="1645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8577072" y="164592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28" name="Image 2" descr="/mnt/data/ppt_build/screenshots/06-waiting-room.png">    </p:cNvPr>
          <p:cNvPicPr>
            <a:picLocks noChangeAspect="1"/>
          </p:cNvPicPr>
          <p:nvPr/>
        </p:nvPicPr>
        <p:blipFill>
          <a:blip r:embed="rId3"/>
          <a:srcRect l="2854" r="2854" t="0" b="0"/>
          <a:stretch/>
        </p:blipFill>
        <p:spPr>
          <a:xfrm>
            <a:off x="8211312" y="1847088"/>
            <a:ext cx="3273552" cy="1938528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58368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822960" y="445312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1" name="Text 26"/>
          <p:cNvSpPr txBox="1"/>
          <p:nvPr/>
        </p:nvSpPr>
        <p:spPr>
          <a:xfrm>
            <a:off x="822960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152144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1350" dirty="0"/>
          </a:p>
        </p:txBody>
      </p:sp>
      <p:sp>
        <p:nvSpPr>
          <p:cNvPr id="33" name="Text 28"/>
          <p:cNvSpPr txBox="1"/>
          <p:nvPr/>
        </p:nvSpPr>
        <p:spPr>
          <a:xfrm>
            <a:off x="1152144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遊戲清單由 Game Management 提供。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4434840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35" name="Shape 30"/>
          <p:cNvSpPr/>
          <p:nvPr/>
        </p:nvSpPr>
        <p:spPr>
          <a:xfrm>
            <a:off x="4599432" y="4453128"/>
            <a:ext cx="237744" cy="23774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36" name="Text 31"/>
          <p:cNvSpPr txBox="1"/>
          <p:nvPr/>
        </p:nvSpPr>
        <p:spPr>
          <a:xfrm>
            <a:off x="4599432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4928616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設定隊伍</a:t>
            </a:r>
            <a:endParaRPr lang="en-US" sz="1350" dirty="0"/>
          </a:p>
        </p:txBody>
      </p:sp>
      <p:sp>
        <p:nvSpPr>
          <p:cNvPr id="38" name="Text 33"/>
          <p:cNvSpPr txBox="1"/>
          <p:nvPr/>
        </p:nvSpPr>
        <p:spPr>
          <a:xfrm>
            <a:off x="4928616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模式與人數依資料動態產生。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8211312" y="4251960"/>
            <a:ext cx="3273552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016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40" name="Shape 35"/>
          <p:cNvSpPr/>
          <p:nvPr/>
        </p:nvSpPr>
        <p:spPr>
          <a:xfrm>
            <a:off x="8375904" y="4453128"/>
            <a:ext cx="237744" cy="23774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41" name="Text 36"/>
          <p:cNvSpPr txBox="1"/>
          <p:nvPr/>
        </p:nvSpPr>
        <p:spPr>
          <a:xfrm>
            <a:off x="8375904" y="4453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8705088" y="437997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等待開始</a:t>
            </a:r>
            <a:endParaRPr lang="en-US" sz="1350" dirty="0"/>
          </a:p>
        </p:txBody>
      </p:sp>
      <p:sp>
        <p:nvSpPr>
          <p:cNvPr id="43" name="Text 38"/>
          <p:cNvSpPr txBox="1"/>
          <p:nvPr/>
        </p:nvSpPr>
        <p:spPr>
          <a:xfrm>
            <a:off x="8705088" y="4700016"/>
            <a:ext cx="2633472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房號、房主與玩家名單同步顯示。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GAME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田忌撲克完成選牌、比牌與三輪結果呈現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同一頁完成玩家資訊、目前輪次、選牌區、結果區與三輪戰績呈現。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" y="1700784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68096" y="1719072"/>
            <a:ext cx="4919472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9536" y="181051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05840" y="18105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152144" y="181051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16" name="Image 0" descr="/mnt/data/ppt_build/screenshots/08-poker-auto-select.png">    </p:cNvPr>
          <p:cNvPicPr>
            <a:picLocks noChangeAspect="1"/>
          </p:cNvPicPr>
          <p:nvPr/>
        </p:nvPicPr>
        <p:blipFill>
          <a:blip r:embed="rId1"/>
          <a:srcRect l="1908" r="1908" t="0" b="0"/>
          <a:stretch/>
        </p:blipFill>
        <p:spPr>
          <a:xfrm>
            <a:off x="786384" y="2011680"/>
            <a:ext cx="4882896" cy="28346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391656" y="1700784"/>
            <a:ext cx="4937760" cy="3200400"/>
          </a:xfrm>
          <a:prstGeom prst="roundRect">
            <a:avLst>
              <a:gd name="adj" fmla="val 3143"/>
            </a:avLst>
          </a:prstGeom>
          <a:solidFill>
            <a:srgbClr val="FFFFFF"/>
          </a:solidFill>
          <a:ln w="1270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6400800" y="1719072"/>
            <a:ext cx="4919472" cy="292608"/>
          </a:xfrm>
          <a:prstGeom prst="rect">
            <a:avLst>
              <a:gd name="adj" fmla="val 37500"/>
            </a:avLst>
          </a:prstGeom>
          <a:solidFill>
            <a:srgbClr val="F2F6FB"/>
          </a:solidFill>
          <a:ln w="6350">
            <a:solidFill>
              <a:srgbClr val="D7E0EB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492240" y="1810512"/>
            <a:ext cx="73152" cy="7315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638544" y="1810512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6784848" y="1810512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p/>
        </p:txBody>
      </p:sp>
      <p:pic>
        <p:nvPicPr>
          <p:cNvPr id="22" name="Image 1" descr="/mnt/data/ppt_build/screenshots/09-poker-result.png">    </p:cNvPr>
          <p:cNvPicPr>
            <a:picLocks noChangeAspect="1"/>
          </p:cNvPicPr>
          <p:nvPr/>
        </p:nvPicPr>
        <p:blipFill>
          <a:blip r:embed="rId2"/>
          <a:srcRect l="1908" r="1908" t="0" b="0"/>
          <a:stretch/>
        </p:blipFill>
        <p:spPr>
          <a:xfrm>
            <a:off x="6419088" y="2011680"/>
            <a:ext cx="4882896" cy="28346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1005840" y="1645920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 txBox="1"/>
          <p:nvPr/>
        </p:nvSpPr>
        <p:spPr>
          <a:xfrm>
            <a:off x="1078992" y="1714500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自動選牌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638544" y="1645920"/>
            <a:ext cx="1078992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 txBox="1"/>
          <p:nvPr/>
        </p:nvSpPr>
        <p:spPr>
          <a:xfrm>
            <a:off x="6711696" y="1714500"/>
            <a:ext cx="932688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三輪結果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225296" y="5376672"/>
            <a:ext cx="420624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1225296" y="5376672"/>
            <a:ext cx="73152" cy="438912"/>
          </a:xfrm>
          <a:prstGeom prst="rect">
            <a:avLst>
              <a:gd name="adj" fmla="val 1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 txBox="1"/>
          <p:nvPr/>
        </p:nvSpPr>
        <p:spPr>
          <a:xfrm>
            <a:off x="1453896" y="5504688"/>
            <a:ext cx="384048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房間資訊 + 玩家身分 + 手牌 + 本輪結果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748272" y="5376672"/>
            <a:ext cx="42519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1" name="Shape 27"/>
          <p:cNvSpPr/>
          <p:nvPr/>
        </p:nvSpPr>
        <p:spPr>
          <a:xfrm>
            <a:off x="6748272" y="5376672"/>
            <a:ext cx="73152" cy="438912"/>
          </a:xfrm>
          <a:prstGeom prst="rect">
            <a:avLst>
              <a:gd name="adj" fmla="val 1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 txBox="1"/>
          <p:nvPr/>
        </p:nvSpPr>
        <p:spPr>
          <a:xfrm>
            <a:off x="6976872" y="5504688"/>
            <a:ext cx="38862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同一頁顯示三輪戰績與對局結果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ALGORITHM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400" b="0">
                <a:solidFill>
                  <a:srgbClr val="0B1D31"/>
                </a:solidFill>
                <a:latin typeface="Microsoft JhengHei"/>
              </a:rPr>
              <a:t>Poker 演算法：把牌型轉成可直接比較的 strength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>
                <a:solidFill>
                  <a:srgbClr val="5E6D85"/>
                </a:solidFill>
                <a:latin typeface="Aptos"/>
              </a:rPr>
              <a:t>以 ♦2、♦6、♦8、♦9、♦K 同花為例，將牌型、點數與花色編碼成單一 long 值。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13</a:t>
            </a:r>
            <a:endParaRPr lang="en-US" sz="900" dirty="0"/>
          </a:p>
        </p:txBody>
      </p:sp>
      <p:pic>
        <p:nvPicPr>
          <p:cNvPr id="11" name="Picture 10" descr="card_a_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55648"/>
            <a:ext cx="448056" cy="650577"/>
          </a:xfrm>
          <a:prstGeom prst="rect">
            <a:avLst/>
          </a:prstGeom>
        </p:spPr>
      </p:pic>
      <p:pic>
        <p:nvPicPr>
          <p:cNvPr id="12" name="Picture 11" descr="card_a_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736" y="1755648"/>
            <a:ext cx="448056" cy="650577"/>
          </a:xfrm>
          <a:prstGeom prst="rect">
            <a:avLst/>
          </a:prstGeom>
        </p:spPr>
      </p:pic>
      <p:pic>
        <p:nvPicPr>
          <p:cNvPr id="13" name="Picture 12" descr="card_a_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088" y="1755648"/>
            <a:ext cx="448056" cy="650577"/>
          </a:xfrm>
          <a:prstGeom prst="rect">
            <a:avLst/>
          </a:prstGeom>
        </p:spPr>
      </p:pic>
      <p:pic>
        <p:nvPicPr>
          <p:cNvPr id="14" name="Picture 13" descr="card_a_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39" y="1755648"/>
            <a:ext cx="448056" cy="650577"/>
          </a:xfrm>
          <a:prstGeom prst="rect">
            <a:avLst/>
          </a:prstGeom>
        </p:spPr>
      </p:pic>
      <p:pic>
        <p:nvPicPr>
          <p:cNvPr id="15" name="Picture 14" descr="card_a_d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7791" y="1755648"/>
            <a:ext cx="448056" cy="6505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2999232"/>
            <a:ext cx="36576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1100" b="0">
                <a:solidFill>
                  <a:srgbClr val="0B1D31"/>
                </a:solidFill>
                <a:latin typeface="Microsoft JhengHei"/>
              </a:rPr>
              <a:t>範例：♦2、♦6、♦8、♦9、♦K ＝ 同花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1627632"/>
            <a:ext cx="5806440" cy="1389888"/>
          </a:xfrm>
          <a:prstGeom prst="roundRect">
            <a:avLst/>
          </a:prstGeom>
          <a:solidFill>
            <a:srgbClr val="0A1324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83480" y="1947672"/>
            <a:ext cx="2057400" cy="41148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Microsoft JhengHei"/>
              </a:rPr>
              <a:t>513090806021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1956816"/>
            <a:ext cx="3657600" cy="347472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1300" b="1">
                <a:solidFill>
                  <a:srgbClr val="FFE0E6"/>
                </a:solidFill>
                <a:latin typeface="Aptos"/>
              </a:rPr>
              <a:t>= 5 | 13 | 09 | 08 | 06 | 02 |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542032"/>
            <a:ext cx="5120640" cy="256032"/>
          </a:xfrm>
          <a:prstGeom prst="rect">
            <a:avLst/>
          </a:prstGeom>
          <a:noFill/>
        </p:spPr>
        <p:txBody>
          <a:bodyPr wrap="none" lIns="18288" rIns="18288" tIns="0" bIns="0">
            <a:spAutoFit/>
          </a:bodyPr>
          <a:lstStyle/>
          <a:p>
            <a:pPr algn="ctr"/>
            <a:r>
              <a:rPr sz="950">
                <a:solidFill>
                  <a:srgbClr val="DCE6F5"/>
                </a:solidFill>
                <a:latin typeface="Aptos"/>
              </a:rPr>
              <a:t>牌型同花     最大K     9     8     6     2     花色♦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0392" y="4005072"/>
            <a:ext cx="2788920" cy="310896"/>
          </a:xfrm>
          <a:prstGeom prst="rect">
            <a:avLst/>
          </a:prstGeom>
          <a:solidFill>
            <a:srgbClr val="E71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050791"/>
            <a:ext cx="2569463" cy="201168"/>
          </a:xfrm>
          <a:prstGeom prst="rect">
            <a:avLst/>
          </a:prstGeom>
          <a:noFill/>
        </p:spPr>
        <p:txBody>
          <a:bodyPr wrap="square" rIns="73152" tIns="36576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強度編碼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443983"/>
            <a:ext cx="2514600" cy="786384"/>
          </a:xfrm>
          <a:prstGeom prst="rect">
            <a:avLst/>
          </a:prstGeom>
          <a:noFill/>
        </p:spPr>
        <p:txBody>
          <a:bodyPr wrap="square" lIns="128016" rIns="109728" tIns="73152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牌型放在最高位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點數由大到小排列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kicker／花色放在低位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比較時只看 long 大小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31920" y="4005072"/>
            <a:ext cx="2788920" cy="310896"/>
          </a:xfrm>
          <a:prstGeom prst="rect">
            <a:avLst/>
          </a:prstGeom>
          <a:solidFill>
            <a:srgbClr val="703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1648" y="4050791"/>
            <a:ext cx="2569463" cy="201168"/>
          </a:xfrm>
          <a:prstGeom prst="rect">
            <a:avLst/>
          </a:prstGeom>
          <a:noFill/>
        </p:spPr>
        <p:txBody>
          <a:bodyPr wrap="square" rIns="73152" tIns="36576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規則集中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69080" y="4443983"/>
            <a:ext cx="2514600" cy="786384"/>
          </a:xfrm>
          <a:prstGeom prst="rect">
            <a:avLst/>
          </a:prstGeom>
          <a:noFill/>
        </p:spPr>
        <p:txBody>
          <a:bodyPr wrap="square" lIns="128016" rIns="109728" tIns="73152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牌型規則集中維護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牌組統一轉成 strength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避免大量 if / else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13448" y="4005072"/>
            <a:ext cx="2788920" cy="13533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13448" y="4005072"/>
            <a:ext cx="2788920" cy="310896"/>
          </a:xfrm>
          <a:prstGeom prst="rect">
            <a:avLst/>
          </a:prstGeom>
          <a:solidFill>
            <a:srgbClr val="049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23176" y="4050791"/>
            <a:ext cx="2569463" cy="201168"/>
          </a:xfrm>
          <a:prstGeom prst="rect">
            <a:avLst/>
          </a:prstGeom>
          <a:noFill/>
        </p:spPr>
        <p:txBody>
          <a:bodyPr wrap="square" rIns="73152" tIns="36576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Aptos"/>
              </a:rPr>
              <a:t>自動選牌基礎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4443983"/>
            <a:ext cx="2514600" cy="786384"/>
          </a:xfrm>
          <a:prstGeom prst="rect">
            <a:avLst/>
          </a:prstGeom>
          <a:noFill/>
        </p:spPr>
        <p:txBody>
          <a:bodyPr wrap="square" lIns="128016" rIns="109728" tIns="73152" bIns="27432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find_best_cards() 列舉組合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每組計算 strength</a:t>
            </a:r>
          </a:p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20">
                <a:solidFill>
                  <a:srgbClr val="0D1B30"/>
                </a:solidFill>
                <a:latin typeface="Aptos"/>
              </a:rPr>
              <a:t>保留最高分牌組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sz="1050" b="1">
                <a:solidFill>
                  <a:srgbClr val="049B71"/>
                </a:solidFill>
                <a:latin typeface="Aptos"/>
              </a:rPr>
              <a:t>POKER ALGORITHM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700" b="0">
                <a:solidFill>
                  <a:srgbClr val="0D1B30"/>
                </a:solidFill>
                <a:latin typeface="Aptos"/>
              </a:rPr>
              <a:t>自動選牌：find_best_cards() 找出本輪最強手牌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500">
                <a:solidFill>
                  <a:srgbClr val="5E6D85"/>
                </a:solidFill>
                <a:latin typeface="Aptos"/>
              </a:rPr>
              <a:t>列舉本輪可用牌的候選組合，將每一組轉成 strength，比較後保留分數最高的牌組。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14</a:t>
            </a:r>
            <a:endParaRPr lang="en-US" sz="900" dirty="0"/>
          </a:p>
        </p:txBody>
      </p:sp>
      <p:cxnSp>
        <p:nvCxnSpPr>
          <p:cNvPr id="11" name="Connector 10"/>
          <p:cNvCxnSpPr/>
          <p:nvPr/>
        </p:nvCxnSpPr>
        <p:spPr>
          <a:xfrm>
            <a:off x="240487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5371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0255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51392" y="2103120"/>
            <a:ext cx="310896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E71C52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扣除已用牌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E6D85"/>
                </a:solidFill>
                <a:latin typeface="Aptos"/>
              </a:rPr>
              <a:t>前面輪次已選牌不再使用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9864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7038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決定張數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E6D85"/>
                </a:solidFill>
                <a:latin typeface="Aptos"/>
              </a:rPr>
              <a:t>第 1 輪 3 張；第 2/3 輪 5 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列舉組合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E6D85"/>
                </a:solidFill>
                <a:latin typeface="Aptos"/>
              </a:rPr>
              <a:t>從剩餘手牌取 C(n,k)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96328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049B71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計算分數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E6D85"/>
                </a:solidFill>
                <a:latin typeface="Aptos"/>
              </a:rPr>
              <a:t>score() → hand_strength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1755648"/>
            <a:ext cx="1691640" cy="69494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7" y="1847088"/>
            <a:ext cx="3474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1828800"/>
            <a:ext cx="1124712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D1B30"/>
                </a:solidFill>
                <a:latin typeface="Aptos"/>
              </a:rPr>
              <a:t>保留最高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075688"/>
            <a:ext cx="112471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E6D85"/>
                </a:solidFill>
                <a:latin typeface="Aptos"/>
              </a:rPr>
              <a:t>更新 best_score 與 best[]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2907792"/>
            <a:ext cx="5166360" cy="2176272"/>
          </a:xfrm>
          <a:prstGeom prst="roundRect">
            <a:avLst/>
          </a:prstGeom>
          <a:solidFill>
            <a:srgbClr val="0A1324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3090672"/>
            <a:ext cx="4526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find_best_cards() 核心概念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" y="3474720"/>
            <a:ext cx="455371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2E8F0"/>
                </a:solidFill>
                <a:latin typeface="Consolas"/>
              </a:rPr>
              <a:t>best_score = -1</a:t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for each combination C(n, k):</a:t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score = score(current, count)</a:t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if score &gt; best_score:</a:t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    best_score = score</a:t>
            </a:r>
            <a:br/>
            <a:r>
              <a:rPr sz="1300">
                <a:solidFill>
                  <a:srgbClr val="E2E8F0"/>
                </a:solidFill>
                <a:latin typeface="Consolas"/>
              </a:rPr>
              <a:t>        best = current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907792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71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1072" y="2980944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71C52"/>
                </a:solidFill>
                <a:latin typeface="Aptos"/>
              </a:rPr>
              <a:t>回合策略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3800" y="2980944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依目前流程先選第 3 輪 5 張，再選第 2 輪，最後處理第 1 輪 3 張。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3602736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675888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7038FF"/>
                </a:solidFill>
                <a:latin typeface="Aptos"/>
              </a:rPr>
              <a:t>目前輪次自動選牌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43800" y="3675888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auto_choose_current_round() 只重算目前輪次；已完成輪次保持鎖定。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4297680"/>
            <a:ext cx="493776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4370832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049B71"/>
                </a:solidFill>
                <a:latin typeface="Aptos"/>
              </a:rPr>
              <a:t>與 strength 的關係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4370832"/>
            <a:ext cx="33375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0D1B30"/>
                </a:solidFill>
                <a:latin typeface="Aptos"/>
              </a:rPr>
              <a:t>每一組候選牌都交給 score()，再由 Round.determine_hand_strength() 取得分數。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5074920"/>
            <a:ext cx="4937760" cy="47548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9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5175504"/>
            <a:ext cx="45262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0D1B30"/>
                </a:solidFill>
                <a:latin typeface="Aptos"/>
              </a:rPr>
              <a:t>重點：比牌規則只維護一份，自動選牌只需要反覆比較 strength。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12680" y="0"/>
            <a:ext cx="2176272" cy="6858000"/>
          </a:xfrm>
          <a:prstGeom prst="rect">
            <a:avLst>
              <a:gd name="adj" fmla="val 504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533888" y="0"/>
            <a:ext cx="1655064" cy="6858000"/>
          </a:xfrm>
          <a:prstGeom prst="rect">
            <a:avLst>
              <a:gd name="adj" fmla="val 6630"/>
            </a:avLst>
          </a:prstGeom>
          <a:solidFill>
            <a:srgbClr val="E8FAFF">
              <a:alpha val="90000"/>
            </a:srgbClr>
          </a:solidFill>
          <a:ln w="12700">
            <a:solidFill>
              <a:srgbClr val="E8FA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3504" y="34747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VERIFICATION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6400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2400" b="0">
                <a:solidFill>
                  <a:srgbClr val="0B1D31"/>
                </a:solidFill>
                <a:latin typeface="Microsoft JhengHei"/>
              </a:rPr>
              <a:t>自動化測試與主要流程驗證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612648" y="114300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sz="1200" b="0">
                <a:solidFill>
                  <a:srgbClr val="5E6F86"/>
                </a:solidFill>
                <a:latin typeface="Microsoft JhengHei"/>
              </a:rPr>
              <a:t>測試結果用於支撐目前成果，並搭配實機操作確認主要展示流程。</a:t>
            </a:r>
          </a:p>
        </p:txBody>
      </p:sp>
      <p:sp>
        <p:nvSpPr>
          <p:cNvPr id="7" name="Shape 5"/>
          <p:cNvSpPr/>
          <p:nvPr/>
        </p:nvSpPr>
        <p:spPr>
          <a:xfrm>
            <a:off x="603504" y="1508760"/>
            <a:ext cx="530352" cy="36576"/>
          </a:xfrm>
          <a:prstGeom prst="rect">
            <a:avLst>
              <a:gd name="adj" fmla="val 30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96012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後端測試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01168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Spring、Board、Poker</a:t>
            </a:r>
            <a:endParaRPr lang="en-US" sz="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JWT、Game Management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48056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66344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31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前端測試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登入、分頁、即時連線</a:t>
            </a:r>
            <a:endParaRPr lang="en-US" sz="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與重新連線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8183880" y="1783080"/>
            <a:ext cx="31272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366760" y="1965960"/>
            <a:ext cx="8412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1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31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2011680"/>
            <a:ext cx="1572768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合計通過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2359152"/>
            <a:ext cx="1609344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failure · 0 error</a:t>
            </a:r>
            <a:endParaRPr lang="en-US" sz="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skipped</a:t>
            </a:r>
            <a:endParaRPr lang="en-US" sz="88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42900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手動流程驗證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41248" y="388620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841248" y="38862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3904488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大廳 → 建房 → 等待 → Poker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297680" y="3904488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已完成實機流程。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841248" y="441655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41248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298448" y="4434840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自動選牌與三輪結果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297680" y="4434840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已完成操作驗證。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841248" y="4946904"/>
            <a:ext cx="292608" cy="29260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841248" y="4946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298448" y="4965192"/>
            <a:ext cx="2971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200" b="0">
                <a:solidFill>
                  <a:srgbClr val="0B1D31"/>
                </a:solidFill>
                <a:latin typeface="Microsoft JhengHei"/>
              </a:rPr>
              <a:t>組隊公告 → 申請 → 通知 → 建立房間</a:t>
            </a:r>
          </a:p>
        </p:txBody>
      </p:sp>
      <p:sp>
        <p:nvSpPr>
          <p:cNvPr id="35" name="Text 33"/>
          <p:cNvSpPr txBox="1"/>
          <p:nvPr/>
        </p:nvSpPr>
        <p:spPr>
          <a:xfrm>
            <a:off x="4297680" y="4965192"/>
            <a:ext cx="6537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100" b="0">
                <a:solidFill>
                  <a:srgbClr val="5E6F86"/>
                </a:solidFill>
                <a:latin typeface="Microsoft JhengHei"/>
              </a:rPr>
              <a:t>完成主要展示流程驗證。</a:t>
            </a:r>
          </a:p>
        </p:txBody>
      </p:sp>
      <p:sp>
        <p:nvSpPr>
          <p:cNvPr id="36" name="Shape 34"/>
          <p:cNvSpPr/>
          <p:nvPr/>
        </p:nvSpPr>
        <p:spPr>
          <a:xfrm>
            <a:off x="7086600" y="5669280"/>
            <a:ext cx="4023360" cy="438912"/>
          </a:xfrm>
          <a:prstGeom prst="roundRect">
            <a:avLst>
              <a:gd name="adj" fmla="val 25000"/>
            </a:avLst>
          </a:prstGeom>
          <a:solidFill>
            <a:srgbClr val="FBFDFF"/>
          </a:solidFill>
          <a:ln w="1397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086600" y="5669280"/>
            <a:ext cx="73152" cy="438912"/>
          </a:xfrm>
          <a:prstGeom prst="rect">
            <a:avLst>
              <a:gd name="adj" fmla="val 1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7315200" y="5797296"/>
            <a:ext cx="365760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sz="1200" b="1">
                <a:solidFill>
                  <a:srgbClr val="0B1D31"/>
                </a:solidFill>
                <a:latin typeface="Microsoft JhengHei"/>
              </a:rPr>
              <a:t>以已完成流程作為 Demo 主軸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>
              <a:gd name="adj" fmla="val 160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0"/>
          </a:xfrm>
          <a:prstGeom prst="rect">
            <a:avLst>
              <a:gd name="adj" fmla="val 96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960120" y="1280160"/>
            <a:ext cx="1024128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從會員到遊戲，平台已形成可展示的完整流程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02352" y="2066544"/>
            <a:ext cx="19933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891B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975104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共用登入、遊戲目錄、組隊與房間流程，再由個別遊戲處理自己的規則。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82880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201168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房間 → 遊戲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507492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4F46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25780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共同平台 + 獨立遊戲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321040" y="3383280"/>
            <a:ext cx="2788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503920" y="3621024"/>
            <a:ext cx="24231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可驗證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4069080"/>
            <a:ext cx="2423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 項測試 + 實機流程</a:t>
            </a:r>
            <a:endParaRPr lang="en-US" sz="98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5394960"/>
            <a:ext cx="3108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4F46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· Q&amp;A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03504" y="6419088"/>
            <a:ext cx="10991088" cy="0"/>
          </a:xfrm>
          <a:prstGeom prst="line">
            <a:avLst/>
          </a:prstGeom>
          <a:noFill/>
          <a:ln w="8890">
            <a:solidFill>
              <a:srgbClr val="E7EDF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03504" y="651967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5C6B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201400" y="64922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sz="1000">
                <a:solidFill>
                  <a:srgbClr val="5E6D85"/>
                </a:solidFill>
                <a:latin typeface="Aptos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Java 全端職訓小組專題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遊戲對戰平台 GamePlatform</dc:title>
  <dc:subject>簡易遊戲平台小組專題成果報告</dc:subject>
  <dc:creator>OpenAI</dc:creator>
  <cp:lastModifiedBy>OpenAI</cp:lastModifiedBy>
  <cp:revision>1</cp:revision>
  <dcterms:created xsi:type="dcterms:W3CDTF">2026-09-03T07:23:02Z</dcterms:created>
  <dcterms:modified xsi:type="dcterms:W3CDTF">2026-09-03T07:23:02Z</dcterms:modified>
</cp:coreProperties>
</file>